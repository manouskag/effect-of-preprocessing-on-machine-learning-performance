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4"/>
  </p:notesMasterIdLst>
  <p:sldIdLst>
    <p:sldId id="256" r:id="rId2"/>
    <p:sldId id="257" r:id="rId3"/>
    <p:sldId id="297" r:id="rId4"/>
    <p:sldId id="294" r:id="rId5"/>
    <p:sldId id="299" r:id="rId6"/>
    <p:sldId id="298" r:id="rId7"/>
    <p:sldId id="280" r:id="rId8"/>
    <p:sldId id="258" r:id="rId9"/>
    <p:sldId id="281" r:id="rId10"/>
    <p:sldId id="296" r:id="rId11"/>
    <p:sldId id="275" r:id="rId12"/>
    <p:sldId id="300" r:id="rId13"/>
    <p:sldId id="302" r:id="rId14"/>
    <p:sldId id="303" r:id="rId15"/>
    <p:sldId id="282" r:id="rId16"/>
    <p:sldId id="301" r:id="rId17"/>
    <p:sldId id="283" r:id="rId18"/>
    <p:sldId id="290" r:id="rId19"/>
    <p:sldId id="284" r:id="rId20"/>
    <p:sldId id="304" r:id="rId21"/>
    <p:sldId id="289" r:id="rId22"/>
    <p:sldId id="305" r:id="rId23"/>
    <p:sldId id="285" r:id="rId24"/>
    <p:sldId id="306" r:id="rId25"/>
    <p:sldId id="291" r:id="rId26"/>
    <p:sldId id="307" r:id="rId27"/>
    <p:sldId id="292" r:id="rId28"/>
    <p:sldId id="308" r:id="rId29"/>
    <p:sldId id="287" r:id="rId30"/>
    <p:sldId id="288" r:id="rId31"/>
    <p:sldId id="295" r:id="rId32"/>
    <p:sldId id="270" r:id="rId33"/>
  </p:sldIdLst>
  <p:sldSz cx="18288000" cy="10287000"/>
  <p:notesSz cx="6858000" cy="9144000"/>
  <p:embeddedFontLst>
    <p:embeddedFont>
      <p:font typeface="Cambria Math" panose="02040503050406030204" pitchFamily="18" charset="0"/>
      <p:regular r:id="rId35"/>
    </p:embeddedFont>
    <p:embeddedFont>
      <p:font typeface="Mokoto" panose="020B0604020202020204" charset="0"/>
      <p:regular r:id="rId36"/>
    </p:embeddedFont>
    <p:embeddedFont>
      <p:font typeface="Montserrat Heavy" panose="020B0604020202020204" charset="0"/>
      <p:regular r:id="rId37"/>
    </p:embeddedFont>
    <p:embeddedFont>
      <p:font typeface="Montserrat Semi-Bold" panose="020B0604020202020204" charset="0"/>
      <p:regular r:id="rId38"/>
    </p:embeddedFont>
    <p:embeddedFont>
      <p:font typeface="Raleway Italics" panose="020B0604020202020204" charset="0"/>
      <p:regular r:id="rId39"/>
    </p:embeddedFont>
  </p:embeddedFontLst>
  <p:defaultTextStyle>
    <a:defPPr>
      <a:defRPr lang="en-US"/>
    </a:defPPr>
    <a:lvl1pPr marL="0" algn="l" defTabSz="914311" rtl="0" eaLnBrk="1" latinLnBrk="0" hangingPunct="1">
      <a:defRPr sz="1799" kern="1200">
        <a:solidFill>
          <a:schemeClr val="tx1"/>
        </a:solidFill>
        <a:latin typeface="+mn-lt"/>
        <a:ea typeface="+mn-ea"/>
        <a:cs typeface="+mn-cs"/>
      </a:defRPr>
    </a:lvl1pPr>
    <a:lvl2pPr marL="457156" algn="l" defTabSz="914311" rtl="0" eaLnBrk="1" latinLnBrk="0" hangingPunct="1">
      <a:defRPr sz="1799" kern="1200">
        <a:solidFill>
          <a:schemeClr val="tx1"/>
        </a:solidFill>
        <a:latin typeface="+mn-lt"/>
        <a:ea typeface="+mn-ea"/>
        <a:cs typeface="+mn-cs"/>
      </a:defRPr>
    </a:lvl2pPr>
    <a:lvl3pPr marL="914311" algn="l" defTabSz="914311" rtl="0" eaLnBrk="1" latinLnBrk="0" hangingPunct="1">
      <a:defRPr sz="1799" kern="1200">
        <a:solidFill>
          <a:schemeClr val="tx1"/>
        </a:solidFill>
        <a:latin typeface="+mn-lt"/>
        <a:ea typeface="+mn-ea"/>
        <a:cs typeface="+mn-cs"/>
      </a:defRPr>
    </a:lvl3pPr>
    <a:lvl4pPr marL="1371467" algn="l" defTabSz="914311" rtl="0" eaLnBrk="1" latinLnBrk="0" hangingPunct="1">
      <a:defRPr sz="1799" kern="1200">
        <a:solidFill>
          <a:schemeClr val="tx1"/>
        </a:solidFill>
        <a:latin typeface="+mn-lt"/>
        <a:ea typeface="+mn-ea"/>
        <a:cs typeface="+mn-cs"/>
      </a:defRPr>
    </a:lvl4pPr>
    <a:lvl5pPr marL="1828622" algn="l" defTabSz="914311" rtl="0" eaLnBrk="1" latinLnBrk="0" hangingPunct="1">
      <a:defRPr sz="1799" kern="1200">
        <a:solidFill>
          <a:schemeClr val="tx1"/>
        </a:solidFill>
        <a:latin typeface="+mn-lt"/>
        <a:ea typeface="+mn-ea"/>
        <a:cs typeface="+mn-cs"/>
      </a:defRPr>
    </a:lvl5pPr>
    <a:lvl6pPr marL="2285778" algn="l" defTabSz="914311" rtl="0" eaLnBrk="1" latinLnBrk="0" hangingPunct="1">
      <a:defRPr sz="1799" kern="1200">
        <a:solidFill>
          <a:schemeClr val="tx1"/>
        </a:solidFill>
        <a:latin typeface="+mn-lt"/>
        <a:ea typeface="+mn-ea"/>
        <a:cs typeface="+mn-cs"/>
      </a:defRPr>
    </a:lvl6pPr>
    <a:lvl7pPr marL="2742933" algn="l" defTabSz="914311" rtl="0" eaLnBrk="1" latinLnBrk="0" hangingPunct="1">
      <a:defRPr sz="1799" kern="1200">
        <a:solidFill>
          <a:schemeClr val="tx1"/>
        </a:solidFill>
        <a:latin typeface="+mn-lt"/>
        <a:ea typeface="+mn-ea"/>
        <a:cs typeface="+mn-cs"/>
      </a:defRPr>
    </a:lvl7pPr>
    <a:lvl8pPr marL="3200089" algn="l" defTabSz="914311" rtl="0" eaLnBrk="1" latinLnBrk="0" hangingPunct="1">
      <a:defRPr sz="1799" kern="1200">
        <a:solidFill>
          <a:schemeClr val="tx1"/>
        </a:solidFill>
        <a:latin typeface="+mn-lt"/>
        <a:ea typeface="+mn-ea"/>
        <a:cs typeface="+mn-cs"/>
      </a:defRPr>
    </a:lvl8pPr>
    <a:lvl9pPr marL="3657244" algn="l" defTabSz="914311" rtl="0" eaLnBrk="1" latinLnBrk="0" hangingPunct="1">
      <a:defRPr sz="179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2F1FE"/>
    <a:srgbClr val="00B9C2"/>
    <a:srgbClr val="6161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22" autoAdjust="0"/>
  </p:normalViewPr>
  <p:slideViewPr>
    <p:cSldViewPr>
      <p:cViewPr varScale="1">
        <p:scale>
          <a:sx n="54" d="100"/>
          <a:sy n="54" d="100"/>
        </p:scale>
        <p:origin x="78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3:57:21.899"/>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3:57:25.146"/>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4:03:32.050"/>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 0,'1847'0'0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4:03:42.57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 0,'1924'40'0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21T17:59:10.437"/>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33 158,'1'-1,"-1"0,1 0,-1 0,1 0,-1-1,1 1,0 0,0 0,0 0,0 0,0 1,0-1,0 0,0 0,0 0,0 1,0-1,0 1,0-1,1 1,-1-1,0 1,0 0,3-1,36-7,-36 7,69-7,-1 4,94 5,-58 1,-65 0,0 2,0 2,-1 1,1 3,-2 1,81 33,-106-38,-1-1,1 0,0-1,1-1,-1 0,1-2,-1 0,1 0,22-3,8-5,87-24,-53 11,-37 12,72-4,3 0,5-15,-79 15,60-7,-100 18,0 0,0 1,0-2,0 1,0-1,5-2,-10 4,0 0,0 0,1 0,-1 0,0 0,0 0,0 0,1-1,-1 1,0 0,0 0,0 0,1 0,-1 0,0-1,0 1,0 0,0 0,1 0,-1-1,0 1,0 0,0 0,0-1,0 1,0 0,0 0,0-1,0 1,0 0,0 0,0-1,0 1,0 0,0 0,0-1,0 1,0 0,0 0,0-1,-1 1,-19-9,-16 2,-51-3,-15-3,32 2,-112-3,-74 16,91 0,-819-2,945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7:59:16.689"/>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0 0,'1810'78'0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3:57:21.899"/>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3:57:25.146"/>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4:03:32.050"/>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 0,'1847'0'0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4:03:42.57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 0,'1924'40'0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3:57:21.899"/>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3:57:25.146"/>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4:03:32.050"/>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 0,'1847'0'0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4:03:42.57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 0,'1924'40'0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21T15:39:04.371"/>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0,'743'0,"-701"0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5:39:21.085"/>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0 0,'885'39'0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7:44:47.517"/>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0 0,'807'0'0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21T17:44:53.520"/>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40,'0'-7,"7"-1,15-1,10 3,7 1,2 2,2 2,0 0,-1 1,-2 0,0 1,-1-1,7 0,1 1,0-1,-9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5DE3EC-1C3D-4E90-8513-975E867AA8B9}" type="datetimeFigureOut">
              <a:rPr lang="en-IN" smtClean="0"/>
              <a:t>22-05-2026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41A54D-8423-4AFB-864C-D4AAE3EDCD03}" type="slidenum">
              <a:rPr lang="en-IN" smtClean="0"/>
              <a:t>‹#›</a:t>
            </a:fld>
            <a:endParaRPr lang="en-IN"/>
          </a:p>
        </p:txBody>
      </p:sp>
    </p:spTree>
    <p:extLst>
      <p:ext uri="{BB962C8B-B14F-4D97-AF65-F5344CB8AC3E}">
        <p14:creationId xmlns:p14="http://schemas.microsoft.com/office/powerpoint/2010/main" val="2235331475"/>
      </p:ext>
    </p:extLst>
  </p:cSld>
  <p:clrMap bg1="lt1" tx1="dk1" bg2="lt2" tx2="dk2" accent1="accent1" accent2="accent2" accent3="accent3" accent4="accent4" accent5="accent5" accent6="accent6" hlink="hlink" folHlink="folHlink"/>
  <p:notesStyle>
    <a:lvl1pPr marL="0" algn="l" defTabSz="914311" rtl="0" eaLnBrk="1" latinLnBrk="0" hangingPunct="1">
      <a:defRPr sz="1200" kern="1200">
        <a:solidFill>
          <a:schemeClr val="tx1"/>
        </a:solidFill>
        <a:latin typeface="+mn-lt"/>
        <a:ea typeface="+mn-ea"/>
        <a:cs typeface="+mn-cs"/>
      </a:defRPr>
    </a:lvl1pPr>
    <a:lvl2pPr marL="457156" algn="l" defTabSz="914311" rtl="0" eaLnBrk="1" latinLnBrk="0" hangingPunct="1">
      <a:defRPr sz="1200" kern="1200">
        <a:solidFill>
          <a:schemeClr val="tx1"/>
        </a:solidFill>
        <a:latin typeface="+mn-lt"/>
        <a:ea typeface="+mn-ea"/>
        <a:cs typeface="+mn-cs"/>
      </a:defRPr>
    </a:lvl2pPr>
    <a:lvl3pPr marL="914311" algn="l" defTabSz="914311" rtl="0" eaLnBrk="1" latinLnBrk="0" hangingPunct="1">
      <a:defRPr sz="1200" kern="1200">
        <a:solidFill>
          <a:schemeClr val="tx1"/>
        </a:solidFill>
        <a:latin typeface="+mn-lt"/>
        <a:ea typeface="+mn-ea"/>
        <a:cs typeface="+mn-cs"/>
      </a:defRPr>
    </a:lvl3pPr>
    <a:lvl4pPr marL="1371467" algn="l" defTabSz="914311" rtl="0" eaLnBrk="1" latinLnBrk="0" hangingPunct="1">
      <a:defRPr sz="1200" kern="1200">
        <a:solidFill>
          <a:schemeClr val="tx1"/>
        </a:solidFill>
        <a:latin typeface="+mn-lt"/>
        <a:ea typeface="+mn-ea"/>
        <a:cs typeface="+mn-cs"/>
      </a:defRPr>
    </a:lvl4pPr>
    <a:lvl5pPr marL="1828622" algn="l" defTabSz="914311" rtl="0" eaLnBrk="1" latinLnBrk="0" hangingPunct="1">
      <a:defRPr sz="1200" kern="1200">
        <a:solidFill>
          <a:schemeClr val="tx1"/>
        </a:solidFill>
        <a:latin typeface="+mn-lt"/>
        <a:ea typeface="+mn-ea"/>
        <a:cs typeface="+mn-cs"/>
      </a:defRPr>
    </a:lvl5pPr>
    <a:lvl6pPr marL="2285778" algn="l" defTabSz="914311" rtl="0" eaLnBrk="1" latinLnBrk="0" hangingPunct="1">
      <a:defRPr sz="1200" kern="1200">
        <a:solidFill>
          <a:schemeClr val="tx1"/>
        </a:solidFill>
        <a:latin typeface="+mn-lt"/>
        <a:ea typeface="+mn-ea"/>
        <a:cs typeface="+mn-cs"/>
      </a:defRPr>
    </a:lvl6pPr>
    <a:lvl7pPr marL="2742933" algn="l" defTabSz="914311" rtl="0" eaLnBrk="1" latinLnBrk="0" hangingPunct="1">
      <a:defRPr sz="1200" kern="1200">
        <a:solidFill>
          <a:schemeClr val="tx1"/>
        </a:solidFill>
        <a:latin typeface="+mn-lt"/>
        <a:ea typeface="+mn-ea"/>
        <a:cs typeface="+mn-cs"/>
      </a:defRPr>
    </a:lvl7pPr>
    <a:lvl8pPr marL="3200089" algn="l" defTabSz="914311" rtl="0" eaLnBrk="1" latinLnBrk="0" hangingPunct="1">
      <a:defRPr sz="1200" kern="1200">
        <a:solidFill>
          <a:schemeClr val="tx1"/>
        </a:solidFill>
        <a:latin typeface="+mn-lt"/>
        <a:ea typeface="+mn-ea"/>
        <a:cs typeface="+mn-cs"/>
      </a:defRPr>
    </a:lvl8pPr>
    <a:lvl9pPr marL="3657244" algn="l" defTabSz="914311"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B2E6C-D20C-F31C-227C-D2E656B6E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5E15CF-49DA-BFA7-A95D-0F0AB98F105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5A5C31A-8494-D0E0-64BE-0A1832DC70C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5539ECF-9333-ADC7-FEC8-C1F448F38867}"/>
              </a:ext>
            </a:extLst>
          </p:cNvPr>
          <p:cNvSpPr>
            <a:spLocks noGrp="1"/>
          </p:cNvSpPr>
          <p:nvPr>
            <p:ph type="sldNum" sz="quarter" idx="5"/>
          </p:nvPr>
        </p:nvSpPr>
        <p:spPr/>
        <p:txBody>
          <a:bodyPr/>
          <a:lstStyle/>
          <a:p>
            <a:pPr marL="0" marR="0" lvl="0" indent="0" algn="r" defTabSz="914311" rtl="0" eaLnBrk="1" fontAlgn="auto" latinLnBrk="0" hangingPunct="1">
              <a:lnSpc>
                <a:spcPct val="100000"/>
              </a:lnSpc>
              <a:spcBef>
                <a:spcPts val="0"/>
              </a:spcBef>
              <a:spcAft>
                <a:spcPts val="0"/>
              </a:spcAft>
              <a:buClrTx/>
              <a:buSzTx/>
              <a:buFontTx/>
              <a:buNone/>
              <a:tabLst/>
              <a:defRPr/>
            </a:pPr>
            <a:fld id="{2541A54D-8423-4AFB-864C-D4AAE3EDCD0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11"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1276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541A54D-8423-4AFB-864C-D4AAE3EDCD03}" type="slidenum">
              <a:rPr lang="en-IN" smtClean="0"/>
              <a:t>4</a:t>
            </a:fld>
            <a:endParaRPr lang="en-IN"/>
          </a:p>
        </p:txBody>
      </p:sp>
    </p:spTree>
    <p:extLst>
      <p:ext uri="{BB962C8B-B14F-4D97-AF65-F5344CB8AC3E}">
        <p14:creationId xmlns:p14="http://schemas.microsoft.com/office/powerpoint/2010/main" val="23304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A58AE-357E-A6C4-5B5A-A7F7504867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66B0C-BC00-EE49-B841-0D621639B03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B395D2C-EFE0-8404-9045-AA1D831D28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E4554A9-CF0E-2E53-6CBE-8281C818CEBD}"/>
              </a:ext>
            </a:extLst>
          </p:cNvPr>
          <p:cNvSpPr>
            <a:spLocks noGrp="1"/>
          </p:cNvSpPr>
          <p:nvPr>
            <p:ph type="sldNum" sz="quarter" idx="5"/>
          </p:nvPr>
        </p:nvSpPr>
        <p:spPr/>
        <p:txBody>
          <a:bodyPr/>
          <a:lstStyle/>
          <a:p>
            <a:pPr marL="0" marR="0" lvl="0" indent="0" algn="r" defTabSz="914311" rtl="0" eaLnBrk="1" fontAlgn="auto" latinLnBrk="0" hangingPunct="1">
              <a:lnSpc>
                <a:spcPct val="100000"/>
              </a:lnSpc>
              <a:spcBef>
                <a:spcPts val="0"/>
              </a:spcBef>
              <a:spcAft>
                <a:spcPts val="0"/>
              </a:spcAft>
              <a:buClrTx/>
              <a:buSzTx/>
              <a:buFontTx/>
              <a:buNone/>
              <a:tabLst/>
              <a:defRPr/>
            </a:pPr>
            <a:fld id="{2541A54D-8423-4AFB-864C-D4AAE3EDCD0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11"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7797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992F3-AF13-E147-9B5D-76EB503E7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59E1E-73A4-F434-938F-FFEB04CCB99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EC18618-0166-B578-FF7D-415FBBC7803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60E3C76-C201-B16E-A7F6-F04C1F8B8740}"/>
              </a:ext>
            </a:extLst>
          </p:cNvPr>
          <p:cNvSpPr>
            <a:spLocks noGrp="1"/>
          </p:cNvSpPr>
          <p:nvPr>
            <p:ph type="sldNum" sz="quarter" idx="5"/>
          </p:nvPr>
        </p:nvSpPr>
        <p:spPr/>
        <p:txBody>
          <a:bodyPr/>
          <a:lstStyle/>
          <a:p>
            <a:pPr marL="0" marR="0" lvl="0" indent="0" algn="r" defTabSz="914311" rtl="0" eaLnBrk="1" fontAlgn="auto" latinLnBrk="0" hangingPunct="1">
              <a:lnSpc>
                <a:spcPct val="100000"/>
              </a:lnSpc>
              <a:spcBef>
                <a:spcPts val="0"/>
              </a:spcBef>
              <a:spcAft>
                <a:spcPts val="0"/>
              </a:spcAft>
              <a:buClrTx/>
              <a:buSzTx/>
              <a:buFontTx/>
              <a:buNone/>
              <a:tabLst/>
              <a:defRPr/>
            </a:pPr>
            <a:fld id="{2541A54D-8423-4AFB-864C-D4AAE3EDCD0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11"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6620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1"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5/22/2026</a:t>
            </a:fld>
            <a:endParaRPr lang="en-US"/>
          </a:p>
        </p:txBody>
      </p:sp>
      <p:sp>
        <p:nvSpPr>
          <p:cNvPr id="5" name="Footer Placeholder 4"/>
          <p:cNvSpPr>
            <a:spLocks noGrp="1"/>
          </p:cNvSpPr>
          <p:nvPr>
            <p:ph type="ftr" sz="quarter" idx="3"/>
          </p:nvPr>
        </p:nvSpPr>
        <p:spPr>
          <a:xfrm>
            <a:off x="3124201"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60.png"/><Relationship Id="rId13"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customXml" Target="../ink/ink2.xml"/><Relationship Id="rId12" Type="http://schemas.openxmlformats.org/officeDocument/2006/relationships/image" Target="../media/image18.png"/><Relationship Id="rId17" Type="http://schemas.openxmlformats.org/officeDocument/2006/relationships/image" Target="../media/image21.png"/><Relationship Id="rId2" Type="http://schemas.openxmlformats.org/officeDocument/2006/relationships/image" Target="../media/image14.png"/><Relationship Id="rId16" Type="http://schemas.openxmlformats.org/officeDocument/2006/relationships/customXml" Target="../ink/ink6.xml"/><Relationship Id="rId1" Type="http://schemas.openxmlformats.org/officeDocument/2006/relationships/slideLayout" Target="../slideLayouts/slideLayout7.xml"/><Relationship Id="rId6" Type="http://schemas.openxmlformats.org/officeDocument/2006/relationships/image" Target="../media/image150.png"/><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image" Target="../media/image20.png"/><Relationship Id="rId10"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customXml" Target="../ink/ink3.xml"/><Relationship Id="rId14" Type="http://schemas.openxmlformats.org/officeDocument/2006/relationships/customXml" Target="../ink/ink5.xml"/></Relationships>
</file>

<file path=ppt/slides/_rels/slide13.xml.rels><?xml version="1.0" encoding="UTF-8" standalone="yes"?>
<Relationships xmlns="http://schemas.openxmlformats.org/package/2006/relationships"><Relationship Id="rId8" Type="http://schemas.openxmlformats.org/officeDocument/2006/relationships/customXml" Target="../ink/ink10.xml"/><Relationship Id="rId3" Type="http://schemas.openxmlformats.org/officeDocument/2006/relationships/image" Target="../media/image150.png"/><Relationship Id="rId7" Type="http://schemas.openxmlformats.org/officeDocument/2006/relationships/image" Target="../media/image17.png"/><Relationship Id="rId2" Type="http://schemas.openxmlformats.org/officeDocument/2006/relationships/customXml" Target="../ink/ink7.xml"/><Relationship Id="rId1" Type="http://schemas.openxmlformats.org/officeDocument/2006/relationships/slideLayout" Target="../slideLayouts/slideLayout7.xml"/><Relationship Id="rId6" Type="http://schemas.openxmlformats.org/officeDocument/2006/relationships/customXml" Target="../ink/ink9.xml"/><Relationship Id="rId5" Type="http://schemas.openxmlformats.org/officeDocument/2006/relationships/image" Target="../media/image160.png"/><Relationship Id="rId10" Type="http://schemas.openxmlformats.org/officeDocument/2006/relationships/image" Target="../media/image22.png"/><Relationship Id="rId4" Type="http://schemas.openxmlformats.org/officeDocument/2006/relationships/customXml" Target="../ink/ink8.xml"/><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8" Type="http://schemas.openxmlformats.org/officeDocument/2006/relationships/customXml" Target="../ink/ink14.xml"/><Relationship Id="rId3" Type="http://schemas.openxmlformats.org/officeDocument/2006/relationships/image" Target="../media/image150.png"/><Relationship Id="rId7" Type="http://schemas.openxmlformats.org/officeDocument/2006/relationships/image" Target="../media/image17.png"/><Relationship Id="rId12" Type="http://schemas.openxmlformats.org/officeDocument/2006/relationships/image" Target="../media/image25.png"/><Relationship Id="rId2" Type="http://schemas.openxmlformats.org/officeDocument/2006/relationships/customXml" Target="../ink/ink11.xml"/><Relationship Id="rId1" Type="http://schemas.openxmlformats.org/officeDocument/2006/relationships/slideLayout" Target="../slideLayouts/slideLayout7.xml"/><Relationship Id="rId6" Type="http://schemas.openxmlformats.org/officeDocument/2006/relationships/customXml" Target="../ink/ink13.xml"/><Relationship Id="rId11" Type="http://schemas.openxmlformats.org/officeDocument/2006/relationships/image" Target="../media/image24.png"/><Relationship Id="rId5" Type="http://schemas.openxmlformats.org/officeDocument/2006/relationships/image" Target="../media/image160.png"/><Relationship Id="rId10" Type="http://schemas.openxmlformats.org/officeDocument/2006/relationships/image" Target="../media/image23.png"/><Relationship Id="rId4" Type="http://schemas.openxmlformats.org/officeDocument/2006/relationships/customXml" Target="../ink/ink12.xml"/><Relationship Id="rId9"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customXml" Target="../ink/ink17.xml"/><Relationship Id="rId13" Type="http://schemas.openxmlformats.org/officeDocument/2006/relationships/image" Target="../media/image33.png"/><Relationship Id="rId3" Type="http://schemas.openxmlformats.org/officeDocument/2006/relationships/customXml" Target="../ink/ink15.xml"/><Relationship Id="rId7" Type="http://schemas.openxmlformats.org/officeDocument/2006/relationships/image" Target="../media/image29.png"/><Relationship Id="rId12" Type="http://schemas.openxmlformats.org/officeDocument/2006/relationships/image" Target="../media/image32.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1.png"/><Relationship Id="rId5" Type="http://schemas.openxmlformats.org/officeDocument/2006/relationships/customXml" Target="../ink/ink16.xml"/><Relationship Id="rId10" Type="http://schemas.openxmlformats.org/officeDocument/2006/relationships/customXml" Target="../ink/ink18.xml"/><Relationship Id="rId4" Type="http://schemas.openxmlformats.org/officeDocument/2006/relationships/image" Target="../media/image27.png"/><Relationship Id="rId9" Type="http://schemas.openxmlformats.org/officeDocument/2006/relationships/image" Target="../media/image30.png"/><Relationship Id="rId14"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32A64">
                <a:alpha val="100000"/>
              </a:srgbClr>
            </a:gs>
            <a:gs pos="100000">
              <a:srgbClr val="414C94">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1756814" y="-475938"/>
            <a:ext cx="6531186" cy="11641778"/>
            <a:chOff x="0" y="0"/>
            <a:chExt cx="1720148" cy="3066147"/>
          </a:xfrm>
        </p:grpSpPr>
        <p:sp>
          <p:nvSpPr>
            <p:cNvPr id="3" name="Freeform 3"/>
            <p:cNvSpPr/>
            <p:nvPr/>
          </p:nvSpPr>
          <p:spPr>
            <a:xfrm>
              <a:off x="0" y="0"/>
              <a:ext cx="1720148" cy="3066147"/>
            </a:xfrm>
            <a:custGeom>
              <a:avLst/>
              <a:gdLst/>
              <a:ahLst/>
              <a:cxnLst/>
              <a:rect l="l" t="t" r="r" b="b"/>
              <a:pathLst>
                <a:path w="1720148" h="3066147">
                  <a:moveTo>
                    <a:pt x="0" y="0"/>
                  </a:moveTo>
                  <a:lnTo>
                    <a:pt x="1720148" y="0"/>
                  </a:lnTo>
                  <a:lnTo>
                    <a:pt x="1720148" y="3066147"/>
                  </a:lnTo>
                  <a:lnTo>
                    <a:pt x="0" y="3066147"/>
                  </a:lnTo>
                  <a:close/>
                </a:path>
              </a:pathLst>
            </a:custGeom>
            <a:gradFill rotWithShape="1">
              <a:gsLst>
                <a:gs pos="0">
                  <a:srgbClr val="000000">
                    <a:alpha val="0"/>
                  </a:srgbClr>
                </a:gs>
                <a:gs pos="100000">
                  <a:srgbClr val="000000">
                    <a:alpha val="100000"/>
                  </a:srgbClr>
                </a:gs>
              </a:gsLst>
              <a:lin ang="0"/>
            </a:gradFill>
          </p:spPr>
        </p:sp>
        <p:sp>
          <p:nvSpPr>
            <p:cNvPr id="4" name="TextBox 4"/>
            <p:cNvSpPr txBox="1"/>
            <p:nvPr/>
          </p:nvSpPr>
          <p:spPr>
            <a:xfrm>
              <a:off x="0" y="-38100"/>
              <a:ext cx="1720148" cy="3104247"/>
            </a:xfrm>
            <a:prstGeom prst="rect">
              <a:avLst/>
            </a:prstGeom>
          </p:spPr>
          <p:txBody>
            <a:bodyPr lIns="50800" tIns="50800" rIns="50800" bIns="50800" rtlCol="0" anchor="ctr"/>
            <a:lstStyle/>
            <a:p>
              <a:pPr algn="ctr">
                <a:lnSpc>
                  <a:spcPts val="2083"/>
                </a:lnSpc>
              </a:pPr>
              <a:endParaRPr/>
            </a:p>
          </p:txBody>
        </p:sp>
      </p:grpSp>
      <p:sp>
        <p:nvSpPr>
          <p:cNvPr id="5" name="Freeform 5"/>
          <p:cNvSpPr/>
          <p:nvPr/>
        </p:nvSpPr>
        <p:spPr>
          <a:xfrm rot="674092">
            <a:off x="-3513169" y="8339629"/>
            <a:ext cx="19149891" cy="6989710"/>
          </a:xfrm>
          <a:custGeom>
            <a:avLst/>
            <a:gdLst/>
            <a:ahLst/>
            <a:cxnLst/>
            <a:rect l="l" t="t" r="r" b="b"/>
            <a:pathLst>
              <a:path w="19149891" h="6989710">
                <a:moveTo>
                  <a:pt x="0" y="0"/>
                </a:moveTo>
                <a:lnTo>
                  <a:pt x="19149891" y="0"/>
                </a:lnTo>
                <a:lnTo>
                  <a:pt x="19149891" y="6989710"/>
                </a:lnTo>
                <a:lnTo>
                  <a:pt x="0" y="6989710"/>
                </a:lnTo>
                <a:lnTo>
                  <a:pt x="0" y="0"/>
                </a:lnTo>
                <a:close/>
              </a:path>
            </a:pathLst>
          </a:custGeom>
          <a:blipFill>
            <a:blip r:embed="rId2">
              <a:alphaModFix amt="80000"/>
            </a:blip>
            <a:stretch>
              <a:fillRect/>
            </a:stretch>
          </a:blipFill>
        </p:spPr>
      </p:sp>
      <p:sp>
        <p:nvSpPr>
          <p:cNvPr id="6" name="Freeform 6"/>
          <p:cNvSpPr/>
          <p:nvPr/>
        </p:nvSpPr>
        <p:spPr>
          <a:xfrm rot="828919" flipH="1" flipV="1">
            <a:off x="1076036" y="-4819412"/>
            <a:ext cx="19149891" cy="6989710"/>
          </a:xfrm>
          <a:custGeom>
            <a:avLst/>
            <a:gdLst/>
            <a:ahLst/>
            <a:cxnLst/>
            <a:rect l="l" t="t" r="r" b="b"/>
            <a:pathLst>
              <a:path w="19149891" h="6989710">
                <a:moveTo>
                  <a:pt x="19149891" y="6989710"/>
                </a:moveTo>
                <a:lnTo>
                  <a:pt x="0" y="6989710"/>
                </a:lnTo>
                <a:lnTo>
                  <a:pt x="0" y="0"/>
                </a:lnTo>
                <a:lnTo>
                  <a:pt x="19149891" y="0"/>
                </a:lnTo>
                <a:lnTo>
                  <a:pt x="19149891" y="6989710"/>
                </a:lnTo>
                <a:close/>
              </a:path>
            </a:pathLst>
          </a:custGeom>
          <a:blipFill>
            <a:blip r:embed="rId2">
              <a:alphaModFix amt="43000"/>
            </a:blip>
            <a:stretch>
              <a:fillRect/>
            </a:stretch>
          </a:blipFill>
        </p:spPr>
      </p:sp>
      <p:sp>
        <p:nvSpPr>
          <p:cNvPr id="7" name="Freeform 7"/>
          <p:cNvSpPr/>
          <p:nvPr/>
        </p:nvSpPr>
        <p:spPr>
          <a:xfrm>
            <a:off x="990602" y="647700"/>
            <a:ext cx="658167" cy="595940"/>
          </a:xfrm>
          <a:custGeom>
            <a:avLst/>
            <a:gdLst/>
            <a:ahLst/>
            <a:cxnLst/>
            <a:rect l="l" t="t" r="r" b="b"/>
            <a:pathLst>
              <a:path w="658167" h="595940">
                <a:moveTo>
                  <a:pt x="0" y="0"/>
                </a:moveTo>
                <a:lnTo>
                  <a:pt x="658167" y="0"/>
                </a:lnTo>
                <a:lnTo>
                  <a:pt x="658167" y="595940"/>
                </a:lnTo>
                <a:lnTo>
                  <a:pt x="0" y="59594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2095896" y="916463"/>
            <a:ext cx="14972904" cy="2693045"/>
          </a:xfrm>
          <a:prstGeom prst="rect">
            <a:avLst/>
          </a:prstGeom>
        </p:spPr>
        <p:txBody>
          <a:bodyPr wrap="square" lIns="0" tIns="0" rIns="0" bIns="0" rtlCol="0" anchor="t">
            <a:spAutoFit/>
          </a:bodyPr>
          <a:lstStyle/>
          <a:p>
            <a:pPr>
              <a:lnSpc>
                <a:spcPts val="10509"/>
              </a:lnSpc>
            </a:pPr>
            <a:r>
              <a:rPr lang="en-US" sz="9600" b="1" cap="all" dirty="0">
                <a:solidFill>
                  <a:srgbClr val="FFFFFF"/>
                </a:solidFill>
                <a:latin typeface="Montserrat Semi-Bold"/>
                <a:ea typeface="Montserrat Semi-Bold"/>
                <a:cs typeface="Montserrat Semi-Bold"/>
                <a:sym typeface="Montserrat Semi-Bold"/>
              </a:rPr>
              <a:t>Effect of data pre-processing on</a:t>
            </a:r>
          </a:p>
        </p:txBody>
      </p:sp>
      <p:sp>
        <p:nvSpPr>
          <p:cNvPr id="16" name="TextBox 16"/>
          <p:cNvSpPr txBox="1"/>
          <p:nvPr/>
        </p:nvSpPr>
        <p:spPr>
          <a:xfrm>
            <a:off x="2255052" y="6863325"/>
            <a:ext cx="7250344" cy="1796069"/>
          </a:xfrm>
          <a:prstGeom prst="rect">
            <a:avLst/>
          </a:prstGeom>
        </p:spPr>
        <p:txBody>
          <a:bodyPr wrap="square" lIns="0" tIns="0" rIns="0" bIns="0" rtlCol="0" anchor="t">
            <a:spAutoFit/>
          </a:bodyPr>
          <a:lstStyle/>
          <a:p>
            <a:pPr>
              <a:lnSpc>
                <a:spcPts val="3497"/>
              </a:lnSpc>
            </a:pPr>
            <a:r>
              <a:rPr lang="en-US" sz="3682" i="1" dirty="0">
                <a:solidFill>
                  <a:srgbClr val="FFFFFF"/>
                </a:solidFill>
                <a:latin typeface="Raleway Italics"/>
                <a:ea typeface="Raleway Italics"/>
                <a:cs typeface="Raleway Italics"/>
                <a:sym typeface="Raleway Italics"/>
              </a:rPr>
              <a:t>Melissa Gonsalves</a:t>
            </a:r>
          </a:p>
          <a:p>
            <a:pPr>
              <a:lnSpc>
                <a:spcPts val="3497"/>
              </a:lnSpc>
            </a:pPr>
            <a:r>
              <a:rPr lang="en-US" sz="3682" i="1" dirty="0">
                <a:solidFill>
                  <a:srgbClr val="FFFFFF"/>
                </a:solidFill>
                <a:latin typeface="Raleway Italics"/>
                <a:ea typeface="Raleway Italics"/>
                <a:cs typeface="Raleway Italics"/>
                <a:sym typeface="Raleway Italics"/>
              </a:rPr>
              <a:t>Applied Machine Learning</a:t>
            </a:r>
          </a:p>
          <a:p>
            <a:pPr>
              <a:lnSpc>
                <a:spcPts val="3497"/>
              </a:lnSpc>
            </a:pPr>
            <a:r>
              <a:rPr lang="en-US" sz="3682" i="1" dirty="0">
                <a:solidFill>
                  <a:srgbClr val="FFFFFF"/>
                </a:solidFill>
                <a:latin typeface="Raleway Italics"/>
                <a:ea typeface="Raleway Italics"/>
                <a:cs typeface="Raleway Italics"/>
                <a:sym typeface="Raleway Italics"/>
              </a:rPr>
              <a:t>Sem 2</a:t>
            </a:r>
          </a:p>
          <a:p>
            <a:pPr>
              <a:lnSpc>
                <a:spcPts val="3497"/>
              </a:lnSpc>
            </a:pPr>
            <a:r>
              <a:rPr lang="en-US" sz="3682" i="1" dirty="0">
                <a:solidFill>
                  <a:srgbClr val="FFFFFF"/>
                </a:solidFill>
                <a:latin typeface="Raleway Italics"/>
                <a:ea typeface="Raleway Italics"/>
                <a:cs typeface="Raleway Italics"/>
                <a:sym typeface="Raleway Italics"/>
              </a:rPr>
              <a:t>M.E AI &amp; DS</a:t>
            </a:r>
          </a:p>
        </p:txBody>
      </p:sp>
      <p:sp>
        <p:nvSpPr>
          <p:cNvPr id="17" name="TextBox 17"/>
          <p:cNvSpPr txBox="1"/>
          <p:nvPr/>
        </p:nvSpPr>
        <p:spPr>
          <a:xfrm>
            <a:off x="2125126" y="3609508"/>
            <a:ext cx="14760540" cy="2693045"/>
          </a:xfrm>
          <a:prstGeom prst="rect">
            <a:avLst/>
          </a:prstGeom>
        </p:spPr>
        <p:txBody>
          <a:bodyPr wrap="square" lIns="0" tIns="0" rIns="0" bIns="0" rtlCol="0" anchor="t">
            <a:spAutoFit/>
          </a:bodyPr>
          <a:lstStyle/>
          <a:p>
            <a:pPr>
              <a:lnSpc>
                <a:spcPts val="10509"/>
              </a:lnSpc>
            </a:pPr>
            <a:r>
              <a:rPr lang="en-US" sz="9600" b="1" cap="all" dirty="0">
                <a:solidFill>
                  <a:srgbClr val="36E9FD"/>
                </a:solidFill>
                <a:latin typeface="Montserrat Heavy"/>
                <a:ea typeface="Montserrat Heavy"/>
                <a:cs typeface="Montserrat Heavy"/>
                <a:sym typeface="Montserrat Heavy"/>
              </a:rPr>
              <a:t>Machine learning performance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32A64">
                <a:alpha val="100000"/>
              </a:srgbClr>
            </a:gs>
            <a:gs pos="100000">
              <a:srgbClr val="414C9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572293">
            <a:off x="-5799371" y="6668368"/>
            <a:ext cx="19149891" cy="6989710"/>
          </a:xfrm>
          <a:custGeom>
            <a:avLst/>
            <a:gdLst/>
            <a:ahLst/>
            <a:cxnLst/>
            <a:rect l="l" t="t" r="r" b="b"/>
            <a:pathLst>
              <a:path w="19149891" h="6989710">
                <a:moveTo>
                  <a:pt x="0" y="0"/>
                </a:moveTo>
                <a:lnTo>
                  <a:pt x="19149891" y="0"/>
                </a:lnTo>
                <a:lnTo>
                  <a:pt x="19149891" y="6989710"/>
                </a:lnTo>
                <a:lnTo>
                  <a:pt x="0" y="6989710"/>
                </a:lnTo>
                <a:lnTo>
                  <a:pt x="0" y="0"/>
                </a:lnTo>
                <a:close/>
              </a:path>
            </a:pathLst>
          </a:custGeom>
          <a:blipFill>
            <a:blip r:embed="rId2">
              <a:alphaModFix amt="80000"/>
            </a:blip>
            <a:stretch>
              <a:fillRect/>
            </a:stretch>
          </a:blipFill>
        </p:spPr>
      </p:sp>
      <p:sp>
        <p:nvSpPr>
          <p:cNvPr id="5" name="Freeform 5"/>
          <p:cNvSpPr/>
          <p:nvPr/>
        </p:nvSpPr>
        <p:spPr>
          <a:xfrm rot="1572293" flipV="1">
            <a:off x="8920761" y="-3494855"/>
            <a:ext cx="19149891" cy="6989710"/>
          </a:xfrm>
          <a:custGeom>
            <a:avLst/>
            <a:gdLst/>
            <a:ahLst/>
            <a:cxnLst/>
            <a:rect l="l" t="t" r="r" b="b"/>
            <a:pathLst>
              <a:path w="19149891" h="6989710">
                <a:moveTo>
                  <a:pt x="0" y="6989710"/>
                </a:moveTo>
                <a:lnTo>
                  <a:pt x="19149891" y="6989710"/>
                </a:lnTo>
                <a:lnTo>
                  <a:pt x="19149891" y="0"/>
                </a:lnTo>
                <a:lnTo>
                  <a:pt x="0" y="0"/>
                </a:lnTo>
                <a:lnTo>
                  <a:pt x="0" y="6989710"/>
                </a:lnTo>
                <a:close/>
              </a:path>
            </a:pathLst>
          </a:custGeom>
          <a:blipFill>
            <a:blip r:embed="rId2">
              <a:alphaModFix amt="80000"/>
            </a:blip>
            <a:stretch>
              <a:fillRect/>
            </a:stretch>
          </a:blipFill>
        </p:spPr>
      </p:sp>
      <p:sp>
        <p:nvSpPr>
          <p:cNvPr id="6" name="Freeform 6"/>
          <p:cNvSpPr/>
          <p:nvPr/>
        </p:nvSpPr>
        <p:spPr>
          <a:xfrm>
            <a:off x="17373602" y="9029700"/>
            <a:ext cx="658167" cy="595940"/>
          </a:xfrm>
          <a:custGeom>
            <a:avLst/>
            <a:gdLst/>
            <a:ahLst/>
            <a:cxnLst/>
            <a:rect l="l" t="t" r="r" b="b"/>
            <a:pathLst>
              <a:path w="658167" h="595940">
                <a:moveTo>
                  <a:pt x="0" y="0"/>
                </a:moveTo>
                <a:lnTo>
                  <a:pt x="658167" y="0"/>
                </a:lnTo>
                <a:lnTo>
                  <a:pt x="658167" y="595940"/>
                </a:lnTo>
                <a:lnTo>
                  <a:pt x="0" y="59594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3403928" y="127171"/>
            <a:ext cx="15682452" cy="969176"/>
          </a:xfrm>
          <a:prstGeom prst="rect">
            <a:avLst/>
          </a:prstGeom>
        </p:spPr>
        <p:txBody>
          <a:bodyPr wrap="square" lIns="0" tIns="0" rIns="0" bIns="0" rtlCol="0" anchor="t">
            <a:spAutoFit/>
          </a:bodyPr>
          <a:lstStyle/>
          <a:p>
            <a:pPr>
              <a:lnSpc>
                <a:spcPts val="8143"/>
              </a:lnSpc>
            </a:pPr>
            <a:r>
              <a:rPr lang="en-US" sz="6000" b="1" dirty="0">
                <a:solidFill>
                  <a:srgbClr val="FFFFFF"/>
                </a:solidFill>
                <a:latin typeface="Montserrat Semi-Bold"/>
                <a:ea typeface="Montserrat Semi-Bold"/>
                <a:cs typeface="Montserrat Semi-Bold"/>
                <a:sym typeface="Montserrat Semi-Bold"/>
              </a:rPr>
              <a:t>What is </a:t>
            </a:r>
            <a:r>
              <a:rPr lang="en-US" sz="6000" b="1" dirty="0">
                <a:solidFill>
                  <a:srgbClr val="72F1FE"/>
                </a:solidFill>
                <a:latin typeface="Montserrat Semi-Bold"/>
                <a:ea typeface="Montserrat Semi-Bold"/>
                <a:cs typeface="Montserrat Semi-Bold"/>
                <a:sym typeface="Montserrat Semi-Bold"/>
              </a:rPr>
              <a:t>Data </a:t>
            </a:r>
            <a:r>
              <a:rPr lang="en-US" sz="6000" b="1" dirty="0" err="1">
                <a:solidFill>
                  <a:srgbClr val="72F1FE"/>
                </a:solidFill>
                <a:latin typeface="Montserrat Semi-Bold"/>
                <a:ea typeface="Montserrat Semi-Bold"/>
                <a:cs typeface="Montserrat Semi-Bold"/>
                <a:sym typeface="Montserrat Semi-Bold"/>
              </a:rPr>
              <a:t>Proprocessing</a:t>
            </a:r>
            <a:r>
              <a:rPr lang="en-US" sz="6000" b="1" dirty="0">
                <a:solidFill>
                  <a:srgbClr val="72F1FE"/>
                </a:solidFill>
                <a:latin typeface="Montserrat Semi-Bold"/>
                <a:ea typeface="Montserrat Semi-Bold"/>
                <a:cs typeface="Montserrat Semi-Bold"/>
                <a:sym typeface="Montserrat Semi-Bold"/>
              </a:rPr>
              <a:t>?</a:t>
            </a:r>
          </a:p>
        </p:txBody>
      </p:sp>
      <p:sp>
        <p:nvSpPr>
          <p:cNvPr id="14" name="TextBox 14"/>
          <p:cNvSpPr txBox="1"/>
          <p:nvPr/>
        </p:nvSpPr>
        <p:spPr>
          <a:xfrm>
            <a:off x="3384878" y="1409700"/>
            <a:ext cx="10867368" cy="7755969"/>
          </a:xfrm>
          <a:prstGeom prst="rect">
            <a:avLst/>
          </a:prstGeom>
        </p:spPr>
        <p:txBody>
          <a:bodyPr wrap="square" lIns="0" tIns="0" rIns="0" bIns="0" rtlCol="0" anchor="t">
            <a:spAutoFit/>
          </a:bodyPr>
          <a:lstStyle/>
          <a:p>
            <a:pPr algn="just"/>
            <a:endParaRPr lang="en-US" sz="3600" dirty="0">
              <a:solidFill>
                <a:schemeClr val="bg1"/>
              </a:solidFill>
            </a:endParaRPr>
          </a:p>
          <a:p>
            <a:pPr marL="571500" indent="-571500" algn="just">
              <a:buFont typeface="Wingdings" panose="05000000000000000000" pitchFamily="2" charset="2"/>
              <a:buChar char="v"/>
            </a:pPr>
            <a:r>
              <a:rPr lang="en-US" sz="3600" dirty="0">
                <a:solidFill>
                  <a:schemeClr val="bg1"/>
                </a:solidFill>
              </a:rPr>
              <a:t>Real-world datasets often contain missing values, categorical variables, outliers, duplicated entries, and features measured on different scales. If such issues are not handled properly, machine learning algorithms may produce biased, unstable, or inaccurate predictions.</a:t>
            </a:r>
          </a:p>
          <a:p>
            <a:pPr marL="571500" indent="-571500" algn="just">
              <a:buFont typeface="Wingdings" panose="05000000000000000000" pitchFamily="2" charset="2"/>
              <a:buChar char="v"/>
            </a:pPr>
            <a:r>
              <a:rPr lang="en-US" sz="3600" dirty="0">
                <a:solidFill>
                  <a:schemeClr val="bg1"/>
                </a:solidFill>
              </a:rPr>
              <a:t>Data preprocessing is a fundamental step in the machine learning in which, inconsistent data is transformed into a clean and meaningful format suitable for model training.</a:t>
            </a:r>
          </a:p>
          <a:p>
            <a:pPr marL="571500" indent="-571500" algn="just">
              <a:buFont typeface="Wingdings" panose="05000000000000000000" pitchFamily="2" charset="2"/>
              <a:buChar char="v"/>
            </a:pPr>
            <a:r>
              <a:rPr lang="en-US" sz="3600" dirty="0">
                <a:solidFill>
                  <a:schemeClr val="bg1"/>
                </a:solidFill>
              </a:rPr>
              <a:t>It helps improve: Data quality, Predictive accuracy, generalization.</a:t>
            </a:r>
          </a:p>
          <a:p>
            <a:pPr marL="571500" indent="-571500" algn="just">
              <a:buFont typeface="Wingdings" panose="05000000000000000000" pitchFamily="2" charset="2"/>
              <a:buChar char="v"/>
            </a:pPr>
            <a:endParaRPr lang="en-US" sz="3600" dirty="0">
              <a:solidFill>
                <a:schemeClr val="bg1"/>
              </a:solidFill>
              <a:latin typeface="Times New Roman" panose="02020603050405020304" pitchFamily="18" charset="0"/>
              <a:ea typeface="Raleway Italics"/>
              <a:cs typeface="Times New Roman" panose="02020603050405020304" pitchFamily="18" charset="0"/>
              <a:sym typeface="Raleway Italics"/>
            </a:endParaRPr>
          </a:p>
        </p:txBody>
      </p:sp>
      <p:sp>
        <p:nvSpPr>
          <p:cNvPr id="15" name="TextBox 15"/>
          <p:cNvSpPr txBox="1"/>
          <p:nvPr/>
        </p:nvSpPr>
        <p:spPr>
          <a:xfrm>
            <a:off x="626486" y="583142"/>
            <a:ext cx="1074675" cy="394339"/>
          </a:xfrm>
          <a:prstGeom prst="rect">
            <a:avLst/>
          </a:prstGeom>
        </p:spPr>
        <p:txBody>
          <a:bodyPr lIns="0" tIns="0" rIns="0" bIns="0" rtlCol="0" anchor="t">
            <a:spAutoFit/>
          </a:bodyPr>
          <a:lstStyle/>
          <a:p>
            <a:pPr>
              <a:lnSpc>
                <a:spcPts val="4057"/>
              </a:lnSpc>
            </a:pPr>
            <a:r>
              <a:rPr lang="en-US" sz="3145" dirty="0">
                <a:solidFill>
                  <a:srgbClr val="FFFFFF"/>
                </a:solidFill>
                <a:latin typeface="Mokoto"/>
                <a:ea typeface="Mokoto"/>
                <a:cs typeface="Mokoto"/>
                <a:sym typeface="Mokoto"/>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32A64">
                <a:alpha val="100000"/>
              </a:srgbClr>
            </a:gs>
            <a:gs pos="100000">
              <a:srgbClr val="414C94">
                <a:alpha val="100000"/>
              </a:srgbClr>
            </a:gs>
          </a:gsLst>
          <a:lin ang="0"/>
        </a:gradFill>
        <a:effectLst/>
      </p:bgPr>
    </p:bg>
    <p:spTree>
      <p:nvGrpSpPr>
        <p:cNvPr id="1" name="">
          <a:extLst>
            <a:ext uri="{FF2B5EF4-FFF2-40B4-BE49-F238E27FC236}">
              <a16:creationId xmlns:a16="http://schemas.microsoft.com/office/drawing/2014/main" id="{360EFC76-2583-102D-924B-95E05EF139E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E7D08A-0BC3-4050-F4FB-76EAB2681B8F}"/>
              </a:ext>
            </a:extLst>
          </p:cNvPr>
          <p:cNvSpPr/>
          <p:nvPr/>
        </p:nvSpPr>
        <p:spPr>
          <a:xfrm rot="1572293">
            <a:off x="-5945837" y="6603489"/>
            <a:ext cx="19149891" cy="6989710"/>
          </a:xfrm>
          <a:custGeom>
            <a:avLst/>
            <a:gdLst/>
            <a:ahLst/>
            <a:cxnLst/>
            <a:rect l="l" t="t" r="r" b="b"/>
            <a:pathLst>
              <a:path w="19149891" h="6989710">
                <a:moveTo>
                  <a:pt x="0" y="0"/>
                </a:moveTo>
                <a:lnTo>
                  <a:pt x="19149891" y="0"/>
                </a:lnTo>
                <a:lnTo>
                  <a:pt x="19149891" y="6989710"/>
                </a:lnTo>
                <a:lnTo>
                  <a:pt x="0" y="6989710"/>
                </a:lnTo>
                <a:lnTo>
                  <a:pt x="0" y="0"/>
                </a:lnTo>
                <a:close/>
              </a:path>
            </a:pathLst>
          </a:custGeom>
          <a:blipFill>
            <a:blip r:embed="rId3">
              <a:alphaModFix amt="80000"/>
            </a:blip>
            <a:stretch>
              <a:fillRect/>
            </a:stretch>
          </a:blipFill>
        </p:spPr>
      </p:sp>
      <p:sp>
        <p:nvSpPr>
          <p:cNvPr id="5" name="Freeform 5">
            <a:extLst>
              <a:ext uri="{FF2B5EF4-FFF2-40B4-BE49-F238E27FC236}">
                <a16:creationId xmlns:a16="http://schemas.microsoft.com/office/drawing/2014/main" id="{B74AB8D8-4B87-9718-4A0B-047058332241}"/>
              </a:ext>
            </a:extLst>
          </p:cNvPr>
          <p:cNvSpPr/>
          <p:nvPr/>
        </p:nvSpPr>
        <p:spPr>
          <a:xfrm rot="1572293" flipV="1">
            <a:off x="9855560" y="-3367684"/>
            <a:ext cx="19149891" cy="6989710"/>
          </a:xfrm>
          <a:custGeom>
            <a:avLst/>
            <a:gdLst/>
            <a:ahLst/>
            <a:cxnLst/>
            <a:rect l="l" t="t" r="r" b="b"/>
            <a:pathLst>
              <a:path w="19149891" h="6989710">
                <a:moveTo>
                  <a:pt x="0" y="6989710"/>
                </a:moveTo>
                <a:lnTo>
                  <a:pt x="19149891" y="6989710"/>
                </a:lnTo>
                <a:lnTo>
                  <a:pt x="19149891" y="0"/>
                </a:lnTo>
                <a:lnTo>
                  <a:pt x="0" y="0"/>
                </a:lnTo>
                <a:lnTo>
                  <a:pt x="0" y="6989710"/>
                </a:lnTo>
                <a:close/>
              </a:path>
            </a:pathLst>
          </a:custGeom>
          <a:blipFill>
            <a:blip r:embed="rId3">
              <a:alphaModFix amt="80000"/>
            </a:blip>
            <a:stretch>
              <a:fillRect/>
            </a:stretch>
          </a:blipFill>
        </p:spPr>
      </p:sp>
      <p:sp>
        <p:nvSpPr>
          <p:cNvPr id="6" name="Freeform 6">
            <a:extLst>
              <a:ext uri="{FF2B5EF4-FFF2-40B4-BE49-F238E27FC236}">
                <a16:creationId xmlns:a16="http://schemas.microsoft.com/office/drawing/2014/main" id="{DAD8D730-6D21-A34A-5B6F-793760BA0C4E}"/>
              </a:ext>
            </a:extLst>
          </p:cNvPr>
          <p:cNvSpPr/>
          <p:nvPr/>
        </p:nvSpPr>
        <p:spPr>
          <a:xfrm>
            <a:off x="17373602" y="9029700"/>
            <a:ext cx="658167" cy="595940"/>
          </a:xfrm>
          <a:custGeom>
            <a:avLst/>
            <a:gdLst/>
            <a:ahLst/>
            <a:cxnLst/>
            <a:rect l="l" t="t" r="r" b="b"/>
            <a:pathLst>
              <a:path w="658167" h="595940">
                <a:moveTo>
                  <a:pt x="0" y="0"/>
                </a:moveTo>
                <a:lnTo>
                  <a:pt x="658167" y="0"/>
                </a:lnTo>
                <a:lnTo>
                  <a:pt x="658167" y="595940"/>
                </a:lnTo>
                <a:lnTo>
                  <a:pt x="0" y="59594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TextBox 13">
            <a:extLst>
              <a:ext uri="{FF2B5EF4-FFF2-40B4-BE49-F238E27FC236}">
                <a16:creationId xmlns:a16="http://schemas.microsoft.com/office/drawing/2014/main" id="{C5D4BDDF-D804-07D6-CE6C-75C4C0F085F4}"/>
              </a:ext>
            </a:extLst>
          </p:cNvPr>
          <p:cNvSpPr txBox="1"/>
          <p:nvPr/>
        </p:nvSpPr>
        <p:spPr>
          <a:xfrm>
            <a:off x="3748053" y="329511"/>
            <a:ext cx="15682452" cy="969176"/>
          </a:xfrm>
          <a:prstGeom prst="rect">
            <a:avLst/>
          </a:prstGeom>
        </p:spPr>
        <p:txBody>
          <a:bodyPr wrap="square" lIns="0" tIns="0" rIns="0" bIns="0" rtlCol="0" anchor="t">
            <a:spAutoFit/>
          </a:bodyPr>
          <a:lstStyle/>
          <a:p>
            <a:pPr marL="0" marR="0" lvl="0" indent="0" algn="l" defTabSz="914400" rtl="0" eaLnBrk="1" fontAlgn="auto" latinLnBrk="0" hangingPunct="1">
              <a:lnSpc>
                <a:spcPts val="8143"/>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solidFill>
                <a:effectLst/>
                <a:uLnTx/>
                <a:uFillTx/>
                <a:latin typeface="Montserrat Semi-Bold"/>
                <a:ea typeface="Montserrat Semi-Bold"/>
                <a:cs typeface="Montserrat Semi-Bold"/>
                <a:sym typeface="Montserrat Semi-Bold"/>
              </a:rPr>
              <a:t>	WINE QUALITY </a:t>
            </a:r>
            <a:r>
              <a:rPr kumimoji="0" lang="en-US" sz="6000" b="1" i="0" u="none" strike="noStrike" kern="1200" cap="none" spc="0" normalizeH="0" baseline="0" noProof="0" dirty="0">
                <a:ln>
                  <a:noFill/>
                </a:ln>
                <a:solidFill>
                  <a:srgbClr val="72F1FE"/>
                </a:solidFill>
                <a:effectLst/>
                <a:uLnTx/>
                <a:uFillTx/>
                <a:latin typeface="Montserrat Semi-Bold"/>
                <a:ea typeface="Montserrat Semi-Bold"/>
                <a:cs typeface="Montserrat Semi-Bold"/>
                <a:sym typeface="Montserrat Semi-Bold"/>
              </a:rPr>
              <a:t>Dataset</a:t>
            </a:r>
          </a:p>
        </p:txBody>
      </p:sp>
      <p:sp>
        <p:nvSpPr>
          <p:cNvPr id="15" name="TextBox 15">
            <a:extLst>
              <a:ext uri="{FF2B5EF4-FFF2-40B4-BE49-F238E27FC236}">
                <a16:creationId xmlns:a16="http://schemas.microsoft.com/office/drawing/2014/main" id="{F4387111-D325-FE09-F992-C00C1F813977}"/>
              </a:ext>
            </a:extLst>
          </p:cNvPr>
          <p:cNvSpPr txBox="1"/>
          <p:nvPr/>
        </p:nvSpPr>
        <p:spPr>
          <a:xfrm>
            <a:off x="626486" y="583142"/>
            <a:ext cx="1074675" cy="394339"/>
          </a:xfrm>
          <a:prstGeom prst="rect">
            <a:avLst/>
          </a:prstGeom>
        </p:spPr>
        <p:txBody>
          <a:bodyPr lIns="0" tIns="0" rIns="0" bIns="0" rtlCol="0" anchor="t">
            <a:spAutoFit/>
          </a:bodyPr>
          <a:lstStyle/>
          <a:p>
            <a:pPr marL="0" marR="0" lvl="0" indent="0" algn="l" defTabSz="914400" rtl="0" eaLnBrk="1" fontAlgn="auto" latinLnBrk="0" hangingPunct="1">
              <a:lnSpc>
                <a:spcPts val="4057"/>
              </a:lnSpc>
              <a:spcBef>
                <a:spcPts val="0"/>
              </a:spcBef>
              <a:spcAft>
                <a:spcPts val="0"/>
              </a:spcAft>
              <a:buClrTx/>
              <a:buSzTx/>
              <a:buFontTx/>
              <a:buNone/>
              <a:tabLst/>
              <a:defRPr/>
            </a:pPr>
            <a:r>
              <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rPr>
              <a:t>02</a:t>
            </a:r>
          </a:p>
        </p:txBody>
      </p:sp>
      <p:sp>
        <p:nvSpPr>
          <p:cNvPr id="8" name="TextBox 7">
            <a:extLst>
              <a:ext uri="{FF2B5EF4-FFF2-40B4-BE49-F238E27FC236}">
                <a16:creationId xmlns:a16="http://schemas.microsoft.com/office/drawing/2014/main" id="{C83C7461-EF66-59CE-B02A-E88D7C46624D}"/>
              </a:ext>
            </a:extLst>
          </p:cNvPr>
          <p:cNvSpPr txBox="1"/>
          <p:nvPr/>
        </p:nvSpPr>
        <p:spPr>
          <a:xfrm>
            <a:off x="1243301" y="2758372"/>
            <a:ext cx="4771614" cy="5262979"/>
          </a:xfrm>
          <a:prstGeom prst="rect">
            <a:avLst/>
          </a:prstGeom>
          <a:noFill/>
        </p:spPr>
        <p:txBody>
          <a:bodyPr wrap="square">
            <a:spAutoFit/>
          </a:bodyPr>
          <a:lstStyle/>
          <a:p>
            <a:pPr marL="0" marR="0" lvl="0" indent="0" algn="l" defTabSz="914311"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a:ea typeface="+mn-ea"/>
                <a:cs typeface="+mn-cs"/>
                <a:sym typeface="Raleway Italics"/>
              </a:rPr>
              <a:t>Total Samples: 1143</a:t>
            </a:r>
            <a:endParaRPr kumimoji="0" lang="en-US" sz="2800" b="1" i="0" u="none" strike="noStrike" kern="1200" cap="none" spc="0" normalizeH="0" baseline="0" noProof="0" dirty="0">
              <a:ln>
                <a:noFill/>
              </a:ln>
              <a:solidFill>
                <a:prstClr val="white"/>
              </a:solidFill>
              <a:effectLst/>
              <a:uLnTx/>
              <a:uFillTx/>
              <a:latin typeface="Calibri"/>
              <a:ea typeface="+mn-ea"/>
              <a:cs typeface="+mn-cs"/>
            </a:endParaRPr>
          </a:p>
          <a:p>
            <a:pPr marL="0" marR="0" lvl="0" indent="0" algn="l" defTabSz="914311"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a:ea typeface="+mn-ea"/>
                <a:cs typeface="+mn-cs"/>
              </a:rPr>
              <a:t>The target variable is:</a:t>
            </a:r>
          </a:p>
          <a:p>
            <a:pPr marL="0" marR="0" lvl="0" indent="0" algn="l" defTabSz="914311"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a:ea typeface="+mn-ea"/>
                <a:cs typeface="+mn-cs"/>
              </a:rPr>
              <a:t>quality</a:t>
            </a:r>
          </a:p>
          <a:p>
            <a:pPr marL="0" marR="0" lvl="0" indent="0" algn="l" defTabSz="914311"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a:ea typeface="+mn-ea"/>
                <a:cs typeface="+mn-cs"/>
              </a:rPr>
              <a:t>It represents the quality score of wine samples.</a:t>
            </a:r>
          </a:p>
          <a:p>
            <a:pPr marL="0" marR="0" lvl="0" indent="0" algn="l" defTabSz="914311"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a:ea typeface="+mn-ea"/>
                <a:cs typeface="+mn-cs"/>
              </a:rPr>
              <a:t>Example classes:</a:t>
            </a:r>
          </a:p>
          <a:p>
            <a:pPr marL="0" marR="0" lvl="0" indent="0" algn="l" defTabSz="91431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white"/>
                </a:solidFill>
                <a:effectLst/>
                <a:uLnTx/>
                <a:uFillTx/>
                <a:latin typeface="Calibri"/>
                <a:ea typeface="+mn-ea"/>
                <a:cs typeface="+mn-cs"/>
              </a:rPr>
              <a:t>3 (Poor Quality Wine)</a:t>
            </a:r>
          </a:p>
          <a:p>
            <a:pPr marL="0" marR="0" lvl="0" indent="0" algn="l" defTabSz="91431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white"/>
                </a:solidFill>
                <a:effectLst/>
                <a:uLnTx/>
                <a:uFillTx/>
                <a:latin typeface="Calibri"/>
                <a:ea typeface="+mn-ea"/>
                <a:cs typeface="+mn-cs"/>
              </a:rPr>
              <a:t>4 </a:t>
            </a:r>
          </a:p>
          <a:p>
            <a:pPr marL="0" marR="0" lvl="0" indent="0" algn="l" defTabSz="91431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white"/>
                </a:solidFill>
                <a:effectLst/>
                <a:uLnTx/>
                <a:uFillTx/>
                <a:latin typeface="Calibri"/>
                <a:ea typeface="+mn-ea"/>
                <a:cs typeface="+mn-cs"/>
              </a:rPr>
              <a:t>5 </a:t>
            </a:r>
          </a:p>
          <a:p>
            <a:pPr marL="0" marR="0" lvl="0" indent="0" algn="l" defTabSz="91431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white"/>
                </a:solidFill>
                <a:effectLst/>
                <a:uLnTx/>
                <a:uFillTx/>
                <a:latin typeface="Calibri"/>
                <a:ea typeface="+mn-ea"/>
                <a:cs typeface="+mn-cs"/>
              </a:rPr>
              <a:t>6 </a:t>
            </a:r>
          </a:p>
          <a:p>
            <a:pPr marL="0" marR="0" lvl="0" indent="0" algn="l" defTabSz="91431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white"/>
                </a:solidFill>
                <a:effectLst/>
                <a:uLnTx/>
                <a:uFillTx/>
                <a:latin typeface="Calibri"/>
                <a:ea typeface="+mn-ea"/>
                <a:cs typeface="+mn-cs"/>
              </a:rPr>
              <a:t>7 </a:t>
            </a:r>
          </a:p>
          <a:p>
            <a:pPr marL="0" marR="0" lvl="0" indent="0" algn="l" defTabSz="91431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white"/>
                </a:solidFill>
                <a:effectLst/>
                <a:uLnTx/>
                <a:uFillTx/>
                <a:latin typeface="Calibri"/>
                <a:ea typeface="+mn-ea"/>
                <a:cs typeface="+mn-cs"/>
              </a:rPr>
              <a:t>8 (Best Wine Quality)</a:t>
            </a:r>
          </a:p>
        </p:txBody>
      </p:sp>
      <p:pic>
        <p:nvPicPr>
          <p:cNvPr id="10" name="Picture 9">
            <a:extLst>
              <a:ext uri="{FF2B5EF4-FFF2-40B4-BE49-F238E27FC236}">
                <a16:creationId xmlns:a16="http://schemas.microsoft.com/office/drawing/2014/main" id="{5E252847-06A6-4FBC-4FD2-9BA4EF14DF50}"/>
              </a:ext>
            </a:extLst>
          </p:cNvPr>
          <p:cNvPicPr>
            <a:picLocks noChangeAspect="1"/>
          </p:cNvPicPr>
          <p:nvPr/>
        </p:nvPicPr>
        <p:blipFill>
          <a:blip r:embed="rId5"/>
          <a:stretch>
            <a:fillRect/>
          </a:stretch>
        </p:blipFill>
        <p:spPr>
          <a:xfrm>
            <a:off x="6515085" y="3113891"/>
            <a:ext cx="11278114" cy="3539209"/>
          </a:xfrm>
          <a:prstGeom prst="rect">
            <a:avLst/>
          </a:prstGeom>
        </p:spPr>
      </p:pic>
    </p:spTree>
    <p:extLst>
      <p:ext uri="{BB962C8B-B14F-4D97-AF65-F5344CB8AC3E}">
        <p14:creationId xmlns:p14="http://schemas.microsoft.com/office/powerpoint/2010/main" val="57316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32A64">
                <a:alpha val="100000"/>
              </a:srgbClr>
            </a:gs>
            <a:gs pos="100000">
              <a:srgbClr val="414C94">
                <a:alpha val="100000"/>
              </a:srgbClr>
            </a:gs>
          </a:gsLst>
          <a:lin ang="0"/>
        </a:gradFill>
        <a:effectLst/>
      </p:bgPr>
    </p:bg>
    <p:spTree>
      <p:nvGrpSpPr>
        <p:cNvPr id="1" name="">
          <a:extLst>
            <a:ext uri="{FF2B5EF4-FFF2-40B4-BE49-F238E27FC236}">
              <a16:creationId xmlns:a16="http://schemas.microsoft.com/office/drawing/2014/main" id="{82454AED-2CE7-06E0-7022-E64AD6F3E50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D512DC8-E53A-79A1-6FA9-F8806C19E2B0}"/>
              </a:ext>
            </a:extLst>
          </p:cNvPr>
          <p:cNvSpPr/>
          <p:nvPr/>
        </p:nvSpPr>
        <p:spPr>
          <a:xfrm rot="1572293">
            <a:off x="-5945837" y="6603489"/>
            <a:ext cx="19149891" cy="6989710"/>
          </a:xfrm>
          <a:custGeom>
            <a:avLst/>
            <a:gdLst/>
            <a:ahLst/>
            <a:cxnLst/>
            <a:rect l="l" t="t" r="r" b="b"/>
            <a:pathLst>
              <a:path w="19149891" h="6989710">
                <a:moveTo>
                  <a:pt x="0" y="0"/>
                </a:moveTo>
                <a:lnTo>
                  <a:pt x="19149891" y="0"/>
                </a:lnTo>
                <a:lnTo>
                  <a:pt x="19149891" y="6989710"/>
                </a:lnTo>
                <a:lnTo>
                  <a:pt x="0" y="6989710"/>
                </a:lnTo>
                <a:lnTo>
                  <a:pt x="0" y="0"/>
                </a:lnTo>
                <a:close/>
              </a:path>
            </a:pathLst>
          </a:custGeom>
          <a:blipFill>
            <a:blip r:embed="rId3">
              <a:alphaModFix amt="80000"/>
            </a:blip>
            <a:stretch>
              <a:fillRect/>
            </a:stretch>
          </a:blipFill>
        </p:spPr>
      </p:sp>
      <p:sp>
        <p:nvSpPr>
          <p:cNvPr id="5" name="Freeform 5">
            <a:extLst>
              <a:ext uri="{FF2B5EF4-FFF2-40B4-BE49-F238E27FC236}">
                <a16:creationId xmlns:a16="http://schemas.microsoft.com/office/drawing/2014/main" id="{19EEF458-18A3-1B7C-B752-F8E734B43A24}"/>
              </a:ext>
            </a:extLst>
          </p:cNvPr>
          <p:cNvSpPr/>
          <p:nvPr/>
        </p:nvSpPr>
        <p:spPr>
          <a:xfrm rot="1572293" flipV="1">
            <a:off x="9855560" y="-3367684"/>
            <a:ext cx="19149891" cy="6989710"/>
          </a:xfrm>
          <a:custGeom>
            <a:avLst/>
            <a:gdLst/>
            <a:ahLst/>
            <a:cxnLst/>
            <a:rect l="l" t="t" r="r" b="b"/>
            <a:pathLst>
              <a:path w="19149891" h="6989710">
                <a:moveTo>
                  <a:pt x="0" y="6989710"/>
                </a:moveTo>
                <a:lnTo>
                  <a:pt x="19149891" y="6989710"/>
                </a:lnTo>
                <a:lnTo>
                  <a:pt x="19149891" y="0"/>
                </a:lnTo>
                <a:lnTo>
                  <a:pt x="0" y="0"/>
                </a:lnTo>
                <a:lnTo>
                  <a:pt x="0" y="6989710"/>
                </a:lnTo>
                <a:close/>
              </a:path>
            </a:pathLst>
          </a:custGeom>
          <a:blipFill>
            <a:blip r:embed="rId3">
              <a:alphaModFix amt="80000"/>
            </a:blip>
            <a:stretch>
              <a:fillRect/>
            </a:stretch>
          </a:blipFill>
        </p:spPr>
      </p:sp>
      <p:sp>
        <p:nvSpPr>
          <p:cNvPr id="13" name="TextBox 13">
            <a:extLst>
              <a:ext uri="{FF2B5EF4-FFF2-40B4-BE49-F238E27FC236}">
                <a16:creationId xmlns:a16="http://schemas.microsoft.com/office/drawing/2014/main" id="{23C3499E-585E-D7F4-971A-3EED5D8D2807}"/>
              </a:ext>
            </a:extLst>
          </p:cNvPr>
          <p:cNvSpPr txBox="1"/>
          <p:nvPr/>
        </p:nvSpPr>
        <p:spPr>
          <a:xfrm>
            <a:off x="3748053" y="329511"/>
            <a:ext cx="15682452" cy="969176"/>
          </a:xfrm>
          <a:prstGeom prst="rect">
            <a:avLst/>
          </a:prstGeom>
        </p:spPr>
        <p:txBody>
          <a:bodyPr wrap="square" lIns="0" tIns="0" rIns="0" bIns="0" rtlCol="0" anchor="t">
            <a:spAutoFit/>
          </a:bodyPr>
          <a:lstStyle/>
          <a:p>
            <a:pPr defTabSz="914400">
              <a:lnSpc>
                <a:spcPts val="8143"/>
              </a:lnSpc>
              <a:defRPr/>
            </a:pPr>
            <a:r>
              <a:rPr lang="en-US" sz="6000" b="1" dirty="0">
                <a:solidFill>
                  <a:srgbClr val="FFFFFF"/>
                </a:solidFill>
                <a:latin typeface="Montserrat Semi-Bold"/>
                <a:ea typeface="Montserrat Semi-Bold"/>
                <a:cs typeface="Montserrat Semi-Bold"/>
                <a:sym typeface="Montserrat Semi-Bold"/>
              </a:rPr>
              <a:t>	WINE QUALITY </a:t>
            </a:r>
            <a:r>
              <a:rPr lang="en-US" sz="6000" b="1" dirty="0">
                <a:solidFill>
                  <a:srgbClr val="72F1FE"/>
                </a:solidFill>
                <a:latin typeface="Montserrat Semi-Bold"/>
                <a:ea typeface="Montserrat Semi-Bold"/>
                <a:cs typeface="Montserrat Semi-Bold"/>
                <a:sym typeface="Montserrat Semi-Bold"/>
              </a:rPr>
              <a:t>Dataset</a:t>
            </a:r>
          </a:p>
        </p:txBody>
      </p:sp>
      <p:sp>
        <p:nvSpPr>
          <p:cNvPr id="15" name="TextBox 15">
            <a:extLst>
              <a:ext uri="{FF2B5EF4-FFF2-40B4-BE49-F238E27FC236}">
                <a16:creationId xmlns:a16="http://schemas.microsoft.com/office/drawing/2014/main" id="{EE635BB8-1699-EEB8-27B1-08B9EE5F3E8C}"/>
              </a:ext>
            </a:extLst>
          </p:cNvPr>
          <p:cNvSpPr txBox="1"/>
          <p:nvPr/>
        </p:nvSpPr>
        <p:spPr>
          <a:xfrm>
            <a:off x="626486" y="583142"/>
            <a:ext cx="1074675" cy="394339"/>
          </a:xfrm>
          <a:prstGeom prst="rect">
            <a:avLst/>
          </a:prstGeom>
        </p:spPr>
        <p:txBody>
          <a:bodyPr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03</a:t>
            </a:r>
          </a:p>
        </p:txBody>
      </p:sp>
      <p:pic>
        <p:nvPicPr>
          <p:cNvPr id="16" name="Picture 15">
            <a:extLst>
              <a:ext uri="{FF2B5EF4-FFF2-40B4-BE49-F238E27FC236}">
                <a16:creationId xmlns:a16="http://schemas.microsoft.com/office/drawing/2014/main" id="{7A60EC5C-ED46-CFD4-FEC3-F7EE456CB447}"/>
              </a:ext>
            </a:extLst>
          </p:cNvPr>
          <p:cNvPicPr>
            <a:picLocks noChangeAspect="1"/>
          </p:cNvPicPr>
          <p:nvPr/>
        </p:nvPicPr>
        <p:blipFill>
          <a:blip r:embed="rId4"/>
          <a:stretch>
            <a:fillRect/>
          </a:stretch>
        </p:blipFill>
        <p:spPr>
          <a:xfrm>
            <a:off x="776252" y="3619501"/>
            <a:ext cx="6310347" cy="6396732"/>
          </a:xfrm>
          <a:prstGeom prst="rect">
            <a:avLst/>
          </a:prstGeom>
        </p:spPr>
      </p:pic>
      <p:sp>
        <p:nvSpPr>
          <p:cNvPr id="18" name="TextBox 17">
            <a:extLst>
              <a:ext uri="{FF2B5EF4-FFF2-40B4-BE49-F238E27FC236}">
                <a16:creationId xmlns:a16="http://schemas.microsoft.com/office/drawing/2014/main" id="{2D8CDE7F-C9B1-5880-189B-204487960C5D}"/>
              </a:ext>
            </a:extLst>
          </p:cNvPr>
          <p:cNvSpPr txBox="1"/>
          <p:nvPr/>
        </p:nvSpPr>
        <p:spPr>
          <a:xfrm>
            <a:off x="966753" y="1869221"/>
            <a:ext cx="5562600" cy="1631216"/>
          </a:xfrm>
          <a:prstGeom prst="rect">
            <a:avLst/>
          </a:prstGeom>
          <a:noFill/>
        </p:spPr>
        <p:txBody>
          <a:bodyPr wrap="square">
            <a:spAutoFit/>
          </a:bodyPr>
          <a:lstStyle/>
          <a:p>
            <a:r>
              <a:rPr lang="en-IN" sz="2000" dirty="0">
                <a:solidFill>
                  <a:schemeClr val="accent5">
                    <a:lumMod val="20000"/>
                    <a:lumOff val="80000"/>
                  </a:schemeClr>
                </a:solidFill>
              </a:rPr>
              <a:t>#Distribution of class labels in the output </a:t>
            </a:r>
            <a:r>
              <a:rPr lang="en-IN" sz="2000" dirty="0" err="1">
                <a:solidFill>
                  <a:schemeClr val="accent5">
                    <a:lumMod val="20000"/>
                    <a:lumOff val="80000"/>
                  </a:schemeClr>
                </a:solidFill>
              </a:rPr>
              <a:t>classplt.figure</a:t>
            </a:r>
            <a:r>
              <a:rPr lang="en-IN" sz="2000" dirty="0">
                <a:solidFill>
                  <a:schemeClr val="accent5">
                    <a:lumMod val="20000"/>
                    <a:lumOff val="80000"/>
                  </a:schemeClr>
                </a:solidFill>
              </a:rPr>
              <a:t>(</a:t>
            </a:r>
            <a:r>
              <a:rPr lang="en-IN" sz="2000" dirty="0" err="1">
                <a:solidFill>
                  <a:schemeClr val="accent5">
                    <a:lumMod val="20000"/>
                    <a:lumOff val="80000"/>
                  </a:schemeClr>
                </a:solidFill>
              </a:rPr>
              <a:t>figsize</a:t>
            </a:r>
            <a:r>
              <a:rPr lang="en-IN" sz="2000" dirty="0">
                <a:solidFill>
                  <a:schemeClr val="accent5">
                    <a:lumMod val="20000"/>
                    <a:lumOff val="80000"/>
                  </a:schemeClr>
                </a:solidFill>
              </a:rPr>
              <a:t>=(4,4))</a:t>
            </a:r>
          </a:p>
          <a:p>
            <a:r>
              <a:rPr lang="en-IN" sz="2000" dirty="0" err="1">
                <a:solidFill>
                  <a:schemeClr val="accent5">
                    <a:lumMod val="20000"/>
                    <a:lumOff val="80000"/>
                  </a:schemeClr>
                </a:solidFill>
              </a:rPr>
              <a:t>sns.countplot</a:t>
            </a:r>
            <a:r>
              <a:rPr lang="en-IN" sz="2000" dirty="0">
                <a:solidFill>
                  <a:schemeClr val="accent5">
                    <a:lumMod val="20000"/>
                    <a:lumOff val="80000"/>
                  </a:schemeClr>
                </a:solidFill>
              </a:rPr>
              <a:t>(x=</a:t>
            </a:r>
            <a:r>
              <a:rPr lang="en-IN" sz="2000" dirty="0" err="1">
                <a:solidFill>
                  <a:schemeClr val="accent5">
                    <a:lumMod val="20000"/>
                    <a:lumOff val="80000"/>
                  </a:schemeClr>
                </a:solidFill>
              </a:rPr>
              <a:t>df</a:t>
            </a:r>
            <a:r>
              <a:rPr lang="en-IN" sz="2000" dirty="0">
                <a:solidFill>
                  <a:schemeClr val="accent5">
                    <a:lumMod val="20000"/>
                    <a:lumOff val="80000"/>
                  </a:schemeClr>
                </a:solidFill>
              </a:rPr>
              <a:t>['quality’])</a:t>
            </a:r>
          </a:p>
          <a:p>
            <a:r>
              <a:rPr lang="en-IN" sz="2000" dirty="0" err="1">
                <a:solidFill>
                  <a:schemeClr val="accent5">
                    <a:lumMod val="20000"/>
                    <a:lumOff val="80000"/>
                  </a:schemeClr>
                </a:solidFill>
              </a:rPr>
              <a:t>plt.title</a:t>
            </a:r>
            <a:r>
              <a:rPr lang="en-IN" sz="2000" dirty="0">
                <a:solidFill>
                  <a:schemeClr val="accent5">
                    <a:lumMod val="20000"/>
                    <a:lumOff val="80000"/>
                  </a:schemeClr>
                </a:solidFill>
              </a:rPr>
              <a:t>("Target Distribution (Wine Quality)")</a:t>
            </a:r>
          </a:p>
          <a:p>
            <a:r>
              <a:rPr lang="en-IN" sz="2000" dirty="0" err="1">
                <a:solidFill>
                  <a:schemeClr val="accent5">
                    <a:lumMod val="20000"/>
                    <a:lumOff val="80000"/>
                  </a:schemeClr>
                </a:solidFill>
              </a:rPr>
              <a:t>plt.show</a:t>
            </a:r>
            <a:r>
              <a:rPr lang="en-IN" sz="2000" dirty="0">
                <a:solidFill>
                  <a:schemeClr val="accent5">
                    <a:lumMod val="20000"/>
                    <a:lumOff val="80000"/>
                  </a:schemeClr>
                </a:solidFill>
              </a:rPr>
              <a:t>()</a:t>
            </a:r>
          </a:p>
        </p:txBody>
      </p:sp>
      <p:sp>
        <p:nvSpPr>
          <p:cNvPr id="20" name="TextBox 19">
            <a:extLst>
              <a:ext uri="{FF2B5EF4-FFF2-40B4-BE49-F238E27FC236}">
                <a16:creationId xmlns:a16="http://schemas.microsoft.com/office/drawing/2014/main" id="{6E410481-869E-FE25-0918-85F2CDFAE9A5}"/>
              </a:ext>
            </a:extLst>
          </p:cNvPr>
          <p:cNvSpPr txBox="1"/>
          <p:nvPr/>
        </p:nvSpPr>
        <p:spPr>
          <a:xfrm>
            <a:off x="10871054" y="1896492"/>
            <a:ext cx="5784321" cy="1323439"/>
          </a:xfrm>
          <a:prstGeom prst="rect">
            <a:avLst/>
          </a:prstGeom>
          <a:noFill/>
        </p:spPr>
        <p:txBody>
          <a:bodyPr wrap="square">
            <a:spAutoFit/>
          </a:bodyPr>
          <a:lstStyle/>
          <a:p>
            <a:r>
              <a:rPr lang="en-IN" sz="2000" dirty="0">
                <a:solidFill>
                  <a:schemeClr val="accent5">
                    <a:lumMod val="20000"/>
                    <a:lumOff val="80000"/>
                  </a:schemeClr>
                </a:solidFill>
              </a:rPr>
              <a:t>#Correlation matrix of features</a:t>
            </a:r>
          </a:p>
          <a:p>
            <a:r>
              <a:rPr lang="en-IN" sz="2000" dirty="0" err="1">
                <a:solidFill>
                  <a:schemeClr val="accent5">
                    <a:lumMod val="20000"/>
                    <a:lumOff val="80000"/>
                  </a:schemeClr>
                </a:solidFill>
              </a:rPr>
              <a:t>corr</a:t>
            </a:r>
            <a:r>
              <a:rPr lang="en-IN" sz="2000" dirty="0">
                <a:solidFill>
                  <a:schemeClr val="accent5">
                    <a:lumMod val="20000"/>
                    <a:lumOff val="80000"/>
                  </a:schemeClr>
                </a:solidFill>
              </a:rPr>
              <a:t>=</a:t>
            </a:r>
            <a:r>
              <a:rPr lang="en-IN" sz="2000" dirty="0" err="1">
                <a:solidFill>
                  <a:schemeClr val="accent5">
                    <a:lumMod val="20000"/>
                    <a:lumOff val="80000"/>
                  </a:schemeClr>
                </a:solidFill>
              </a:rPr>
              <a:t>df.corr</a:t>
            </a:r>
            <a:r>
              <a:rPr lang="en-IN" sz="2000" dirty="0">
                <a:solidFill>
                  <a:schemeClr val="accent5">
                    <a:lumMod val="20000"/>
                    <a:lumOff val="80000"/>
                  </a:schemeClr>
                </a:solidFill>
              </a:rPr>
              <a:t>()</a:t>
            </a:r>
          </a:p>
          <a:p>
            <a:r>
              <a:rPr lang="en-IN" sz="2000" dirty="0" err="1">
                <a:solidFill>
                  <a:schemeClr val="accent5">
                    <a:lumMod val="20000"/>
                    <a:lumOff val="80000"/>
                  </a:schemeClr>
                </a:solidFill>
              </a:rPr>
              <a:t>plt.figure</a:t>
            </a:r>
            <a:r>
              <a:rPr lang="en-IN" sz="2000" dirty="0">
                <a:solidFill>
                  <a:schemeClr val="accent5">
                    <a:lumMod val="20000"/>
                    <a:lumOff val="80000"/>
                  </a:schemeClr>
                </a:solidFill>
              </a:rPr>
              <a:t>(</a:t>
            </a:r>
            <a:r>
              <a:rPr lang="en-IN" sz="2000" dirty="0" err="1">
                <a:solidFill>
                  <a:schemeClr val="accent5">
                    <a:lumMod val="20000"/>
                    <a:lumOff val="80000"/>
                  </a:schemeClr>
                </a:solidFill>
              </a:rPr>
              <a:t>figsize</a:t>
            </a:r>
            <a:r>
              <a:rPr lang="en-IN" sz="2000" dirty="0">
                <a:solidFill>
                  <a:schemeClr val="accent5">
                    <a:lumMod val="20000"/>
                    <a:lumOff val="80000"/>
                  </a:schemeClr>
                </a:solidFill>
              </a:rPr>
              <a:t>=(10,5))</a:t>
            </a:r>
          </a:p>
          <a:p>
            <a:r>
              <a:rPr lang="en-IN" sz="2000" dirty="0" err="1">
                <a:solidFill>
                  <a:schemeClr val="accent5">
                    <a:lumMod val="20000"/>
                    <a:lumOff val="80000"/>
                  </a:schemeClr>
                </a:solidFill>
              </a:rPr>
              <a:t>sns.heatmap</a:t>
            </a:r>
            <a:r>
              <a:rPr lang="en-IN" sz="2000" dirty="0">
                <a:solidFill>
                  <a:schemeClr val="accent5">
                    <a:lumMod val="20000"/>
                    <a:lumOff val="80000"/>
                  </a:schemeClr>
                </a:solidFill>
              </a:rPr>
              <a:t>(</a:t>
            </a:r>
            <a:r>
              <a:rPr lang="en-IN" sz="2000" dirty="0" err="1">
                <a:solidFill>
                  <a:schemeClr val="accent5">
                    <a:lumMod val="20000"/>
                    <a:lumOff val="80000"/>
                  </a:schemeClr>
                </a:solidFill>
              </a:rPr>
              <a:t>corr</a:t>
            </a:r>
            <a:r>
              <a:rPr lang="en-IN" sz="2000" dirty="0">
                <a:solidFill>
                  <a:schemeClr val="accent5">
                    <a:lumMod val="20000"/>
                    <a:lumOff val="80000"/>
                  </a:schemeClr>
                </a:solidFill>
              </a:rPr>
              <a:t>, </a:t>
            </a:r>
            <a:r>
              <a:rPr lang="en-IN" sz="2000" dirty="0" err="1">
                <a:solidFill>
                  <a:schemeClr val="accent5">
                    <a:lumMod val="20000"/>
                    <a:lumOff val="80000"/>
                  </a:schemeClr>
                </a:solidFill>
              </a:rPr>
              <a:t>annoat</a:t>
            </a:r>
            <a:r>
              <a:rPr lang="en-IN" sz="2000" dirty="0">
                <a:solidFill>
                  <a:schemeClr val="accent5">
                    <a:lumMod val="20000"/>
                    <a:lumOff val="80000"/>
                  </a:schemeClr>
                </a:solidFill>
              </a:rPr>
              <a:t>=True, </a:t>
            </a:r>
            <a:r>
              <a:rPr lang="en-IN" sz="2000" dirty="0" err="1">
                <a:solidFill>
                  <a:schemeClr val="accent5">
                    <a:lumMod val="20000"/>
                    <a:lumOff val="80000"/>
                  </a:schemeClr>
                </a:solidFill>
              </a:rPr>
              <a:t>cmap</a:t>
            </a:r>
            <a:r>
              <a:rPr lang="en-IN" sz="2000" dirty="0">
                <a:solidFill>
                  <a:schemeClr val="accent5">
                    <a:lumMod val="20000"/>
                    <a:lumOff val="80000"/>
                  </a:schemeClr>
                </a:solidFill>
              </a:rPr>
              <a:t>='</a:t>
            </a:r>
            <a:r>
              <a:rPr lang="en-IN" sz="2000" dirty="0" err="1">
                <a:solidFill>
                  <a:schemeClr val="accent5">
                    <a:lumMod val="20000"/>
                    <a:lumOff val="80000"/>
                  </a:schemeClr>
                </a:solidFill>
              </a:rPr>
              <a:t>coolwarm</a:t>
            </a:r>
            <a:r>
              <a:rPr lang="en-IN" sz="2000" dirty="0">
                <a:solidFill>
                  <a:schemeClr val="accent5">
                    <a:lumMod val="20000"/>
                    <a:lumOff val="80000"/>
                  </a:schemeClr>
                </a:solidFill>
              </a:rPr>
              <a:t>')</a:t>
            </a:r>
          </a:p>
        </p:txBody>
      </p:sp>
      <p:pic>
        <p:nvPicPr>
          <p:cNvPr id="22" name="Picture 21">
            <a:extLst>
              <a:ext uri="{FF2B5EF4-FFF2-40B4-BE49-F238E27FC236}">
                <a16:creationId xmlns:a16="http://schemas.microsoft.com/office/drawing/2014/main" id="{9D2CAE68-D872-BC98-4D22-CA0BE2A4C1FD}"/>
              </a:ext>
            </a:extLst>
          </p:cNvPr>
          <p:cNvPicPr>
            <a:picLocks noChangeAspect="1"/>
          </p:cNvPicPr>
          <p:nvPr/>
        </p:nvPicPr>
        <p:blipFill>
          <a:blip r:embed="rId5"/>
          <a:stretch>
            <a:fillRect/>
          </a:stretch>
        </p:blipFill>
        <p:spPr>
          <a:xfrm>
            <a:off x="8896350" y="3500437"/>
            <a:ext cx="8991600" cy="6490389"/>
          </a:xfrm>
          <a:prstGeom prst="rect">
            <a:avLst/>
          </a:prstGeom>
        </p:spPr>
      </p:pic>
    </p:spTree>
    <p:extLst>
      <p:ext uri="{BB962C8B-B14F-4D97-AF65-F5344CB8AC3E}">
        <p14:creationId xmlns:p14="http://schemas.microsoft.com/office/powerpoint/2010/main" val="3065858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32A64">
                <a:alpha val="100000"/>
              </a:srgbClr>
            </a:gs>
            <a:gs pos="100000">
              <a:srgbClr val="414C94">
                <a:alpha val="100000"/>
              </a:srgbClr>
            </a:gs>
          </a:gsLst>
          <a:lin ang="0"/>
        </a:gradFill>
        <a:effectLst/>
      </p:bgPr>
    </p:bg>
    <p:spTree>
      <p:nvGrpSpPr>
        <p:cNvPr id="1" name="">
          <a:extLst>
            <a:ext uri="{FF2B5EF4-FFF2-40B4-BE49-F238E27FC236}">
              <a16:creationId xmlns:a16="http://schemas.microsoft.com/office/drawing/2014/main" id="{C0848BDC-2BBB-8679-ADF8-6B589C4D2E7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29551AC-B0D8-94F0-3C5E-DF25D3EF33CD}"/>
              </a:ext>
            </a:extLst>
          </p:cNvPr>
          <p:cNvSpPr/>
          <p:nvPr/>
        </p:nvSpPr>
        <p:spPr>
          <a:xfrm rot="1572293">
            <a:off x="-5945837" y="6603489"/>
            <a:ext cx="19149891" cy="6989710"/>
          </a:xfrm>
          <a:custGeom>
            <a:avLst/>
            <a:gdLst/>
            <a:ahLst/>
            <a:cxnLst/>
            <a:rect l="l" t="t" r="r" b="b"/>
            <a:pathLst>
              <a:path w="19149891" h="6989710">
                <a:moveTo>
                  <a:pt x="0" y="0"/>
                </a:moveTo>
                <a:lnTo>
                  <a:pt x="19149891" y="0"/>
                </a:lnTo>
                <a:lnTo>
                  <a:pt x="19149891" y="6989710"/>
                </a:lnTo>
                <a:lnTo>
                  <a:pt x="0" y="6989710"/>
                </a:lnTo>
                <a:lnTo>
                  <a:pt x="0" y="0"/>
                </a:lnTo>
                <a:close/>
              </a:path>
            </a:pathLst>
          </a:custGeom>
          <a:blipFill>
            <a:blip r:embed="rId3">
              <a:alphaModFix amt="80000"/>
            </a:blip>
            <a:stretch>
              <a:fillRect/>
            </a:stretch>
          </a:blipFill>
        </p:spPr>
      </p:sp>
      <p:sp>
        <p:nvSpPr>
          <p:cNvPr id="5" name="Freeform 5">
            <a:extLst>
              <a:ext uri="{FF2B5EF4-FFF2-40B4-BE49-F238E27FC236}">
                <a16:creationId xmlns:a16="http://schemas.microsoft.com/office/drawing/2014/main" id="{A7F6BDCE-037C-39C7-2B27-A4FC14056E8C}"/>
              </a:ext>
            </a:extLst>
          </p:cNvPr>
          <p:cNvSpPr/>
          <p:nvPr/>
        </p:nvSpPr>
        <p:spPr>
          <a:xfrm rot="1572293" flipV="1">
            <a:off x="9855560" y="-2714544"/>
            <a:ext cx="19149891" cy="6989710"/>
          </a:xfrm>
          <a:custGeom>
            <a:avLst/>
            <a:gdLst/>
            <a:ahLst/>
            <a:cxnLst/>
            <a:rect l="l" t="t" r="r" b="b"/>
            <a:pathLst>
              <a:path w="19149891" h="6989710">
                <a:moveTo>
                  <a:pt x="0" y="6989710"/>
                </a:moveTo>
                <a:lnTo>
                  <a:pt x="19149891" y="6989710"/>
                </a:lnTo>
                <a:lnTo>
                  <a:pt x="19149891" y="0"/>
                </a:lnTo>
                <a:lnTo>
                  <a:pt x="0" y="0"/>
                </a:lnTo>
                <a:lnTo>
                  <a:pt x="0" y="6989710"/>
                </a:lnTo>
                <a:close/>
              </a:path>
            </a:pathLst>
          </a:custGeom>
          <a:blipFill>
            <a:blip r:embed="rId3">
              <a:alphaModFix amt="80000"/>
            </a:blip>
            <a:stretch>
              <a:fillRect/>
            </a:stretch>
          </a:blipFill>
        </p:spPr>
      </p:sp>
      <p:sp>
        <p:nvSpPr>
          <p:cNvPr id="13" name="TextBox 13">
            <a:extLst>
              <a:ext uri="{FF2B5EF4-FFF2-40B4-BE49-F238E27FC236}">
                <a16:creationId xmlns:a16="http://schemas.microsoft.com/office/drawing/2014/main" id="{72F65090-513E-D8CE-5E91-8096D3170063}"/>
              </a:ext>
            </a:extLst>
          </p:cNvPr>
          <p:cNvSpPr txBox="1"/>
          <p:nvPr/>
        </p:nvSpPr>
        <p:spPr>
          <a:xfrm>
            <a:off x="3748053" y="329511"/>
            <a:ext cx="15682452" cy="969176"/>
          </a:xfrm>
          <a:prstGeom prst="rect">
            <a:avLst/>
          </a:prstGeom>
        </p:spPr>
        <p:txBody>
          <a:bodyPr wrap="square" lIns="0" tIns="0" rIns="0" bIns="0" rtlCol="0" anchor="t">
            <a:spAutoFit/>
          </a:bodyPr>
          <a:lstStyle/>
          <a:p>
            <a:pPr marL="0" marR="0" lvl="0" indent="0" algn="l" defTabSz="914400" rtl="0" eaLnBrk="1" fontAlgn="auto" latinLnBrk="0" hangingPunct="1">
              <a:lnSpc>
                <a:spcPts val="8143"/>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solidFill>
                <a:effectLst/>
                <a:uLnTx/>
                <a:uFillTx/>
                <a:latin typeface="Montserrat Semi-Bold"/>
                <a:ea typeface="Montserrat Semi-Bold"/>
                <a:cs typeface="Montserrat Semi-Bold"/>
                <a:sym typeface="Montserrat Semi-Bold"/>
              </a:rPr>
              <a:t>	WINE QUALITY </a:t>
            </a:r>
            <a:r>
              <a:rPr kumimoji="0" lang="en-US" sz="6000" b="1" i="0" u="none" strike="noStrike" kern="1200" cap="none" spc="0" normalizeH="0" baseline="0" noProof="0" dirty="0">
                <a:ln>
                  <a:noFill/>
                </a:ln>
                <a:solidFill>
                  <a:srgbClr val="72F1FE"/>
                </a:solidFill>
                <a:effectLst/>
                <a:uLnTx/>
                <a:uFillTx/>
                <a:latin typeface="Montserrat Semi-Bold"/>
                <a:ea typeface="Montserrat Semi-Bold"/>
                <a:cs typeface="Montserrat Semi-Bold"/>
                <a:sym typeface="Montserrat Semi-Bold"/>
              </a:rPr>
              <a:t>Dataset</a:t>
            </a:r>
          </a:p>
        </p:txBody>
      </p:sp>
      <p:sp>
        <p:nvSpPr>
          <p:cNvPr id="15" name="TextBox 15">
            <a:extLst>
              <a:ext uri="{FF2B5EF4-FFF2-40B4-BE49-F238E27FC236}">
                <a16:creationId xmlns:a16="http://schemas.microsoft.com/office/drawing/2014/main" id="{1342A78A-7FBA-EE6C-3FD3-1778DF1A4051}"/>
              </a:ext>
            </a:extLst>
          </p:cNvPr>
          <p:cNvSpPr txBox="1"/>
          <p:nvPr/>
        </p:nvSpPr>
        <p:spPr>
          <a:xfrm>
            <a:off x="626486" y="583142"/>
            <a:ext cx="1074675" cy="394339"/>
          </a:xfrm>
          <a:prstGeom prst="rect">
            <a:avLst/>
          </a:prstGeom>
        </p:spPr>
        <p:txBody>
          <a:bodyPr lIns="0" tIns="0" rIns="0" bIns="0" rtlCol="0" anchor="t">
            <a:spAutoFit/>
          </a:bodyPr>
          <a:lstStyle/>
          <a:p>
            <a:pPr marL="0" marR="0" lvl="0" indent="0" algn="l" defTabSz="914400" rtl="0" eaLnBrk="1" fontAlgn="auto" latinLnBrk="0" hangingPunct="1">
              <a:lnSpc>
                <a:spcPts val="4057"/>
              </a:lnSpc>
              <a:spcBef>
                <a:spcPts val="0"/>
              </a:spcBef>
              <a:spcAft>
                <a:spcPts val="0"/>
              </a:spcAft>
              <a:buClrTx/>
              <a:buSzTx/>
              <a:buFontTx/>
              <a:buNone/>
              <a:tabLst/>
              <a:defRPr/>
            </a:pPr>
            <a:r>
              <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rPr>
              <a:t>0</a:t>
            </a:r>
            <a:r>
              <a:rPr lang="en-US" sz="3145" dirty="0">
                <a:solidFill>
                  <a:srgbClr val="FFFFFF"/>
                </a:solidFill>
                <a:latin typeface="Mokoto"/>
                <a:ea typeface="Mokoto"/>
                <a:cs typeface="Mokoto"/>
                <a:sym typeface="Mokoto"/>
              </a:rPr>
              <a:t>4</a:t>
            </a:r>
            <a:endPar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endParaRPr>
          </a:p>
        </p:txBody>
      </p:sp>
      <p:sp>
        <p:nvSpPr>
          <p:cNvPr id="3" name="TextBox 2">
            <a:extLst>
              <a:ext uri="{FF2B5EF4-FFF2-40B4-BE49-F238E27FC236}">
                <a16:creationId xmlns:a16="http://schemas.microsoft.com/office/drawing/2014/main" id="{8724EB21-D052-E3F2-C727-7D0632690FED}"/>
              </a:ext>
            </a:extLst>
          </p:cNvPr>
          <p:cNvSpPr txBox="1"/>
          <p:nvPr/>
        </p:nvSpPr>
        <p:spPr>
          <a:xfrm>
            <a:off x="8271261" y="2274567"/>
            <a:ext cx="11483087" cy="4893647"/>
          </a:xfrm>
          <a:prstGeom prst="rect">
            <a:avLst/>
          </a:prstGeom>
          <a:noFill/>
        </p:spPr>
        <p:txBody>
          <a:bodyPr wrap="square" rtlCol="0">
            <a:spAutoFit/>
          </a:bodyPr>
          <a:lstStyle/>
          <a:p>
            <a:pPr lvl="0"/>
            <a:r>
              <a:rPr lang="en-US" sz="2400" dirty="0">
                <a:solidFill>
                  <a:srgbClr val="4BACC6">
                    <a:lumMod val="20000"/>
                    <a:lumOff val="80000"/>
                  </a:srgbClr>
                </a:solidFill>
              </a:rPr>
              <a:t>#Feature Importance</a:t>
            </a:r>
          </a:p>
          <a:p>
            <a:pPr lvl="0"/>
            <a:r>
              <a:rPr lang="en-US" sz="2400" dirty="0">
                <a:solidFill>
                  <a:srgbClr val="4BACC6">
                    <a:lumMod val="20000"/>
                    <a:lumOff val="80000"/>
                  </a:srgbClr>
                </a:solidFill>
              </a:rPr>
              <a:t>correlations = </a:t>
            </a:r>
            <a:r>
              <a:rPr lang="en-US" sz="2400" dirty="0" err="1">
                <a:solidFill>
                  <a:srgbClr val="4BACC6">
                    <a:lumMod val="20000"/>
                    <a:lumOff val="80000"/>
                  </a:srgbClr>
                </a:solidFill>
              </a:rPr>
              <a:t>df</a:t>
            </a:r>
            <a:r>
              <a:rPr lang="en-US" sz="2400" dirty="0">
                <a:solidFill>
                  <a:srgbClr val="4BACC6">
                    <a:lumMod val="20000"/>
                    <a:lumOff val="80000"/>
                  </a:srgbClr>
                </a:solidFill>
              </a:rPr>
              <a:t>[</a:t>
            </a:r>
            <a:r>
              <a:rPr lang="en-US" sz="2400" dirty="0" err="1">
                <a:solidFill>
                  <a:srgbClr val="4BACC6">
                    <a:lumMod val="20000"/>
                    <a:lumOff val="80000"/>
                  </a:srgbClr>
                </a:solidFill>
              </a:rPr>
              <a:t>numeric_cols.tolist</a:t>
            </a:r>
            <a:r>
              <a:rPr lang="en-US" sz="2400" dirty="0">
                <a:solidFill>
                  <a:srgbClr val="4BACC6">
                    <a:lumMod val="20000"/>
                    <a:lumOff val="80000"/>
                  </a:srgbClr>
                </a:solidFill>
              </a:rPr>
              <a:t>() + ['quality']].</a:t>
            </a:r>
            <a:r>
              <a:rPr lang="en-US" sz="2400" dirty="0" err="1">
                <a:solidFill>
                  <a:srgbClr val="4BACC6">
                    <a:lumMod val="20000"/>
                    <a:lumOff val="80000"/>
                  </a:srgbClr>
                </a:solidFill>
              </a:rPr>
              <a:t>corr</a:t>
            </a:r>
            <a:r>
              <a:rPr lang="en-US" sz="2400" dirty="0">
                <a:solidFill>
                  <a:srgbClr val="4BACC6">
                    <a:lumMod val="20000"/>
                    <a:lumOff val="80000"/>
                  </a:srgbClr>
                </a:solidFill>
              </a:rPr>
              <a:t>()['quality'].drop('quality’)</a:t>
            </a:r>
          </a:p>
          <a:p>
            <a:pPr lvl="0"/>
            <a:r>
              <a:rPr lang="en-US" sz="2400" dirty="0">
                <a:solidFill>
                  <a:srgbClr val="4BACC6">
                    <a:lumMod val="20000"/>
                    <a:lumOff val="80000"/>
                  </a:srgbClr>
                </a:solidFill>
              </a:rPr>
              <a:t>importance = </a:t>
            </a:r>
            <a:r>
              <a:rPr lang="en-US" sz="2400" dirty="0" err="1">
                <a:solidFill>
                  <a:srgbClr val="4BACC6">
                    <a:lumMod val="20000"/>
                    <a:lumOff val="80000"/>
                  </a:srgbClr>
                </a:solidFill>
              </a:rPr>
              <a:t>correlations.abs</a:t>
            </a:r>
            <a:r>
              <a:rPr lang="en-US" sz="2400" dirty="0">
                <a:solidFill>
                  <a:srgbClr val="4BACC6">
                    <a:lumMod val="20000"/>
                    <a:lumOff val="80000"/>
                  </a:srgbClr>
                </a:solidFill>
              </a:rPr>
              <a:t>()</a:t>
            </a:r>
          </a:p>
          <a:p>
            <a:pPr lvl="0"/>
            <a:r>
              <a:rPr lang="en-US" sz="2400" dirty="0" err="1">
                <a:solidFill>
                  <a:srgbClr val="4BACC6">
                    <a:lumMod val="20000"/>
                    <a:lumOff val="80000"/>
                  </a:srgbClr>
                </a:solidFill>
              </a:rPr>
              <a:t>sorted_idx</a:t>
            </a:r>
            <a:r>
              <a:rPr lang="en-US" sz="2400" dirty="0">
                <a:solidFill>
                  <a:srgbClr val="4BACC6">
                    <a:lumMod val="20000"/>
                    <a:lumOff val="80000"/>
                  </a:srgbClr>
                </a:solidFill>
              </a:rPr>
              <a:t> = </a:t>
            </a:r>
            <a:r>
              <a:rPr lang="en-US" sz="2400" dirty="0" err="1">
                <a:solidFill>
                  <a:srgbClr val="4BACC6">
                    <a:lumMod val="20000"/>
                    <a:lumOff val="80000"/>
                  </a:srgbClr>
                </a:solidFill>
              </a:rPr>
              <a:t>np.argsort</a:t>
            </a:r>
            <a:r>
              <a:rPr lang="en-US" sz="2400" dirty="0">
                <a:solidFill>
                  <a:srgbClr val="4BACC6">
                    <a:lumMod val="20000"/>
                    <a:lumOff val="80000"/>
                  </a:srgbClr>
                </a:solidFill>
              </a:rPr>
              <a:t>(</a:t>
            </a:r>
            <a:r>
              <a:rPr lang="en-US" sz="2400" dirty="0" err="1">
                <a:solidFill>
                  <a:srgbClr val="4BACC6">
                    <a:lumMod val="20000"/>
                    <a:lumOff val="80000"/>
                  </a:srgbClr>
                </a:solidFill>
              </a:rPr>
              <a:t>importance.values</a:t>
            </a:r>
            <a:r>
              <a:rPr lang="en-US" sz="2400" dirty="0">
                <a:solidFill>
                  <a:srgbClr val="4BACC6">
                    <a:lumMod val="20000"/>
                    <a:lumOff val="80000"/>
                  </a:srgbClr>
                </a:solidFill>
              </a:rPr>
              <a:t>)</a:t>
            </a:r>
          </a:p>
          <a:p>
            <a:pPr lvl="0"/>
            <a:r>
              <a:rPr lang="en-US" sz="2400" dirty="0" err="1">
                <a:solidFill>
                  <a:srgbClr val="4BACC6">
                    <a:lumMod val="20000"/>
                    <a:lumOff val="80000"/>
                  </a:srgbClr>
                </a:solidFill>
              </a:rPr>
              <a:t>sorted_features</a:t>
            </a:r>
            <a:r>
              <a:rPr lang="en-US" sz="2400" dirty="0">
                <a:solidFill>
                  <a:srgbClr val="4BACC6">
                    <a:lumMod val="20000"/>
                    <a:lumOff val="80000"/>
                  </a:srgbClr>
                </a:solidFill>
              </a:rPr>
              <a:t> = </a:t>
            </a:r>
            <a:r>
              <a:rPr lang="en-US" sz="2400" dirty="0" err="1">
                <a:solidFill>
                  <a:srgbClr val="4BACC6">
                    <a:lumMod val="20000"/>
                    <a:lumOff val="80000"/>
                  </a:srgbClr>
                </a:solidFill>
              </a:rPr>
              <a:t>importance.index</a:t>
            </a:r>
            <a:r>
              <a:rPr lang="en-US" sz="2400" dirty="0">
                <a:solidFill>
                  <a:srgbClr val="4BACC6">
                    <a:lumMod val="20000"/>
                    <a:lumOff val="80000"/>
                  </a:srgbClr>
                </a:solidFill>
              </a:rPr>
              <a:t>[</a:t>
            </a:r>
            <a:r>
              <a:rPr lang="en-US" sz="2400" dirty="0" err="1">
                <a:solidFill>
                  <a:srgbClr val="4BACC6">
                    <a:lumMod val="20000"/>
                    <a:lumOff val="80000"/>
                  </a:srgbClr>
                </a:solidFill>
              </a:rPr>
              <a:t>sorted_idx</a:t>
            </a:r>
            <a:r>
              <a:rPr lang="en-US" sz="2400" dirty="0">
                <a:solidFill>
                  <a:srgbClr val="4BACC6">
                    <a:lumMod val="20000"/>
                    <a:lumOff val="80000"/>
                  </a:srgbClr>
                </a:solidFill>
              </a:rPr>
              <a:t>]</a:t>
            </a:r>
          </a:p>
          <a:p>
            <a:pPr lvl="0"/>
            <a:r>
              <a:rPr lang="en-US" sz="2400" dirty="0" err="1">
                <a:solidFill>
                  <a:srgbClr val="4BACC6">
                    <a:lumMod val="20000"/>
                    <a:lumOff val="80000"/>
                  </a:srgbClr>
                </a:solidFill>
              </a:rPr>
              <a:t>sorted_importances</a:t>
            </a:r>
            <a:r>
              <a:rPr lang="en-US" sz="2400" dirty="0">
                <a:solidFill>
                  <a:srgbClr val="4BACC6">
                    <a:lumMod val="20000"/>
                    <a:lumOff val="80000"/>
                  </a:srgbClr>
                </a:solidFill>
              </a:rPr>
              <a:t> = </a:t>
            </a:r>
            <a:r>
              <a:rPr lang="en-US" sz="2400" dirty="0" err="1">
                <a:solidFill>
                  <a:srgbClr val="4BACC6">
                    <a:lumMod val="20000"/>
                    <a:lumOff val="80000"/>
                  </a:srgbClr>
                </a:solidFill>
              </a:rPr>
              <a:t>importance.values</a:t>
            </a:r>
            <a:r>
              <a:rPr lang="en-US" sz="2400" dirty="0">
                <a:solidFill>
                  <a:srgbClr val="4BACC6">
                    <a:lumMod val="20000"/>
                    <a:lumOff val="80000"/>
                  </a:srgbClr>
                </a:solidFill>
              </a:rPr>
              <a:t>[</a:t>
            </a:r>
            <a:r>
              <a:rPr lang="en-US" sz="2400" dirty="0" err="1">
                <a:solidFill>
                  <a:srgbClr val="4BACC6">
                    <a:lumMod val="20000"/>
                    <a:lumOff val="80000"/>
                  </a:srgbClr>
                </a:solidFill>
              </a:rPr>
              <a:t>sorted_idx</a:t>
            </a:r>
            <a:r>
              <a:rPr lang="en-US" sz="2400" dirty="0">
                <a:solidFill>
                  <a:srgbClr val="4BACC6">
                    <a:lumMod val="20000"/>
                    <a:lumOff val="80000"/>
                  </a:srgbClr>
                </a:solidFill>
              </a:rPr>
              <a:t>]</a:t>
            </a:r>
          </a:p>
          <a:p>
            <a:pPr lvl="0"/>
            <a:r>
              <a:rPr lang="en-US" sz="2400" dirty="0">
                <a:solidFill>
                  <a:srgbClr val="4BACC6">
                    <a:lumMod val="20000"/>
                    <a:lumOff val="80000"/>
                  </a:srgbClr>
                </a:solidFill>
              </a:rPr>
              <a:t>colors = </a:t>
            </a:r>
            <a:r>
              <a:rPr lang="en-US" sz="2400" dirty="0" err="1">
                <a:solidFill>
                  <a:srgbClr val="4BACC6">
                    <a:lumMod val="20000"/>
                    <a:lumOff val="80000"/>
                  </a:srgbClr>
                </a:solidFill>
              </a:rPr>
              <a:t>plt.cm.YlGn</a:t>
            </a:r>
            <a:r>
              <a:rPr lang="en-US" sz="2400" dirty="0">
                <a:solidFill>
                  <a:srgbClr val="4BACC6">
                    <a:lumMod val="20000"/>
                    <a:lumOff val="80000"/>
                  </a:srgbClr>
                </a:solidFill>
              </a:rPr>
              <a:t>(</a:t>
            </a:r>
            <a:r>
              <a:rPr lang="en-US" sz="2400" dirty="0" err="1">
                <a:solidFill>
                  <a:srgbClr val="4BACC6">
                    <a:lumMod val="20000"/>
                    <a:lumOff val="80000"/>
                  </a:srgbClr>
                </a:solidFill>
              </a:rPr>
              <a:t>sorted_importances</a:t>
            </a:r>
            <a:r>
              <a:rPr lang="en-US" sz="2400" dirty="0">
                <a:solidFill>
                  <a:srgbClr val="4BACC6">
                    <a:lumMod val="20000"/>
                    <a:lumOff val="80000"/>
                  </a:srgbClr>
                </a:solidFill>
              </a:rPr>
              <a:t> / max(</a:t>
            </a:r>
            <a:r>
              <a:rPr lang="en-US" sz="2400" dirty="0" err="1">
                <a:solidFill>
                  <a:srgbClr val="4BACC6">
                    <a:lumMod val="20000"/>
                    <a:lumOff val="80000"/>
                  </a:srgbClr>
                </a:solidFill>
              </a:rPr>
              <a:t>sorted_importances</a:t>
            </a:r>
            <a:r>
              <a:rPr lang="en-US" sz="2400" dirty="0">
                <a:solidFill>
                  <a:srgbClr val="4BACC6">
                    <a:lumMod val="20000"/>
                    <a:lumOff val="80000"/>
                  </a:srgbClr>
                </a:solidFill>
              </a:rPr>
              <a:t>))</a:t>
            </a:r>
          </a:p>
          <a:p>
            <a:pPr lvl="0"/>
            <a:r>
              <a:rPr lang="en-US" sz="2400" dirty="0" err="1">
                <a:solidFill>
                  <a:srgbClr val="4BACC6">
                    <a:lumMod val="20000"/>
                    <a:lumOff val="80000"/>
                  </a:srgbClr>
                </a:solidFill>
              </a:rPr>
              <a:t>plt.figure</a:t>
            </a:r>
            <a:r>
              <a:rPr lang="en-US" sz="2400" dirty="0">
                <a:solidFill>
                  <a:srgbClr val="4BACC6">
                    <a:lumMod val="20000"/>
                    <a:lumOff val="80000"/>
                  </a:srgbClr>
                </a:solidFill>
              </a:rPr>
              <a:t>(</a:t>
            </a:r>
            <a:r>
              <a:rPr lang="en-US" sz="2400" dirty="0" err="1">
                <a:solidFill>
                  <a:srgbClr val="4BACC6">
                    <a:lumMod val="20000"/>
                    <a:lumOff val="80000"/>
                  </a:srgbClr>
                </a:solidFill>
              </a:rPr>
              <a:t>figsize</a:t>
            </a:r>
            <a:r>
              <a:rPr lang="en-US" sz="2400" dirty="0">
                <a:solidFill>
                  <a:srgbClr val="4BACC6">
                    <a:lumMod val="20000"/>
                    <a:lumOff val="80000"/>
                  </a:srgbClr>
                </a:solidFill>
              </a:rPr>
              <a:t>=(7,5))</a:t>
            </a:r>
          </a:p>
          <a:p>
            <a:pPr lvl="0"/>
            <a:r>
              <a:rPr lang="en-US" sz="2400" dirty="0" err="1">
                <a:solidFill>
                  <a:srgbClr val="4BACC6">
                    <a:lumMod val="20000"/>
                    <a:lumOff val="80000"/>
                  </a:srgbClr>
                </a:solidFill>
              </a:rPr>
              <a:t>plt.barh</a:t>
            </a:r>
            <a:r>
              <a:rPr lang="en-US" sz="2400" dirty="0">
                <a:solidFill>
                  <a:srgbClr val="4BACC6">
                    <a:lumMod val="20000"/>
                    <a:lumOff val="80000"/>
                  </a:srgbClr>
                </a:solidFill>
              </a:rPr>
              <a:t>(</a:t>
            </a:r>
            <a:r>
              <a:rPr lang="en-US" sz="2400" dirty="0" err="1">
                <a:solidFill>
                  <a:srgbClr val="4BACC6">
                    <a:lumMod val="20000"/>
                    <a:lumOff val="80000"/>
                  </a:srgbClr>
                </a:solidFill>
              </a:rPr>
              <a:t>sorted_features</a:t>
            </a:r>
            <a:r>
              <a:rPr lang="en-US" sz="2400" dirty="0">
                <a:solidFill>
                  <a:srgbClr val="4BACC6">
                    <a:lumMod val="20000"/>
                    <a:lumOff val="80000"/>
                  </a:srgbClr>
                </a:solidFill>
              </a:rPr>
              <a:t>, </a:t>
            </a:r>
            <a:r>
              <a:rPr lang="en-US" sz="2400" dirty="0" err="1">
                <a:solidFill>
                  <a:srgbClr val="4BACC6">
                    <a:lumMod val="20000"/>
                    <a:lumOff val="80000"/>
                  </a:srgbClr>
                </a:solidFill>
              </a:rPr>
              <a:t>sorted_importances</a:t>
            </a:r>
            <a:r>
              <a:rPr lang="en-US" sz="2400" dirty="0">
                <a:solidFill>
                  <a:srgbClr val="4BACC6">
                    <a:lumMod val="20000"/>
                    <a:lumOff val="80000"/>
                  </a:srgbClr>
                </a:solidFill>
              </a:rPr>
              <a:t>, color=colors)</a:t>
            </a:r>
          </a:p>
          <a:p>
            <a:pPr lvl="0"/>
            <a:r>
              <a:rPr lang="en-US" sz="2400" dirty="0" err="1">
                <a:solidFill>
                  <a:srgbClr val="4BACC6">
                    <a:lumMod val="20000"/>
                    <a:lumOff val="80000"/>
                  </a:srgbClr>
                </a:solidFill>
              </a:rPr>
              <a:t>plt.xlabel</a:t>
            </a:r>
            <a:r>
              <a:rPr lang="en-US" sz="2400" dirty="0">
                <a:solidFill>
                  <a:srgbClr val="4BACC6">
                    <a:lumMod val="20000"/>
                    <a:lumOff val="80000"/>
                  </a:srgbClr>
                </a:solidFill>
              </a:rPr>
              <a:t>("Correlation")</a:t>
            </a:r>
          </a:p>
          <a:p>
            <a:pPr lvl="0"/>
            <a:r>
              <a:rPr lang="en-US" sz="2400" dirty="0" err="1">
                <a:solidFill>
                  <a:srgbClr val="4BACC6">
                    <a:lumMod val="20000"/>
                    <a:lumOff val="80000"/>
                  </a:srgbClr>
                </a:solidFill>
              </a:rPr>
              <a:t>plt.ylabel</a:t>
            </a:r>
            <a:r>
              <a:rPr lang="en-US" sz="2400" dirty="0">
                <a:solidFill>
                  <a:srgbClr val="4BACC6">
                    <a:lumMod val="20000"/>
                    <a:lumOff val="80000"/>
                  </a:srgbClr>
                </a:solidFill>
              </a:rPr>
              <a:t>("Features")</a:t>
            </a:r>
          </a:p>
          <a:p>
            <a:pPr lvl="0"/>
            <a:r>
              <a:rPr lang="en-US" sz="2400" dirty="0" err="1">
                <a:solidFill>
                  <a:srgbClr val="4BACC6">
                    <a:lumMod val="20000"/>
                    <a:lumOff val="80000"/>
                  </a:srgbClr>
                </a:solidFill>
              </a:rPr>
              <a:t>plt.title</a:t>
            </a:r>
            <a:r>
              <a:rPr lang="en-US" sz="2400" dirty="0">
                <a:solidFill>
                  <a:srgbClr val="4BACC6">
                    <a:lumMod val="20000"/>
                    <a:lumOff val="80000"/>
                  </a:srgbClr>
                </a:solidFill>
              </a:rPr>
              <a:t>("Feature Importances (Correlation-Based)")</a:t>
            </a:r>
          </a:p>
          <a:p>
            <a:pPr lvl="0"/>
            <a:r>
              <a:rPr lang="en-US" sz="2400" dirty="0" err="1">
                <a:solidFill>
                  <a:srgbClr val="4BACC6">
                    <a:lumMod val="20000"/>
                    <a:lumOff val="80000"/>
                  </a:srgbClr>
                </a:solidFill>
              </a:rPr>
              <a:t>plt.tight_layout</a:t>
            </a:r>
            <a:r>
              <a:rPr lang="en-US" sz="2400" dirty="0">
                <a:solidFill>
                  <a:srgbClr val="4BACC6">
                    <a:lumMod val="20000"/>
                    <a:lumOff val="80000"/>
                  </a:srgbClr>
                </a:solidFill>
              </a:rPr>
              <a:t>()</a:t>
            </a:r>
            <a:r>
              <a:rPr lang="en-US" sz="2400" dirty="0" err="1">
                <a:solidFill>
                  <a:srgbClr val="4BACC6">
                    <a:lumMod val="20000"/>
                    <a:lumOff val="80000"/>
                  </a:srgbClr>
                </a:solidFill>
              </a:rPr>
              <a:t>plt.show</a:t>
            </a:r>
            <a:r>
              <a:rPr lang="en-US" sz="2400" dirty="0">
                <a:solidFill>
                  <a:srgbClr val="4BACC6">
                    <a:lumMod val="20000"/>
                    <a:lumOff val="80000"/>
                  </a:srgbClr>
                </a:solidFill>
              </a:rPr>
              <a:t>()</a:t>
            </a:r>
            <a:endParaRPr kumimoji="0" lang="en-IN" sz="2400" b="0" i="0" u="none" strike="noStrike" kern="1200" cap="none" spc="0" normalizeH="0" baseline="0" noProof="0" dirty="0">
              <a:ln>
                <a:noFill/>
              </a:ln>
              <a:solidFill>
                <a:srgbClr val="4BACC6">
                  <a:lumMod val="20000"/>
                  <a:lumOff val="80000"/>
                </a:srgbClr>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23881D0F-3BF3-A5CA-FEC9-E44FFA6BD32F}"/>
              </a:ext>
            </a:extLst>
          </p:cNvPr>
          <p:cNvPicPr>
            <a:picLocks noChangeAspect="1"/>
          </p:cNvPicPr>
          <p:nvPr/>
        </p:nvPicPr>
        <p:blipFill>
          <a:blip r:embed="rId4"/>
          <a:stretch>
            <a:fillRect/>
          </a:stretch>
        </p:blipFill>
        <p:spPr>
          <a:xfrm>
            <a:off x="228600" y="1992904"/>
            <a:ext cx="8018849" cy="6301191"/>
          </a:xfrm>
          <a:prstGeom prst="rect">
            <a:avLst/>
          </a:prstGeom>
        </p:spPr>
      </p:pic>
    </p:spTree>
    <p:extLst>
      <p:ext uri="{BB962C8B-B14F-4D97-AF65-F5344CB8AC3E}">
        <p14:creationId xmlns:p14="http://schemas.microsoft.com/office/powerpoint/2010/main" val="3375713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32A64">
                <a:alpha val="100000"/>
              </a:srgbClr>
            </a:gs>
            <a:gs pos="100000">
              <a:srgbClr val="414C94">
                <a:alpha val="100000"/>
              </a:srgbClr>
            </a:gs>
          </a:gsLst>
          <a:lin ang="0"/>
        </a:gradFill>
        <a:effectLst/>
      </p:bgPr>
    </p:bg>
    <p:spTree>
      <p:nvGrpSpPr>
        <p:cNvPr id="1" name="">
          <a:extLst>
            <a:ext uri="{FF2B5EF4-FFF2-40B4-BE49-F238E27FC236}">
              <a16:creationId xmlns:a16="http://schemas.microsoft.com/office/drawing/2014/main" id="{EFEDEE7C-A00E-9094-61B8-3E611643E66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506E62F-BB53-BC4D-AF22-9B7CDE2682CD}"/>
              </a:ext>
            </a:extLst>
          </p:cNvPr>
          <p:cNvSpPr/>
          <p:nvPr/>
        </p:nvSpPr>
        <p:spPr>
          <a:xfrm rot="1572293">
            <a:off x="-5945837" y="6603489"/>
            <a:ext cx="19149891" cy="6989710"/>
          </a:xfrm>
          <a:custGeom>
            <a:avLst/>
            <a:gdLst/>
            <a:ahLst/>
            <a:cxnLst/>
            <a:rect l="l" t="t" r="r" b="b"/>
            <a:pathLst>
              <a:path w="19149891" h="6989710">
                <a:moveTo>
                  <a:pt x="0" y="0"/>
                </a:moveTo>
                <a:lnTo>
                  <a:pt x="19149891" y="0"/>
                </a:lnTo>
                <a:lnTo>
                  <a:pt x="19149891" y="6989710"/>
                </a:lnTo>
                <a:lnTo>
                  <a:pt x="0" y="6989710"/>
                </a:lnTo>
                <a:lnTo>
                  <a:pt x="0" y="0"/>
                </a:lnTo>
                <a:close/>
              </a:path>
            </a:pathLst>
          </a:custGeom>
          <a:blipFill>
            <a:blip r:embed="rId3">
              <a:alphaModFix amt="80000"/>
            </a:blip>
            <a:stretch>
              <a:fillRect/>
            </a:stretch>
          </a:blipFill>
        </p:spPr>
      </p:sp>
      <p:sp>
        <p:nvSpPr>
          <p:cNvPr id="5" name="Freeform 5">
            <a:extLst>
              <a:ext uri="{FF2B5EF4-FFF2-40B4-BE49-F238E27FC236}">
                <a16:creationId xmlns:a16="http://schemas.microsoft.com/office/drawing/2014/main" id="{7FB1EAB9-70F4-8A34-026A-609306C1D952}"/>
              </a:ext>
            </a:extLst>
          </p:cNvPr>
          <p:cNvSpPr/>
          <p:nvPr/>
        </p:nvSpPr>
        <p:spPr>
          <a:xfrm rot="1572293" flipV="1">
            <a:off x="9855560" y="-2714544"/>
            <a:ext cx="19149891" cy="6989710"/>
          </a:xfrm>
          <a:custGeom>
            <a:avLst/>
            <a:gdLst/>
            <a:ahLst/>
            <a:cxnLst/>
            <a:rect l="l" t="t" r="r" b="b"/>
            <a:pathLst>
              <a:path w="19149891" h="6989710">
                <a:moveTo>
                  <a:pt x="0" y="6989710"/>
                </a:moveTo>
                <a:lnTo>
                  <a:pt x="19149891" y="6989710"/>
                </a:lnTo>
                <a:lnTo>
                  <a:pt x="19149891" y="0"/>
                </a:lnTo>
                <a:lnTo>
                  <a:pt x="0" y="0"/>
                </a:lnTo>
                <a:lnTo>
                  <a:pt x="0" y="6989710"/>
                </a:lnTo>
                <a:close/>
              </a:path>
            </a:pathLst>
          </a:custGeom>
          <a:blipFill>
            <a:blip r:embed="rId3">
              <a:alphaModFix amt="80000"/>
            </a:blip>
            <a:stretch>
              <a:fillRect/>
            </a:stretch>
          </a:blipFill>
        </p:spPr>
      </p:sp>
      <p:sp>
        <p:nvSpPr>
          <p:cNvPr id="13" name="TextBox 13">
            <a:extLst>
              <a:ext uri="{FF2B5EF4-FFF2-40B4-BE49-F238E27FC236}">
                <a16:creationId xmlns:a16="http://schemas.microsoft.com/office/drawing/2014/main" id="{34CE2DDC-700C-B0BC-0DE1-BA758C4FD349}"/>
              </a:ext>
            </a:extLst>
          </p:cNvPr>
          <p:cNvSpPr txBox="1"/>
          <p:nvPr/>
        </p:nvSpPr>
        <p:spPr>
          <a:xfrm>
            <a:off x="3748053" y="329511"/>
            <a:ext cx="15682452" cy="969176"/>
          </a:xfrm>
          <a:prstGeom prst="rect">
            <a:avLst/>
          </a:prstGeom>
        </p:spPr>
        <p:txBody>
          <a:bodyPr wrap="square" lIns="0" tIns="0" rIns="0" bIns="0" rtlCol="0" anchor="t">
            <a:spAutoFit/>
          </a:bodyPr>
          <a:lstStyle/>
          <a:p>
            <a:pPr marL="0" marR="0" lvl="0" indent="0" algn="l" defTabSz="914400" rtl="0" eaLnBrk="1" fontAlgn="auto" latinLnBrk="0" hangingPunct="1">
              <a:lnSpc>
                <a:spcPts val="8143"/>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solidFill>
                <a:effectLst/>
                <a:uLnTx/>
                <a:uFillTx/>
                <a:latin typeface="Montserrat Semi-Bold"/>
                <a:ea typeface="Montserrat Semi-Bold"/>
                <a:cs typeface="Montserrat Semi-Bold"/>
                <a:sym typeface="Montserrat Semi-Bold"/>
              </a:rPr>
              <a:t>	WINE QUALITY </a:t>
            </a:r>
            <a:r>
              <a:rPr kumimoji="0" lang="en-US" sz="6000" b="1" i="0" u="none" strike="noStrike" kern="1200" cap="none" spc="0" normalizeH="0" baseline="0" noProof="0" dirty="0">
                <a:ln>
                  <a:noFill/>
                </a:ln>
                <a:solidFill>
                  <a:srgbClr val="72F1FE"/>
                </a:solidFill>
                <a:effectLst/>
                <a:uLnTx/>
                <a:uFillTx/>
                <a:latin typeface="Montserrat Semi-Bold"/>
                <a:ea typeface="Montserrat Semi-Bold"/>
                <a:cs typeface="Montserrat Semi-Bold"/>
                <a:sym typeface="Montserrat Semi-Bold"/>
              </a:rPr>
              <a:t>Dataset</a:t>
            </a:r>
          </a:p>
        </p:txBody>
      </p:sp>
      <p:sp>
        <p:nvSpPr>
          <p:cNvPr id="15" name="TextBox 15">
            <a:extLst>
              <a:ext uri="{FF2B5EF4-FFF2-40B4-BE49-F238E27FC236}">
                <a16:creationId xmlns:a16="http://schemas.microsoft.com/office/drawing/2014/main" id="{86375B46-1B49-44D8-58FE-0B82270EF0A0}"/>
              </a:ext>
            </a:extLst>
          </p:cNvPr>
          <p:cNvSpPr txBox="1"/>
          <p:nvPr/>
        </p:nvSpPr>
        <p:spPr>
          <a:xfrm>
            <a:off x="626486" y="583142"/>
            <a:ext cx="1074675" cy="394339"/>
          </a:xfrm>
          <a:prstGeom prst="rect">
            <a:avLst/>
          </a:prstGeom>
        </p:spPr>
        <p:txBody>
          <a:bodyPr lIns="0" tIns="0" rIns="0" bIns="0" rtlCol="0" anchor="t">
            <a:spAutoFit/>
          </a:bodyPr>
          <a:lstStyle/>
          <a:p>
            <a:pPr marL="0" marR="0" lvl="0" indent="0" algn="l" defTabSz="914400" rtl="0" eaLnBrk="1" fontAlgn="auto" latinLnBrk="0" hangingPunct="1">
              <a:lnSpc>
                <a:spcPts val="4057"/>
              </a:lnSpc>
              <a:spcBef>
                <a:spcPts val="0"/>
              </a:spcBef>
              <a:spcAft>
                <a:spcPts val="0"/>
              </a:spcAft>
              <a:buClrTx/>
              <a:buSzTx/>
              <a:buFontTx/>
              <a:buNone/>
              <a:tabLst/>
              <a:defRPr/>
            </a:pPr>
            <a:r>
              <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rPr>
              <a:t>0</a:t>
            </a:r>
            <a:r>
              <a:rPr lang="en-US" sz="3145" dirty="0">
                <a:solidFill>
                  <a:srgbClr val="FFFFFF"/>
                </a:solidFill>
                <a:latin typeface="Mokoto"/>
                <a:ea typeface="Mokoto"/>
                <a:cs typeface="Mokoto"/>
                <a:sym typeface="Mokoto"/>
              </a:rPr>
              <a:t>5</a:t>
            </a:r>
            <a:endPar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endParaRPr>
          </a:p>
        </p:txBody>
      </p:sp>
      <p:pic>
        <p:nvPicPr>
          <p:cNvPr id="12" name="Picture 11">
            <a:extLst>
              <a:ext uri="{FF2B5EF4-FFF2-40B4-BE49-F238E27FC236}">
                <a16:creationId xmlns:a16="http://schemas.microsoft.com/office/drawing/2014/main" id="{36B0DAC4-9F55-9ED3-EE28-49C72B5D8CAA}"/>
              </a:ext>
            </a:extLst>
          </p:cNvPr>
          <p:cNvPicPr>
            <a:picLocks noChangeAspect="1"/>
          </p:cNvPicPr>
          <p:nvPr/>
        </p:nvPicPr>
        <p:blipFill>
          <a:blip r:embed="rId4"/>
          <a:stretch>
            <a:fillRect/>
          </a:stretch>
        </p:blipFill>
        <p:spPr>
          <a:xfrm>
            <a:off x="626486" y="1515288"/>
            <a:ext cx="12937114" cy="6553200"/>
          </a:xfrm>
          <a:prstGeom prst="rect">
            <a:avLst/>
          </a:prstGeom>
        </p:spPr>
      </p:pic>
      <p:sp>
        <p:nvSpPr>
          <p:cNvPr id="3" name="TextBox 2">
            <a:extLst>
              <a:ext uri="{FF2B5EF4-FFF2-40B4-BE49-F238E27FC236}">
                <a16:creationId xmlns:a16="http://schemas.microsoft.com/office/drawing/2014/main" id="{B3DBCCCD-324A-77BF-6EED-3B29439B3627}"/>
              </a:ext>
            </a:extLst>
          </p:cNvPr>
          <p:cNvSpPr txBox="1"/>
          <p:nvPr/>
        </p:nvSpPr>
        <p:spPr>
          <a:xfrm>
            <a:off x="13889322" y="5143500"/>
            <a:ext cx="4325483" cy="4524315"/>
          </a:xfrm>
          <a:prstGeom prst="rect">
            <a:avLst/>
          </a:prstGeom>
          <a:noFill/>
        </p:spPr>
        <p:txBody>
          <a:bodyPr wrap="square" rtlCol="0">
            <a:spAutoFit/>
          </a:bodyPr>
          <a:lstStyle/>
          <a:p>
            <a:r>
              <a:rPr lang="en-US" sz="3200" dirty="0">
                <a:solidFill>
                  <a:schemeClr val="accent5">
                    <a:lumMod val="20000"/>
                    <a:lumOff val="80000"/>
                  </a:schemeClr>
                </a:solidFill>
              </a:rPr>
              <a:t>The extreme values seen </a:t>
            </a:r>
          </a:p>
          <a:p>
            <a:r>
              <a:rPr lang="en-US" sz="3200" dirty="0">
                <a:solidFill>
                  <a:schemeClr val="accent5">
                    <a:lumMod val="20000"/>
                    <a:lumOff val="80000"/>
                  </a:schemeClr>
                </a:solidFill>
              </a:rPr>
              <a:t>in the box plot are not outliers, but represent natural chemical variations in wine, removing this will   worsen the class imbalance and model’s ability to generalize.</a:t>
            </a:r>
            <a:endParaRPr lang="en-IN" sz="3200" dirty="0">
              <a:solidFill>
                <a:schemeClr val="accent5">
                  <a:lumMod val="20000"/>
                  <a:lumOff val="80000"/>
                </a:schemeClr>
              </a:solidFill>
            </a:endParaRPr>
          </a:p>
        </p:txBody>
      </p:sp>
      <p:sp>
        <p:nvSpPr>
          <p:cNvPr id="6" name="TextBox 5">
            <a:extLst>
              <a:ext uri="{FF2B5EF4-FFF2-40B4-BE49-F238E27FC236}">
                <a16:creationId xmlns:a16="http://schemas.microsoft.com/office/drawing/2014/main" id="{4D2F654F-785E-76CA-2029-E6E7B894937F}"/>
              </a:ext>
            </a:extLst>
          </p:cNvPr>
          <p:cNvSpPr txBox="1"/>
          <p:nvPr/>
        </p:nvSpPr>
        <p:spPr>
          <a:xfrm>
            <a:off x="13733917" y="1323525"/>
            <a:ext cx="4480888" cy="3477875"/>
          </a:xfrm>
          <a:prstGeom prst="rect">
            <a:avLst/>
          </a:prstGeom>
          <a:noFill/>
        </p:spPr>
        <p:txBody>
          <a:bodyPr wrap="square">
            <a:spAutoFit/>
          </a:bodyPr>
          <a:lstStyle/>
          <a:p>
            <a:r>
              <a:rPr lang="en-IN" sz="2000" b="1" dirty="0">
                <a:solidFill>
                  <a:schemeClr val="accent5">
                    <a:lumMod val="20000"/>
                    <a:lumOff val="80000"/>
                  </a:schemeClr>
                </a:solidFill>
              </a:rPr>
              <a:t># Box Plot to detect outliers</a:t>
            </a:r>
          </a:p>
          <a:p>
            <a:r>
              <a:rPr lang="en-IN" sz="2000" b="1" dirty="0" err="1">
                <a:solidFill>
                  <a:schemeClr val="accent5">
                    <a:lumMod val="20000"/>
                    <a:lumOff val="80000"/>
                  </a:schemeClr>
                </a:solidFill>
              </a:rPr>
              <a:t>numeric_cols</a:t>
            </a:r>
            <a:r>
              <a:rPr lang="en-IN" sz="2000" b="1" dirty="0">
                <a:solidFill>
                  <a:schemeClr val="accent5">
                    <a:lumMod val="20000"/>
                    <a:lumOff val="80000"/>
                  </a:schemeClr>
                </a:solidFill>
              </a:rPr>
              <a:t> = </a:t>
            </a:r>
            <a:r>
              <a:rPr lang="en-IN" sz="2000" b="1" dirty="0" err="1">
                <a:solidFill>
                  <a:schemeClr val="accent5">
                    <a:lumMod val="20000"/>
                    <a:lumOff val="80000"/>
                  </a:schemeClr>
                </a:solidFill>
              </a:rPr>
              <a:t>df.select_dtypes</a:t>
            </a:r>
            <a:r>
              <a:rPr lang="en-IN" sz="2000" b="1" dirty="0">
                <a:solidFill>
                  <a:schemeClr val="accent5">
                    <a:lumMod val="20000"/>
                    <a:lumOff val="80000"/>
                  </a:schemeClr>
                </a:solidFill>
              </a:rPr>
              <a:t>(include='float64').</a:t>
            </a:r>
            <a:r>
              <a:rPr lang="en-IN" sz="2000" b="1" dirty="0" err="1">
                <a:solidFill>
                  <a:schemeClr val="accent5">
                    <a:lumMod val="20000"/>
                    <a:lumOff val="80000"/>
                  </a:schemeClr>
                </a:solidFill>
              </a:rPr>
              <a:t>columnsplt.figure</a:t>
            </a:r>
            <a:r>
              <a:rPr lang="en-IN" sz="2000" b="1" dirty="0">
                <a:solidFill>
                  <a:schemeClr val="accent5">
                    <a:lumMod val="20000"/>
                    <a:lumOff val="80000"/>
                  </a:schemeClr>
                </a:solidFill>
              </a:rPr>
              <a:t>(</a:t>
            </a:r>
            <a:r>
              <a:rPr lang="en-IN" sz="2000" b="1" dirty="0" err="1">
                <a:solidFill>
                  <a:schemeClr val="accent5">
                    <a:lumMod val="20000"/>
                    <a:lumOff val="80000"/>
                  </a:schemeClr>
                </a:solidFill>
              </a:rPr>
              <a:t>figsize</a:t>
            </a:r>
            <a:r>
              <a:rPr lang="en-IN" sz="2000" b="1" dirty="0">
                <a:solidFill>
                  <a:schemeClr val="accent5">
                    <a:lumMod val="20000"/>
                    <a:lumOff val="80000"/>
                  </a:schemeClr>
                </a:solidFill>
              </a:rPr>
              <a:t>=(25, 12))  </a:t>
            </a:r>
          </a:p>
          <a:p>
            <a:r>
              <a:rPr lang="en-IN" sz="2000" b="1" dirty="0">
                <a:solidFill>
                  <a:schemeClr val="accent5">
                    <a:lumMod val="20000"/>
                    <a:lumOff val="80000"/>
                  </a:schemeClr>
                </a:solidFill>
              </a:rPr>
              <a:t>for </a:t>
            </a:r>
            <a:r>
              <a:rPr lang="en-IN" sz="2000" b="1" dirty="0" err="1">
                <a:solidFill>
                  <a:schemeClr val="accent5">
                    <a:lumMod val="20000"/>
                    <a:lumOff val="80000"/>
                  </a:schemeClr>
                </a:solidFill>
              </a:rPr>
              <a:t>i</a:t>
            </a:r>
            <a:r>
              <a:rPr lang="en-IN" sz="2000" b="1" dirty="0">
                <a:solidFill>
                  <a:schemeClr val="accent5">
                    <a:lumMod val="20000"/>
                    <a:lumOff val="80000"/>
                  </a:schemeClr>
                </a:solidFill>
              </a:rPr>
              <a:t>, col in enumerate(</a:t>
            </a:r>
            <a:r>
              <a:rPr lang="en-IN" sz="2000" b="1" dirty="0" err="1">
                <a:solidFill>
                  <a:schemeClr val="accent5">
                    <a:lumMod val="20000"/>
                    <a:lumOff val="80000"/>
                  </a:schemeClr>
                </a:solidFill>
              </a:rPr>
              <a:t>numeric_cols</a:t>
            </a:r>
            <a:r>
              <a:rPr lang="en-IN" sz="2000" b="1" dirty="0">
                <a:solidFill>
                  <a:schemeClr val="accent5">
                    <a:lumMod val="20000"/>
                    <a:lumOff val="80000"/>
                  </a:schemeClr>
                </a:solidFill>
              </a:rPr>
              <a:t>, 1):        	</a:t>
            </a:r>
            <a:r>
              <a:rPr lang="en-IN" sz="2000" b="1" dirty="0" err="1">
                <a:solidFill>
                  <a:schemeClr val="accent5">
                    <a:lumMod val="20000"/>
                    <a:lumOff val="80000"/>
                  </a:schemeClr>
                </a:solidFill>
              </a:rPr>
              <a:t>plt.subplot</a:t>
            </a:r>
            <a:r>
              <a:rPr lang="en-IN" sz="2000" b="1" dirty="0">
                <a:solidFill>
                  <a:schemeClr val="accent5">
                    <a:lumMod val="20000"/>
                    <a:lumOff val="80000"/>
                  </a:schemeClr>
                </a:solidFill>
              </a:rPr>
              <a:t>(3, 4, </a:t>
            </a:r>
            <a:r>
              <a:rPr lang="en-IN" sz="2000" b="1" dirty="0" err="1">
                <a:solidFill>
                  <a:schemeClr val="accent5">
                    <a:lumMod val="20000"/>
                    <a:lumOff val="80000"/>
                  </a:schemeClr>
                </a:solidFill>
              </a:rPr>
              <a:t>i</a:t>
            </a:r>
            <a:r>
              <a:rPr lang="en-IN" sz="2000" b="1" dirty="0">
                <a:solidFill>
                  <a:schemeClr val="accent5">
                    <a:lumMod val="20000"/>
                    <a:lumOff val="80000"/>
                  </a:schemeClr>
                </a:solidFill>
              </a:rPr>
              <a:t>)    </a:t>
            </a:r>
          </a:p>
          <a:p>
            <a:pPr lvl="1"/>
            <a:r>
              <a:rPr lang="en-IN" sz="2000" b="1" dirty="0">
                <a:solidFill>
                  <a:schemeClr val="accent5">
                    <a:lumMod val="20000"/>
                    <a:lumOff val="80000"/>
                  </a:schemeClr>
                </a:solidFill>
              </a:rPr>
              <a:t>        </a:t>
            </a:r>
            <a:r>
              <a:rPr lang="en-IN" sz="2000" b="1" dirty="0" err="1">
                <a:solidFill>
                  <a:schemeClr val="accent5">
                    <a:lumMod val="20000"/>
                    <a:lumOff val="80000"/>
                  </a:schemeClr>
                </a:solidFill>
              </a:rPr>
              <a:t>sns.boxplot</a:t>
            </a:r>
            <a:r>
              <a:rPr lang="en-IN" sz="2000" b="1" dirty="0">
                <a:solidFill>
                  <a:schemeClr val="accent5">
                    <a:lumMod val="20000"/>
                    <a:lumOff val="80000"/>
                  </a:schemeClr>
                </a:solidFill>
              </a:rPr>
              <a:t>(x=</a:t>
            </a:r>
            <a:r>
              <a:rPr lang="en-IN" sz="2000" b="1" dirty="0" err="1">
                <a:solidFill>
                  <a:schemeClr val="accent5">
                    <a:lumMod val="20000"/>
                    <a:lumOff val="80000"/>
                  </a:schemeClr>
                </a:solidFill>
              </a:rPr>
              <a:t>df</a:t>
            </a:r>
            <a:r>
              <a:rPr lang="en-IN" sz="2000" b="1" dirty="0">
                <a:solidFill>
                  <a:schemeClr val="accent5">
                    <a:lumMod val="20000"/>
                    <a:lumOff val="80000"/>
                  </a:schemeClr>
                </a:solidFill>
              </a:rPr>
              <a:t>[col])         </a:t>
            </a:r>
          </a:p>
          <a:p>
            <a:pPr lvl="1"/>
            <a:r>
              <a:rPr lang="en-IN" sz="2000" b="1" dirty="0">
                <a:solidFill>
                  <a:schemeClr val="accent5">
                    <a:lumMod val="20000"/>
                    <a:lumOff val="80000"/>
                  </a:schemeClr>
                </a:solidFill>
              </a:rPr>
              <a:t>        </a:t>
            </a:r>
            <a:r>
              <a:rPr lang="en-IN" sz="2000" b="1" dirty="0" err="1">
                <a:solidFill>
                  <a:schemeClr val="accent5">
                    <a:lumMod val="20000"/>
                    <a:lumOff val="80000"/>
                  </a:schemeClr>
                </a:solidFill>
              </a:rPr>
              <a:t>plt.title</a:t>
            </a:r>
            <a:r>
              <a:rPr lang="en-IN" sz="2000" b="1" dirty="0">
                <a:solidFill>
                  <a:schemeClr val="accent5">
                    <a:lumMod val="20000"/>
                    <a:lumOff val="80000"/>
                  </a:schemeClr>
                </a:solidFill>
              </a:rPr>
              <a:t>(</a:t>
            </a:r>
            <a:r>
              <a:rPr lang="en-IN" sz="2000" b="1" dirty="0" err="1">
                <a:solidFill>
                  <a:schemeClr val="accent5">
                    <a:lumMod val="20000"/>
                    <a:lumOff val="80000"/>
                  </a:schemeClr>
                </a:solidFill>
              </a:rPr>
              <a:t>f"Box</a:t>
            </a:r>
            <a:r>
              <a:rPr lang="en-IN" sz="2000" b="1" dirty="0">
                <a:solidFill>
                  <a:schemeClr val="accent5">
                    <a:lumMod val="20000"/>
                    <a:lumOff val="80000"/>
                  </a:schemeClr>
                </a:solidFill>
              </a:rPr>
              <a:t> Plot: {col}")    </a:t>
            </a:r>
          </a:p>
          <a:p>
            <a:pPr lvl="1"/>
            <a:r>
              <a:rPr lang="en-IN" sz="2000" b="1" dirty="0">
                <a:solidFill>
                  <a:schemeClr val="accent5">
                    <a:lumMod val="20000"/>
                    <a:lumOff val="80000"/>
                  </a:schemeClr>
                </a:solidFill>
              </a:rPr>
              <a:t>        </a:t>
            </a:r>
            <a:r>
              <a:rPr lang="en-IN" sz="2000" b="1" dirty="0" err="1">
                <a:solidFill>
                  <a:schemeClr val="accent5">
                    <a:lumMod val="20000"/>
                    <a:lumOff val="80000"/>
                  </a:schemeClr>
                </a:solidFill>
              </a:rPr>
              <a:t>plt.xlabel</a:t>
            </a:r>
            <a:r>
              <a:rPr lang="en-IN" sz="2000" b="1" dirty="0">
                <a:solidFill>
                  <a:schemeClr val="accent5">
                    <a:lumMod val="20000"/>
                    <a:lumOff val="80000"/>
                  </a:schemeClr>
                </a:solidFill>
              </a:rPr>
              <a:t>(col)</a:t>
            </a:r>
          </a:p>
          <a:p>
            <a:r>
              <a:rPr lang="en-IN" sz="2000" b="1" dirty="0" err="1">
                <a:solidFill>
                  <a:schemeClr val="accent5">
                    <a:lumMod val="20000"/>
                    <a:lumOff val="80000"/>
                  </a:schemeClr>
                </a:solidFill>
              </a:rPr>
              <a:t>plt.tight_layout</a:t>
            </a:r>
            <a:r>
              <a:rPr lang="en-IN" sz="2000" b="1" dirty="0">
                <a:solidFill>
                  <a:schemeClr val="accent5">
                    <a:lumMod val="20000"/>
                    <a:lumOff val="80000"/>
                  </a:schemeClr>
                </a:solidFill>
              </a:rPr>
              <a:t>()</a:t>
            </a:r>
          </a:p>
          <a:p>
            <a:r>
              <a:rPr lang="en-IN" sz="2000" b="1" dirty="0" err="1">
                <a:solidFill>
                  <a:schemeClr val="accent5">
                    <a:lumMod val="20000"/>
                    <a:lumOff val="80000"/>
                  </a:schemeClr>
                </a:solidFill>
              </a:rPr>
              <a:t>plt.show</a:t>
            </a:r>
            <a:r>
              <a:rPr lang="en-IN" sz="2000" b="1" dirty="0">
                <a:solidFill>
                  <a:schemeClr val="accent5">
                    <a:lumMod val="20000"/>
                    <a:lumOff val="80000"/>
                  </a:schemeClr>
                </a:solidFill>
              </a:rPr>
              <a:t>()</a:t>
            </a:r>
          </a:p>
        </p:txBody>
      </p:sp>
    </p:spTree>
    <p:extLst>
      <p:ext uri="{BB962C8B-B14F-4D97-AF65-F5344CB8AC3E}">
        <p14:creationId xmlns:p14="http://schemas.microsoft.com/office/powerpoint/2010/main" val="3901742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E83FCB43-F25B-A55B-ACD4-944989F3D6C9}"/>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29190093-B596-CB7C-474E-914A7849ABDE}"/>
              </a:ext>
            </a:extLst>
          </p:cNvPr>
          <p:cNvSpPr txBox="1"/>
          <p:nvPr/>
        </p:nvSpPr>
        <p:spPr>
          <a:xfrm>
            <a:off x="3048000" y="0"/>
            <a:ext cx="12725400" cy="969176"/>
          </a:xfrm>
          <a:prstGeom prst="rect">
            <a:avLst/>
          </a:prstGeom>
        </p:spPr>
        <p:txBody>
          <a:bodyPr wrap="square" lIns="0" tIns="0" rIns="0" bIns="0" rtlCol="0" anchor="t">
            <a:spAutoFit/>
          </a:bodyPr>
          <a:lstStyle/>
          <a:p>
            <a:pPr algn="ctr" defTabSz="914400">
              <a:lnSpc>
                <a:spcPts val="8143"/>
              </a:lnSpc>
              <a:defRPr/>
            </a:pPr>
            <a:r>
              <a:rPr lang="en-US" sz="6000" b="1" dirty="0">
                <a:solidFill>
                  <a:srgbClr val="36E9FD"/>
                </a:solidFill>
                <a:latin typeface="Montserrat Semi-Bold"/>
                <a:ea typeface="Montserrat Semi-Bold"/>
                <a:cs typeface="Montserrat Semi-Bold"/>
                <a:sym typeface="Montserrat Semi-Bold"/>
              </a:rPr>
              <a:t>KNN (K-NEAREST NEIGHBOUR)</a:t>
            </a:r>
          </a:p>
        </p:txBody>
      </p:sp>
      <mc:AlternateContent xmlns:mc="http://schemas.openxmlformats.org/markup-compatibility/2006">
        <mc:Choice xmlns:a14="http://schemas.microsoft.com/office/drawing/2010/main" Requires="a14">
          <p:sp>
            <p:nvSpPr>
              <p:cNvPr id="24" name="TextBox 24">
                <a:extLst>
                  <a:ext uri="{FF2B5EF4-FFF2-40B4-BE49-F238E27FC236}">
                    <a16:creationId xmlns:a16="http://schemas.microsoft.com/office/drawing/2014/main" id="{6ECF9CE0-78D9-E58D-D592-0602AD2D7A7C}"/>
                  </a:ext>
                </a:extLst>
              </p:cNvPr>
              <p:cNvSpPr txBox="1"/>
              <p:nvPr/>
            </p:nvSpPr>
            <p:spPr>
              <a:xfrm>
                <a:off x="4953000" y="1181100"/>
                <a:ext cx="12725400" cy="8831072"/>
              </a:xfrm>
              <a:prstGeom prst="rect">
                <a:avLst/>
              </a:prstGeom>
            </p:spPr>
            <p:txBody>
              <a:bodyPr wrap="square" lIns="0" tIns="0" rIns="0" bIns="0" rtlCol="0" anchor="t">
                <a:spAutoFit/>
              </a:bodyPr>
              <a:lstStyle/>
              <a:p>
                <a:pPr marL="457200" indent="-457200" defTabSz="914400">
                  <a:buFont typeface="Wingdings" panose="05000000000000000000" pitchFamily="2" charset="2"/>
                  <a:buChar char="v"/>
                  <a:defRPr/>
                </a:pPr>
                <a:r>
                  <a:rPr lang="en-US" sz="2500" dirty="0">
                    <a:solidFill>
                      <a:prstClr val="white"/>
                    </a:solidFill>
                    <a:latin typeface="Calibri"/>
                  </a:rPr>
                  <a:t>k-NN is a non-parametric supervised learning algorithm used for classification and regression.</a:t>
                </a:r>
              </a:p>
              <a:p>
                <a:pPr marL="457200" indent="-457200" defTabSz="914400">
                  <a:buFont typeface="Wingdings" panose="05000000000000000000" pitchFamily="2" charset="2"/>
                  <a:buChar char="v"/>
                  <a:defRPr/>
                </a:pPr>
                <a:r>
                  <a:rPr lang="en-US" sz="2500" dirty="0">
                    <a:solidFill>
                      <a:prstClr val="white"/>
                    </a:solidFill>
                    <a:latin typeface="Calibri"/>
                  </a:rPr>
                  <a:t>The algorithm:</a:t>
                </a:r>
              </a:p>
              <a:p>
                <a:pPr marL="457200" lvl="1" defTabSz="914400">
                  <a:defRPr/>
                </a:pPr>
                <a:r>
                  <a:rPr lang="en-US" sz="2500" dirty="0">
                    <a:solidFill>
                      <a:prstClr val="white"/>
                    </a:solidFill>
                    <a:latin typeface="Calibri"/>
                  </a:rPr>
                  <a:t>Stores training data.</a:t>
                </a:r>
              </a:p>
              <a:p>
                <a:pPr marL="457200" lvl="1" defTabSz="914400">
                  <a:defRPr/>
                </a:pPr>
                <a:r>
                  <a:rPr lang="en-US" sz="2500" dirty="0">
                    <a:solidFill>
                      <a:prstClr val="white"/>
                    </a:solidFill>
                    <a:latin typeface="Calibri"/>
                  </a:rPr>
                  <a:t>Computes distance between test point and all training points.</a:t>
                </a:r>
              </a:p>
              <a:p>
                <a:pPr marL="457200" lvl="1" defTabSz="914400">
                  <a:defRPr/>
                </a:pPr>
                <a:r>
                  <a:rPr lang="en-US" sz="2500" dirty="0">
                    <a:solidFill>
                      <a:prstClr val="white"/>
                    </a:solidFill>
                    <a:latin typeface="Calibri"/>
                  </a:rPr>
                  <a:t>Selects the nearest k neighbors.</a:t>
                </a:r>
              </a:p>
              <a:p>
                <a:pPr marL="457200" lvl="1" defTabSz="914400">
                  <a:defRPr/>
                </a:pPr>
                <a:r>
                  <a:rPr lang="en-US" sz="2500" dirty="0">
                    <a:solidFill>
                      <a:prstClr val="white"/>
                    </a:solidFill>
                    <a:latin typeface="Calibri"/>
                  </a:rPr>
                  <a:t>Assigns the majority class.</a:t>
                </a:r>
              </a:p>
              <a:p>
                <a:pPr marL="457200" lvl="1" defTabSz="914400">
                  <a:defRPr/>
                </a:pPr>
                <a:endParaRPr lang="en-US" sz="2500" dirty="0">
                  <a:solidFill>
                    <a:prstClr val="white"/>
                  </a:solidFill>
                  <a:latin typeface="Calibri"/>
                </a:endParaRPr>
              </a:p>
              <a:p>
                <a:pPr marL="342900" indent="-342900" defTabSz="914400">
                  <a:buFont typeface="Wingdings" panose="05000000000000000000" pitchFamily="2" charset="2"/>
                  <a:buChar char="v"/>
                  <a:defRPr/>
                </a:pPr>
                <a:r>
                  <a:rPr lang="en-IN" sz="2500" b="1" dirty="0">
                    <a:solidFill>
                      <a:prstClr val="white"/>
                    </a:solidFill>
                    <a:latin typeface="Calibri"/>
                  </a:rPr>
                  <a:t>Euclidean Distance</a:t>
                </a:r>
              </a:p>
              <a:p>
                <a:pPr defTabSz="914400">
                  <a:defRPr/>
                </a:pPr>
                <a14:m>
                  <m:oMathPara xmlns:m="http://schemas.openxmlformats.org/officeDocument/2006/math">
                    <m:oMathParaPr>
                      <m:jc m:val="centerGroup"/>
                    </m:oMathParaPr>
                    <m:oMath xmlns:m="http://schemas.openxmlformats.org/officeDocument/2006/math">
                      <m:r>
                        <a:rPr lang="en-IN" sz="2500" i="1">
                          <a:solidFill>
                            <a:prstClr val="white"/>
                          </a:solidFill>
                          <a:latin typeface="Cambria Math" panose="02040503050406030204" pitchFamily="18" charset="0"/>
                        </a:rPr>
                        <m:t>𝑑</m:t>
                      </m:r>
                      <m:d>
                        <m:dPr>
                          <m:sepChr m:val=","/>
                          <m:ctrlPr>
                            <a:rPr lang="ar-AE" sz="2500" i="1">
                              <a:solidFill>
                                <a:prstClr val="white"/>
                              </a:solidFill>
                              <a:latin typeface="Cambria Math" panose="02040503050406030204" pitchFamily="18" charset="0"/>
                            </a:rPr>
                          </m:ctrlPr>
                        </m:dPr>
                        <m:e>
                          <m:r>
                            <a:rPr lang="ar-AE" sz="2500" i="1">
                              <a:solidFill>
                                <a:prstClr val="white"/>
                              </a:solidFill>
                              <a:latin typeface="Cambria Math" panose="02040503050406030204" pitchFamily="18" charset="0"/>
                            </a:rPr>
                            <m:t>𝑥</m:t>
                          </m:r>
                        </m:e>
                        <m:e>
                          <m:r>
                            <a:rPr lang="ar-AE" sz="2500" i="1">
                              <a:solidFill>
                                <a:prstClr val="white"/>
                              </a:solidFill>
                              <a:latin typeface="Cambria Math" panose="02040503050406030204" pitchFamily="18" charset="0"/>
                            </a:rPr>
                            <m:t>𝑦</m:t>
                          </m:r>
                        </m:e>
                      </m:d>
                      <m:r>
                        <a:rPr lang="ar-AE" sz="2500">
                          <a:solidFill>
                            <a:prstClr val="white"/>
                          </a:solidFill>
                          <a:latin typeface="Cambria Math" panose="02040503050406030204" pitchFamily="18" charset="0"/>
                        </a:rPr>
                        <m:t>=</m:t>
                      </m:r>
                      <m:rad>
                        <m:radPr>
                          <m:degHide m:val="on"/>
                          <m:ctrlPr>
                            <a:rPr lang="ar-AE" sz="2500" i="1">
                              <a:solidFill>
                                <a:prstClr val="white"/>
                              </a:solidFill>
                              <a:latin typeface="Cambria Math" panose="02040503050406030204" pitchFamily="18" charset="0"/>
                            </a:rPr>
                          </m:ctrlPr>
                        </m:radPr>
                        <m:deg/>
                        <m:e>
                          <m:nary>
                            <m:naryPr>
                              <m:chr m:val="∑"/>
                              <m:limLoc m:val="subSup"/>
                              <m:grow m:val="on"/>
                              <m:ctrlPr>
                                <a:rPr lang="ar-AE" sz="2500" i="1">
                                  <a:solidFill>
                                    <a:prstClr val="white"/>
                                  </a:solidFill>
                                  <a:latin typeface="Cambria Math" panose="02040503050406030204" pitchFamily="18" charset="0"/>
                                </a:rPr>
                              </m:ctrlPr>
                            </m:naryPr>
                            <m:sub>
                              <m:r>
                                <a:rPr lang="ar-AE" sz="2500" i="1">
                                  <a:solidFill>
                                    <a:prstClr val="white"/>
                                  </a:solidFill>
                                  <a:latin typeface="Cambria Math" panose="02040503050406030204" pitchFamily="18" charset="0"/>
                                </a:rPr>
                                <m:t>𝑖</m:t>
                              </m:r>
                              <m:r>
                                <a:rPr lang="ar-AE" sz="2500">
                                  <a:solidFill>
                                    <a:prstClr val="white"/>
                                  </a:solidFill>
                                  <a:latin typeface="Cambria Math" panose="02040503050406030204" pitchFamily="18" charset="0"/>
                                </a:rPr>
                                <m:t>=</m:t>
                              </m:r>
                              <m:r>
                                <a:rPr lang="ar-AE" sz="2500">
                                  <a:solidFill>
                                    <a:prstClr val="white"/>
                                  </a:solidFill>
                                  <a:latin typeface="Cambria Math" panose="02040503050406030204" pitchFamily="18" charset="0"/>
                                </a:rPr>
                                <m:t>1</m:t>
                              </m:r>
                            </m:sub>
                            <m:sup>
                              <m:r>
                                <a:rPr lang="ar-AE" sz="2500" i="1">
                                  <a:solidFill>
                                    <a:prstClr val="white"/>
                                  </a:solidFill>
                                  <a:latin typeface="Cambria Math" panose="02040503050406030204" pitchFamily="18" charset="0"/>
                                </a:rPr>
                                <m:t>𝑛</m:t>
                              </m:r>
                            </m:sup>
                            <m:e>
                              <m:r>
                                <a:rPr lang="ar-AE" sz="2500">
                                  <a:solidFill>
                                    <a:prstClr val="white"/>
                                  </a:solidFill>
                                  <a:latin typeface="Cambria Math" panose="02040503050406030204" pitchFamily="18" charset="0"/>
                                </a:rPr>
                                <m:t>(</m:t>
                              </m:r>
                            </m:e>
                          </m:nary>
                          <m:d>
                            <m:dPr>
                              <m:begChr m:val=""/>
                              <m:endChr m:val=""/>
                              <m:ctrlPr>
                                <a:rPr lang="ar-AE" sz="2500" i="1">
                                  <a:solidFill>
                                    <a:prstClr val="white"/>
                                  </a:solidFill>
                                  <a:latin typeface="Cambria Math" panose="02040503050406030204" pitchFamily="18" charset="0"/>
                                </a:rPr>
                              </m:ctrlPr>
                            </m:dPr>
                            <m:e>
                              <m:sSub>
                                <m:sSubPr>
                                  <m:ctrlPr>
                                    <a:rPr lang="ar-AE" sz="2500" i="1">
                                      <a:solidFill>
                                        <a:prstClr val="white"/>
                                      </a:solidFill>
                                      <a:latin typeface="Cambria Math" panose="02040503050406030204" pitchFamily="18" charset="0"/>
                                    </a:rPr>
                                  </m:ctrlPr>
                                </m:sSubPr>
                                <m:e>
                                  <m:r>
                                    <a:rPr lang="ar-AE" sz="2500" i="1">
                                      <a:solidFill>
                                        <a:prstClr val="white"/>
                                      </a:solidFill>
                                      <a:latin typeface="Cambria Math" panose="02040503050406030204" pitchFamily="18" charset="0"/>
                                    </a:rPr>
                                    <m:t>𝑥</m:t>
                                  </m:r>
                                </m:e>
                                <m:sub>
                                  <m:r>
                                    <a:rPr lang="ar-AE" sz="2500" i="1">
                                      <a:solidFill>
                                        <a:prstClr val="white"/>
                                      </a:solidFill>
                                      <a:latin typeface="Cambria Math" panose="02040503050406030204" pitchFamily="18" charset="0"/>
                                    </a:rPr>
                                    <m:t>𝑖</m:t>
                                  </m:r>
                                </m:sub>
                              </m:sSub>
                              <m:r>
                                <a:rPr lang="ar-AE" sz="2500">
                                  <a:solidFill>
                                    <a:prstClr val="white"/>
                                  </a:solidFill>
                                  <a:latin typeface="Cambria Math" panose="02040503050406030204" pitchFamily="18" charset="0"/>
                                </a:rPr>
                                <m:t>−</m:t>
                              </m:r>
                              <m:sSub>
                                <m:sSubPr>
                                  <m:ctrlPr>
                                    <a:rPr lang="ar-AE" sz="2500" i="1">
                                      <a:solidFill>
                                        <a:prstClr val="white"/>
                                      </a:solidFill>
                                      <a:latin typeface="Cambria Math" panose="02040503050406030204" pitchFamily="18" charset="0"/>
                                    </a:rPr>
                                  </m:ctrlPr>
                                </m:sSubPr>
                                <m:e>
                                  <m:r>
                                    <a:rPr lang="ar-AE" sz="2500" i="1">
                                      <a:solidFill>
                                        <a:prstClr val="white"/>
                                      </a:solidFill>
                                      <a:latin typeface="Cambria Math" panose="02040503050406030204" pitchFamily="18" charset="0"/>
                                    </a:rPr>
                                    <m:t>𝑦</m:t>
                                  </m:r>
                                </m:e>
                                <m:sub>
                                  <m:r>
                                    <a:rPr lang="ar-AE" sz="2500" i="1">
                                      <a:solidFill>
                                        <a:prstClr val="white"/>
                                      </a:solidFill>
                                      <a:latin typeface="Cambria Math" panose="02040503050406030204" pitchFamily="18" charset="0"/>
                                    </a:rPr>
                                    <m:t>𝑖</m:t>
                                  </m:r>
                                </m:sub>
                              </m:sSub>
                              <m:sSup>
                                <m:sSupPr>
                                  <m:ctrlPr>
                                    <a:rPr lang="ar-AE" sz="2500" i="1">
                                      <a:solidFill>
                                        <a:prstClr val="white"/>
                                      </a:solidFill>
                                      <a:latin typeface="Cambria Math" panose="02040503050406030204" pitchFamily="18" charset="0"/>
                                    </a:rPr>
                                  </m:ctrlPr>
                                </m:sSupPr>
                                <m:e>
                                  <m:d>
                                    <m:dPr>
                                      <m:begChr m:val=""/>
                                      <m:endChr m:val=""/>
                                      <m:ctrlPr>
                                        <a:rPr lang="ar-AE" sz="2500" i="1">
                                          <a:solidFill>
                                            <a:prstClr val="white"/>
                                          </a:solidFill>
                                          <a:latin typeface="Cambria Math" panose="02040503050406030204" pitchFamily="18" charset="0"/>
                                        </a:rPr>
                                      </m:ctrlPr>
                                    </m:dPr>
                                    <m:e>
                                      <m:r>
                                        <a:rPr lang="ar-AE" sz="2500">
                                          <a:solidFill>
                                            <a:prstClr val="white"/>
                                          </a:solidFill>
                                          <a:latin typeface="Cambria Math" panose="02040503050406030204" pitchFamily="18" charset="0"/>
                                        </a:rPr>
                                        <m:t>)</m:t>
                                      </m:r>
                                    </m:e>
                                  </m:d>
                                </m:e>
                                <m:sup>
                                  <m:r>
                                    <a:rPr lang="ar-AE" sz="2500">
                                      <a:solidFill>
                                        <a:prstClr val="white"/>
                                      </a:solidFill>
                                      <a:latin typeface="Cambria Math" panose="02040503050406030204" pitchFamily="18" charset="0"/>
                                    </a:rPr>
                                    <m:t>2</m:t>
                                  </m:r>
                                </m:sup>
                              </m:sSup>
                            </m:e>
                          </m:d>
                        </m:e>
                      </m:rad>
                    </m:oMath>
                  </m:oMathPara>
                </a14:m>
                <a:endParaRPr lang="ar-AE" sz="2500" dirty="0">
                  <a:solidFill>
                    <a:prstClr val="white"/>
                  </a:solidFill>
                  <a:latin typeface="Calibri"/>
                  <a:cs typeface="Arial" panose="020B0604020202020204" pitchFamily="34" charset="0"/>
                </a:endParaRPr>
              </a:p>
              <a:p>
                <a:pPr defTabSz="914400">
                  <a:defRPr/>
                </a:pPr>
                <a:r>
                  <a:rPr lang="en-IN" sz="2500" dirty="0">
                    <a:solidFill>
                      <a:prstClr val="white"/>
                    </a:solidFill>
                    <a:latin typeface="Calibri"/>
                  </a:rPr>
                  <a:t>	Where:</a:t>
                </a:r>
              </a:p>
              <a:p>
                <a:pPr marL="1371600" lvl="3" defTabSz="914400">
                  <a:defRPr/>
                </a:pPr>
                <a14:m>
                  <m:oMath xmlns:m="http://schemas.openxmlformats.org/officeDocument/2006/math">
                    <m:sSub>
                      <m:sSubPr>
                        <m:ctrlPr>
                          <a:rPr lang="ar-AE" sz="2500" i="1">
                            <a:solidFill>
                              <a:prstClr val="white"/>
                            </a:solidFill>
                            <a:latin typeface="Cambria Math" panose="02040503050406030204" pitchFamily="18" charset="0"/>
                          </a:rPr>
                        </m:ctrlPr>
                      </m:sSubPr>
                      <m:e>
                        <m:r>
                          <a:rPr lang="ar-AE" sz="2500" i="1">
                            <a:solidFill>
                              <a:prstClr val="white"/>
                            </a:solidFill>
                            <a:latin typeface="Cambria Math" panose="02040503050406030204" pitchFamily="18" charset="0"/>
                          </a:rPr>
                          <m:t>𝑥</m:t>
                        </m:r>
                      </m:e>
                      <m:sub>
                        <m:r>
                          <a:rPr lang="ar-AE" sz="2500" i="1">
                            <a:solidFill>
                              <a:prstClr val="white"/>
                            </a:solidFill>
                            <a:latin typeface="Cambria Math" panose="02040503050406030204" pitchFamily="18" charset="0"/>
                          </a:rPr>
                          <m:t>𝑖</m:t>
                        </m:r>
                      </m:sub>
                    </m:sSub>
                  </m:oMath>
                </a14:m>
                <a:r>
                  <a:rPr lang="en-IN" sz="2500" dirty="0">
                    <a:solidFill>
                      <a:prstClr val="white"/>
                    </a:solidFill>
                    <a:latin typeface="Calibri"/>
                  </a:rPr>
                  <a:t> and </a:t>
                </a:r>
                <a14:m>
                  <m:oMath xmlns:m="http://schemas.openxmlformats.org/officeDocument/2006/math">
                    <m:sSub>
                      <m:sSubPr>
                        <m:ctrlPr>
                          <a:rPr lang="ar-AE" sz="2500" i="1">
                            <a:solidFill>
                              <a:prstClr val="white"/>
                            </a:solidFill>
                            <a:latin typeface="Cambria Math" panose="02040503050406030204" pitchFamily="18" charset="0"/>
                          </a:rPr>
                        </m:ctrlPr>
                      </m:sSubPr>
                      <m:e>
                        <m:r>
                          <a:rPr lang="ar-AE" sz="2500" i="1">
                            <a:solidFill>
                              <a:prstClr val="white"/>
                            </a:solidFill>
                            <a:latin typeface="Cambria Math" panose="02040503050406030204" pitchFamily="18" charset="0"/>
                          </a:rPr>
                          <m:t>𝑦</m:t>
                        </m:r>
                      </m:e>
                      <m:sub>
                        <m:r>
                          <a:rPr lang="ar-AE" sz="2500" i="1">
                            <a:solidFill>
                              <a:prstClr val="white"/>
                            </a:solidFill>
                            <a:latin typeface="Cambria Math" panose="02040503050406030204" pitchFamily="18" charset="0"/>
                          </a:rPr>
                          <m:t>𝑖</m:t>
                        </m:r>
                      </m:sub>
                    </m:sSub>
                  </m:oMath>
                </a14:m>
                <a:r>
                  <a:rPr lang="en-IN" sz="2500" dirty="0">
                    <a:solidFill>
                      <a:prstClr val="white"/>
                    </a:solidFill>
                    <a:latin typeface="Calibri"/>
                  </a:rPr>
                  <a:t> are feature values </a:t>
                </a:r>
              </a:p>
              <a:p>
                <a:pPr marL="1371600" lvl="3" defTabSz="914400">
                  <a:defRPr/>
                </a:pPr>
                <a14:m>
                  <m:oMath xmlns:m="http://schemas.openxmlformats.org/officeDocument/2006/math">
                    <m:r>
                      <a:rPr lang="en-IN" sz="2500" i="1">
                        <a:solidFill>
                          <a:prstClr val="white"/>
                        </a:solidFill>
                        <a:latin typeface="Cambria Math" panose="02040503050406030204" pitchFamily="18" charset="0"/>
                      </a:rPr>
                      <m:t>𝑛</m:t>
                    </m:r>
                  </m:oMath>
                </a14:m>
                <a:r>
                  <a:rPr lang="en-IN" sz="2500" dirty="0">
                    <a:solidFill>
                      <a:prstClr val="white"/>
                    </a:solidFill>
                    <a:latin typeface="Calibri"/>
                  </a:rPr>
                  <a:t> is number of features </a:t>
                </a:r>
              </a:p>
              <a:p>
                <a:pPr marL="1371600" lvl="3" defTabSz="914400">
                  <a:defRPr/>
                </a:pPr>
                <a:endParaRPr lang="en-IN" sz="2500" dirty="0">
                  <a:solidFill>
                    <a:prstClr val="white"/>
                  </a:solidFill>
                  <a:latin typeface="Calibri"/>
                </a:endParaRPr>
              </a:p>
              <a:p>
                <a:pPr marL="342900" indent="-342900" defTabSz="914400">
                  <a:buFont typeface="Wingdings" panose="05000000000000000000" pitchFamily="2" charset="2"/>
                  <a:buChar char="v"/>
                  <a:defRPr/>
                </a:pPr>
                <a:r>
                  <a:rPr lang="en-IN" sz="2500" b="1" dirty="0">
                    <a:solidFill>
                      <a:prstClr val="white"/>
                    </a:solidFill>
                    <a:latin typeface="Calibri"/>
                  </a:rPr>
                  <a:t>Why Preprocessing is Important for k-NN</a:t>
                </a:r>
              </a:p>
              <a:p>
                <a:pPr marL="457200" lvl="1" defTabSz="914400">
                  <a:defRPr/>
                </a:pPr>
                <a:r>
                  <a:rPr lang="en-IN" sz="2500" dirty="0">
                    <a:solidFill>
                      <a:prstClr val="white"/>
                    </a:solidFill>
                    <a:latin typeface="Calibri"/>
                  </a:rPr>
                  <a:t>k-NN is extremely sensitive to:</a:t>
                </a:r>
              </a:p>
              <a:p>
                <a:pPr marL="457200" lvl="1" defTabSz="914400">
                  <a:defRPr/>
                </a:pPr>
                <a:r>
                  <a:rPr lang="en-IN" sz="2500" dirty="0">
                    <a:solidFill>
                      <a:prstClr val="white"/>
                    </a:solidFill>
                    <a:latin typeface="Calibri"/>
                  </a:rPr>
                  <a:t>Feature scale </a:t>
                </a:r>
              </a:p>
              <a:p>
                <a:pPr marL="457200" lvl="1" defTabSz="914400">
                  <a:defRPr/>
                </a:pPr>
                <a:r>
                  <a:rPr lang="en-IN" sz="2500" dirty="0">
                    <a:solidFill>
                      <a:prstClr val="white"/>
                    </a:solidFill>
                    <a:latin typeface="Calibri"/>
                  </a:rPr>
                  <a:t>Missing values </a:t>
                </a:r>
              </a:p>
              <a:p>
                <a:pPr marL="457200" lvl="1" defTabSz="914400">
                  <a:defRPr/>
                </a:pPr>
                <a:r>
                  <a:rPr lang="en-IN" sz="2500" dirty="0">
                    <a:solidFill>
                      <a:prstClr val="white"/>
                    </a:solidFill>
                    <a:latin typeface="Calibri"/>
                  </a:rPr>
                  <a:t>Outliers </a:t>
                </a:r>
              </a:p>
              <a:p>
                <a:pPr marL="457200" lvl="1" defTabSz="914400">
                  <a:defRPr/>
                </a:pPr>
                <a:r>
                  <a:rPr lang="en-IN" sz="2500" dirty="0">
                    <a:solidFill>
                      <a:prstClr val="white"/>
                    </a:solidFill>
                    <a:latin typeface="Calibri"/>
                  </a:rPr>
                  <a:t>Irrelevant features </a:t>
                </a:r>
              </a:p>
              <a:p>
                <a:pPr marL="457200" lvl="1" defTabSz="914400">
                  <a:defRPr/>
                </a:pPr>
                <a:r>
                  <a:rPr lang="en-IN" sz="2500" dirty="0">
                    <a:solidFill>
                      <a:prstClr val="white"/>
                    </a:solidFill>
                    <a:latin typeface="Calibri"/>
                  </a:rPr>
                  <a:t>Because distance calculations are directly affected by feature magnitude.</a:t>
                </a:r>
              </a:p>
              <a:p>
                <a:pPr marL="457200" lvl="1" defTabSz="914400">
                  <a:defRPr/>
                </a:pPr>
                <a:endParaRPr lang="en-US" sz="2500" dirty="0">
                  <a:solidFill>
                    <a:prstClr val="white"/>
                  </a:solidFill>
                  <a:latin typeface="Calibri"/>
                </a:endParaRPr>
              </a:p>
            </p:txBody>
          </p:sp>
        </mc:Choice>
        <mc:Fallback>
          <p:sp>
            <p:nvSpPr>
              <p:cNvPr id="24" name="TextBox 24">
                <a:extLst>
                  <a:ext uri="{FF2B5EF4-FFF2-40B4-BE49-F238E27FC236}">
                    <a16:creationId xmlns:a16="http://schemas.microsoft.com/office/drawing/2014/main" id="{6ECF9CE0-78D9-E58D-D592-0602AD2D7A7C}"/>
                  </a:ext>
                </a:extLst>
              </p:cNvPr>
              <p:cNvSpPr txBox="1">
                <a:spLocks noRot="1" noChangeAspect="1" noMove="1" noResize="1" noEditPoints="1" noAdjustHandles="1" noChangeArrowheads="1" noChangeShapeType="1" noTextEdit="1"/>
              </p:cNvSpPr>
              <p:nvPr/>
            </p:nvSpPr>
            <p:spPr>
              <a:xfrm>
                <a:off x="4953000" y="1181100"/>
                <a:ext cx="12725400" cy="8831072"/>
              </a:xfrm>
              <a:prstGeom prst="rect">
                <a:avLst/>
              </a:prstGeom>
              <a:blipFill>
                <a:blip r:embed="rId2"/>
                <a:stretch>
                  <a:fillRect l="-1437" t="-1036"/>
                </a:stretch>
              </a:blipFill>
            </p:spPr>
            <p:txBody>
              <a:bodyPr/>
              <a:lstStyle/>
              <a:p>
                <a:r>
                  <a:rPr lang="en-IN">
                    <a:noFill/>
                  </a:rPr>
                  <a:t> </a:t>
                </a:r>
              </a:p>
            </p:txBody>
          </p:sp>
        </mc:Fallback>
      </mc:AlternateContent>
      <p:sp>
        <p:nvSpPr>
          <p:cNvPr id="25" name="TextBox 25">
            <a:extLst>
              <a:ext uri="{FF2B5EF4-FFF2-40B4-BE49-F238E27FC236}">
                <a16:creationId xmlns:a16="http://schemas.microsoft.com/office/drawing/2014/main" id="{22A4A313-CA20-373D-33F6-5EB0E82BDCC1}"/>
              </a:ext>
            </a:extLst>
          </p:cNvPr>
          <p:cNvSpPr txBox="1"/>
          <p:nvPr/>
        </p:nvSpPr>
        <p:spPr>
          <a:xfrm>
            <a:off x="408633" y="241837"/>
            <a:ext cx="1154372" cy="394339"/>
          </a:xfrm>
          <a:prstGeom prst="rect">
            <a:avLst/>
          </a:prstGeom>
        </p:spPr>
        <p:txBody>
          <a:bodyPr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06</a:t>
            </a:r>
          </a:p>
        </p:txBody>
      </p:sp>
      <p:pic>
        <p:nvPicPr>
          <p:cNvPr id="3" name="Picture 2">
            <a:extLst>
              <a:ext uri="{FF2B5EF4-FFF2-40B4-BE49-F238E27FC236}">
                <a16:creationId xmlns:a16="http://schemas.microsoft.com/office/drawing/2014/main" id="{30B6C1BF-9A32-EC38-FE4C-7AEE3B0FDEC6}"/>
              </a:ext>
            </a:extLst>
          </p:cNvPr>
          <p:cNvPicPr>
            <a:picLocks noChangeAspect="1"/>
          </p:cNvPicPr>
          <p:nvPr/>
        </p:nvPicPr>
        <p:blipFill>
          <a:blip r:embed="rId3"/>
          <a:stretch>
            <a:fillRect/>
          </a:stretch>
        </p:blipFill>
        <p:spPr>
          <a:xfrm>
            <a:off x="609600" y="3819703"/>
            <a:ext cx="4109457" cy="3553866"/>
          </a:xfrm>
          <a:prstGeom prst="rect">
            <a:avLst/>
          </a:prstGeom>
        </p:spPr>
      </p:pic>
    </p:spTree>
    <p:extLst>
      <p:ext uri="{BB962C8B-B14F-4D97-AF65-F5344CB8AC3E}">
        <p14:creationId xmlns:p14="http://schemas.microsoft.com/office/powerpoint/2010/main" val="3073335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p:cNvGrpSpPr/>
        <p:nvPr/>
      </p:nvGrpSpPr>
      <p:grpSpPr>
        <a:xfrm>
          <a:off x="0" y="0"/>
          <a:ext cx="0" cy="0"/>
          <a:chOff x="0" y="0"/>
          <a:chExt cx="0" cy="0"/>
        </a:xfrm>
      </p:grpSpPr>
      <p:sp>
        <p:nvSpPr>
          <p:cNvPr id="23" name="TextBox 23"/>
          <p:cNvSpPr txBox="1"/>
          <p:nvPr/>
        </p:nvSpPr>
        <p:spPr>
          <a:xfrm>
            <a:off x="4419600" y="86912"/>
            <a:ext cx="9448800" cy="969176"/>
          </a:xfrm>
          <a:prstGeom prst="rect">
            <a:avLst/>
          </a:prstGeom>
        </p:spPr>
        <p:txBody>
          <a:bodyPr wrap="square" lIns="0" tIns="0" rIns="0" bIns="0" rtlCol="0" anchor="t">
            <a:spAutoFit/>
          </a:bodyPr>
          <a:lstStyle/>
          <a:p>
            <a:pPr algn="ctr">
              <a:lnSpc>
                <a:spcPts val="8143"/>
              </a:lnSpc>
            </a:pPr>
            <a:r>
              <a:rPr lang="en-US" sz="6000" b="1" dirty="0">
                <a:solidFill>
                  <a:srgbClr val="36E9FD"/>
                </a:solidFill>
                <a:latin typeface="Montserrat Semi-Bold"/>
                <a:ea typeface="Montserrat Semi-Bold"/>
                <a:cs typeface="Montserrat Semi-Bold"/>
                <a:sym typeface="Montserrat Semi-Bold"/>
              </a:rPr>
              <a:t>LOGISTIC REGRESSION</a:t>
            </a:r>
          </a:p>
        </p:txBody>
      </p:sp>
      <mc:AlternateContent xmlns:mc="http://schemas.openxmlformats.org/markup-compatibility/2006">
        <mc:Choice xmlns:a14="http://schemas.microsoft.com/office/drawing/2010/main" Requires="a14">
          <p:sp>
            <p:nvSpPr>
              <p:cNvPr id="24" name="TextBox 24"/>
              <p:cNvSpPr txBox="1"/>
              <p:nvPr/>
            </p:nvSpPr>
            <p:spPr>
              <a:xfrm>
                <a:off x="1569932" y="1059552"/>
                <a:ext cx="10331245" cy="8936870"/>
              </a:xfrm>
              <a:prstGeom prst="rect">
                <a:avLst/>
              </a:prstGeom>
            </p:spPr>
            <p:txBody>
              <a:bodyPr wrap="square" lIns="0" tIns="0" rIns="0" bIns="0" rtlCol="0" anchor="t">
                <a:spAutoFit/>
              </a:bodyPr>
              <a:lstStyle/>
              <a:p>
                <a:pPr marL="342900" indent="-342900">
                  <a:buFont typeface="Wingdings" panose="05000000000000000000" pitchFamily="2" charset="2"/>
                  <a:buChar char="v"/>
                </a:pPr>
                <a:r>
                  <a:rPr lang="en-IN" sz="2500" dirty="0">
                    <a:solidFill>
                      <a:schemeClr val="bg1"/>
                    </a:solidFill>
                    <a:latin typeface="+mj-lt"/>
                  </a:rPr>
                  <a:t>Logistic Regression is a probabilistic linear classification model.</a:t>
                </a:r>
              </a:p>
              <a:p>
                <a:pPr marL="342900" indent="-342900">
                  <a:buFont typeface="Wingdings" panose="05000000000000000000" pitchFamily="2" charset="2"/>
                  <a:buChar char="v"/>
                </a:pPr>
                <a:r>
                  <a:rPr lang="en-IN" sz="2500" dirty="0">
                    <a:solidFill>
                      <a:schemeClr val="bg1"/>
                    </a:solidFill>
                    <a:latin typeface="+mj-lt"/>
                  </a:rPr>
                  <a:t>It predicts probability using the sigmoid function:</a:t>
                </a:r>
              </a:p>
              <a:p>
                <a:pPr/>
                <a14:m>
                  <m:oMathPara xmlns:m="http://schemas.openxmlformats.org/officeDocument/2006/math">
                    <m:oMathParaPr>
                      <m:jc m:val="centerGroup"/>
                    </m:oMathParaPr>
                    <m:oMath xmlns:m="http://schemas.openxmlformats.org/officeDocument/2006/math">
                      <m:r>
                        <a:rPr lang="en-IN" sz="2500" i="1">
                          <a:solidFill>
                            <a:schemeClr val="bg1"/>
                          </a:solidFill>
                          <a:latin typeface="Cambria Math" panose="02040503050406030204" pitchFamily="18" charset="0"/>
                        </a:rPr>
                        <m:t>𝑃</m:t>
                      </m:r>
                      <m:d>
                        <m:dPr>
                          <m:ctrlPr>
                            <a:rPr lang="ar-AE" sz="2500" i="1">
                              <a:solidFill>
                                <a:schemeClr val="bg1"/>
                              </a:solidFill>
                              <a:latin typeface="Cambria Math" panose="02040503050406030204" pitchFamily="18" charset="0"/>
                            </a:rPr>
                          </m:ctrlPr>
                        </m:dPr>
                        <m:e>
                          <m:r>
                            <a:rPr lang="ar-AE" sz="2500" i="1">
                              <a:solidFill>
                                <a:schemeClr val="bg1"/>
                              </a:solidFill>
                              <a:latin typeface="Cambria Math" panose="02040503050406030204" pitchFamily="18" charset="0"/>
                            </a:rPr>
                            <m:t>𝑦</m:t>
                          </m:r>
                          <m:r>
                            <a:rPr lang="ar-AE" sz="2500">
                              <a:solidFill>
                                <a:schemeClr val="bg1"/>
                              </a:solidFill>
                              <a:latin typeface="Cambria Math" panose="02040503050406030204" pitchFamily="18" charset="0"/>
                            </a:rPr>
                            <m:t>=</m:t>
                          </m:r>
                          <m:r>
                            <a:rPr lang="ar-AE" sz="2500">
                              <a:solidFill>
                                <a:schemeClr val="bg1"/>
                              </a:solidFill>
                              <a:latin typeface="Cambria Math" panose="02040503050406030204" pitchFamily="18" charset="0"/>
                            </a:rPr>
                            <m:t>1</m:t>
                          </m:r>
                          <m:r>
                            <a:rPr lang="ar-AE" sz="2500">
                              <a:solidFill>
                                <a:schemeClr val="bg1"/>
                              </a:solidFill>
                              <a:latin typeface="Cambria Math" panose="02040503050406030204" pitchFamily="18" charset="0"/>
                            </a:rPr>
                            <m:t>∣</m:t>
                          </m:r>
                          <m:r>
                            <a:rPr lang="ar-AE" sz="2500" i="1">
                              <a:solidFill>
                                <a:schemeClr val="bg1"/>
                              </a:solidFill>
                              <a:latin typeface="Cambria Math" panose="02040503050406030204" pitchFamily="18" charset="0"/>
                            </a:rPr>
                            <m:t>𝑥</m:t>
                          </m:r>
                        </m:e>
                      </m:d>
                      <m:r>
                        <a:rPr lang="ar-AE" sz="2500">
                          <a:solidFill>
                            <a:schemeClr val="bg1"/>
                          </a:solidFill>
                          <a:latin typeface="Cambria Math" panose="02040503050406030204" pitchFamily="18" charset="0"/>
                        </a:rPr>
                        <m:t>=</m:t>
                      </m:r>
                      <m:f>
                        <m:fPr>
                          <m:ctrlPr>
                            <a:rPr lang="ar-AE" sz="2500" i="1">
                              <a:solidFill>
                                <a:schemeClr val="bg1"/>
                              </a:solidFill>
                              <a:latin typeface="Cambria Math" panose="02040503050406030204" pitchFamily="18" charset="0"/>
                            </a:rPr>
                          </m:ctrlPr>
                        </m:fPr>
                        <m:num>
                          <m:r>
                            <a:rPr lang="ar-AE" sz="2500">
                              <a:solidFill>
                                <a:schemeClr val="bg1"/>
                              </a:solidFill>
                              <a:latin typeface="Cambria Math" panose="02040503050406030204" pitchFamily="18" charset="0"/>
                            </a:rPr>
                            <m:t>1</m:t>
                          </m:r>
                        </m:num>
                        <m:den>
                          <m:r>
                            <a:rPr lang="ar-AE" sz="2500">
                              <a:solidFill>
                                <a:schemeClr val="bg1"/>
                              </a:solidFill>
                              <a:latin typeface="Cambria Math" panose="02040503050406030204" pitchFamily="18" charset="0"/>
                            </a:rPr>
                            <m:t>1</m:t>
                          </m:r>
                          <m:r>
                            <a:rPr lang="ar-AE" sz="2500">
                              <a:solidFill>
                                <a:schemeClr val="bg1"/>
                              </a:solidFill>
                              <a:latin typeface="Cambria Math" panose="02040503050406030204" pitchFamily="18" charset="0"/>
                            </a:rPr>
                            <m:t>+</m:t>
                          </m:r>
                          <m:sSup>
                            <m:sSupPr>
                              <m:ctrlPr>
                                <a:rPr lang="ar-AE" sz="2500" i="1">
                                  <a:solidFill>
                                    <a:schemeClr val="bg1"/>
                                  </a:solidFill>
                                  <a:latin typeface="Cambria Math" panose="02040503050406030204" pitchFamily="18" charset="0"/>
                                </a:rPr>
                              </m:ctrlPr>
                            </m:sSupPr>
                            <m:e>
                              <m:r>
                                <a:rPr lang="ar-AE" sz="2500" i="1">
                                  <a:solidFill>
                                    <a:schemeClr val="bg1"/>
                                  </a:solidFill>
                                  <a:latin typeface="Cambria Math" panose="02040503050406030204" pitchFamily="18" charset="0"/>
                                </a:rPr>
                                <m:t>𝑒</m:t>
                              </m:r>
                            </m:e>
                            <m:sup>
                              <m:r>
                                <a:rPr lang="ar-AE" sz="2500">
                                  <a:solidFill>
                                    <a:schemeClr val="bg1"/>
                                  </a:solidFill>
                                  <a:latin typeface="Cambria Math" panose="02040503050406030204" pitchFamily="18" charset="0"/>
                                </a:rPr>
                                <m:t>−</m:t>
                              </m:r>
                              <m:d>
                                <m:dPr>
                                  <m:ctrlPr>
                                    <a:rPr lang="ar-AE" sz="2500" i="1">
                                      <a:solidFill>
                                        <a:schemeClr val="bg1"/>
                                      </a:solidFill>
                                      <a:latin typeface="Cambria Math" panose="02040503050406030204" pitchFamily="18" charset="0"/>
                                    </a:rPr>
                                  </m:ctrlPr>
                                </m:dPr>
                                <m:e>
                                  <m:sSup>
                                    <m:sSupPr>
                                      <m:ctrlPr>
                                        <a:rPr lang="ar-AE" sz="2500" i="1">
                                          <a:solidFill>
                                            <a:schemeClr val="bg1"/>
                                          </a:solidFill>
                                          <a:latin typeface="Cambria Math" panose="02040503050406030204" pitchFamily="18" charset="0"/>
                                        </a:rPr>
                                      </m:ctrlPr>
                                    </m:sSupPr>
                                    <m:e>
                                      <m:r>
                                        <a:rPr lang="ar-AE" sz="2500" i="1">
                                          <a:solidFill>
                                            <a:schemeClr val="bg1"/>
                                          </a:solidFill>
                                          <a:latin typeface="Cambria Math" panose="02040503050406030204" pitchFamily="18" charset="0"/>
                                        </a:rPr>
                                        <m:t>𝑤</m:t>
                                      </m:r>
                                    </m:e>
                                    <m:sup>
                                      <m:r>
                                        <a:rPr lang="ar-AE" sz="2500" i="1">
                                          <a:solidFill>
                                            <a:schemeClr val="bg1"/>
                                          </a:solidFill>
                                          <a:latin typeface="Cambria Math" panose="02040503050406030204" pitchFamily="18" charset="0"/>
                                        </a:rPr>
                                        <m:t>𝑇</m:t>
                                      </m:r>
                                    </m:sup>
                                  </m:sSup>
                                  <m:r>
                                    <a:rPr lang="ar-AE" sz="2500" i="1">
                                      <a:solidFill>
                                        <a:schemeClr val="bg1"/>
                                      </a:solidFill>
                                      <a:latin typeface="Cambria Math" panose="02040503050406030204" pitchFamily="18" charset="0"/>
                                    </a:rPr>
                                    <m:t>𝑥</m:t>
                                  </m:r>
                                  <m:r>
                                    <a:rPr lang="ar-AE" sz="2500">
                                      <a:solidFill>
                                        <a:schemeClr val="bg1"/>
                                      </a:solidFill>
                                      <a:latin typeface="Cambria Math" panose="02040503050406030204" pitchFamily="18" charset="0"/>
                                    </a:rPr>
                                    <m:t>+</m:t>
                                  </m:r>
                                  <m:r>
                                    <a:rPr lang="ar-AE" sz="2500" i="1">
                                      <a:solidFill>
                                        <a:schemeClr val="bg1"/>
                                      </a:solidFill>
                                      <a:latin typeface="Cambria Math" panose="02040503050406030204" pitchFamily="18" charset="0"/>
                                    </a:rPr>
                                    <m:t>𝑏</m:t>
                                  </m:r>
                                </m:e>
                              </m:d>
                            </m:sup>
                          </m:sSup>
                        </m:den>
                      </m:f>
                    </m:oMath>
                  </m:oMathPara>
                </a14:m>
                <a:endParaRPr lang="ar-AE" sz="2500" dirty="0">
                  <a:solidFill>
                    <a:schemeClr val="bg1"/>
                  </a:solidFill>
                  <a:latin typeface="+mj-lt"/>
                </a:endParaRPr>
              </a:p>
              <a:p>
                <a:pPr lvl="1"/>
                <a:r>
                  <a:rPr lang="en-IN" sz="2500" dirty="0">
                    <a:solidFill>
                      <a:schemeClr val="bg1"/>
                    </a:solidFill>
                    <a:latin typeface="+mj-lt"/>
                  </a:rPr>
                  <a:t>Where:</a:t>
                </a:r>
              </a:p>
              <a:p>
                <a:pPr lvl="1"/>
                <a14:m>
                  <m:oMath xmlns:m="http://schemas.openxmlformats.org/officeDocument/2006/math">
                    <m:r>
                      <a:rPr lang="en-IN" sz="2500" i="1">
                        <a:solidFill>
                          <a:schemeClr val="bg1"/>
                        </a:solidFill>
                        <a:latin typeface="Cambria Math" panose="02040503050406030204" pitchFamily="18" charset="0"/>
                      </a:rPr>
                      <m:t>𝑤</m:t>
                    </m:r>
                  </m:oMath>
                </a14:m>
                <a:r>
                  <a:rPr lang="en-IN" sz="2500" dirty="0">
                    <a:solidFill>
                      <a:schemeClr val="bg1"/>
                    </a:solidFill>
                    <a:latin typeface="+mj-lt"/>
                  </a:rPr>
                  <a:t>= weight vector </a:t>
                </a:r>
              </a:p>
              <a:p>
                <a:pPr lvl="1"/>
                <a14:m>
                  <m:oMath xmlns:m="http://schemas.openxmlformats.org/officeDocument/2006/math">
                    <m:r>
                      <a:rPr lang="en-IN" sz="2500" i="1">
                        <a:solidFill>
                          <a:schemeClr val="bg1"/>
                        </a:solidFill>
                        <a:latin typeface="Cambria Math" panose="02040503050406030204" pitchFamily="18" charset="0"/>
                      </a:rPr>
                      <m:t>𝑥</m:t>
                    </m:r>
                  </m:oMath>
                </a14:m>
                <a:r>
                  <a:rPr lang="en-IN" sz="2500" dirty="0">
                    <a:solidFill>
                      <a:schemeClr val="bg1"/>
                    </a:solidFill>
                    <a:latin typeface="+mj-lt"/>
                  </a:rPr>
                  <a:t>= input feature vector </a:t>
                </a:r>
              </a:p>
              <a:p>
                <a:pPr lvl="1"/>
                <a14:m>
                  <m:oMath xmlns:m="http://schemas.openxmlformats.org/officeDocument/2006/math">
                    <m:r>
                      <a:rPr lang="en-IN" sz="2500" i="1">
                        <a:solidFill>
                          <a:schemeClr val="bg1"/>
                        </a:solidFill>
                        <a:latin typeface="Cambria Math" panose="02040503050406030204" pitchFamily="18" charset="0"/>
                      </a:rPr>
                      <m:t>𝑏</m:t>
                    </m:r>
                  </m:oMath>
                </a14:m>
                <a:r>
                  <a:rPr lang="en-IN" sz="2500" dirty="0">
                    <a:solidFill>
                      <a:schemeClr val="bg1"/>
                    </a:solidFill>
                    <a:latin typeface="+mj-lt"/>
                  </a:rPr>
                  <a:t>= bias </a:t>
                </a:r>
              </a:p>
              <a:p>
                <a:pPr lvl="1"/>
                <a:r>
                  <a:rPr lang="en-IN" sz="2500" dirty="0">
                    <a:solidFill>
                      <a:schemeClr val="bg1"/>
                    </a:solidFill>
                    <a:latin typeface="+mj-lt"/>
                  </a:rPr>
                  <a:t>Decision rule:</a:t>
                </a:r>
              </a:p>
              <a:p>
                <a:pPr lvl="1"/>
                <a14:m>
                  <m:oMathPara xmlns:m="http://schemas.openxmlformats.org/officeDocument/2006/math">
                    <m:oMathParaPr>
                      <m:jc m:val="centerGroup"/>
                    </m:oMathParaPr>
                    <m:oMath xmlns:m="http://schemas.openxmlformats.org/officeDocument/2006/math">
                      <m:acc>
                        <m:accPr>
                          <m:chr m:val="̂"/>
                          <m:ctrlPr>
                            <a:rPr lang="ar-AE" sz="2500" i="1">
                              <a:solidFill>
                                <a:schemeClr val="bg1"/>
                              </a:solidFill>
                              <a:latin typeface="Cambria Math" panose="02040503050406030204" pitchFamily="18" charset="0"/>
                            </a:rPr>
                          </m:ctrlPr>
                        </m:accPr>
                        <m:e>
                          <m:r>
                            <a:rPr lang="ar-AE" sz="2500" i="1">
                              <a:solidFill>
                                <a:schemeClr val="bg1"/>
                              </a:solidFill>
                              <a:latin typeface="Cambria Math" panose="02040503050406030204" pitchFamily="18" charset="0"/>
                            </a:rPr>
                            <m:t>𝑦</m:t>
                          </m:r>
                        </m:e>
                      </m:acc>
                      <m:r>
                        <a:rPr lang="ar-AE" sz="2500">
                          <a:solidFill>
                            <a:schemeClr val="bg1"/>
                          </a:solidFill>
                          <a:latin typeface="Cambria Math" panose="02040503050406030204" pitchFamily="18" charset="0"/>
                        </a:rPr>
                        <m:t>=</m:t>
                      </m:r>
                      <m:d>
                        <m:dPr>
                          <m:begChr m:val="{"/>
                          <m:endChr m:val=""/>
                          <m:ctrlPr>
                            <a:rPr lang="ar-AE" sz="2500" i="1">
                              <a:solidFill>
                                <a:schemeClr val="bg1"/>
                              </a:solidFill>
                              <a:latin typeface="Cambria Math" panose="02040503050406030204" pitchFamily="18" charset="0"/>
                            </a:rPr>
                          </m:ctrlPr>
                        </m:dPr>
                        <m:e>
                          <m:m>
                            <m:mPr>
                              <m:plcHide m:val="on"/>
                              <m:mcs>
                                <m:mc>
                                  <m:mcPr>
                                    <m:count m:val="2"/>
                                    <m:mcJc m:val="center"/>
                                  </m:mcPr>
                                </m:mc>
                              </m:mcs>
                              <m:ctrlPr>
                                <a:rPr lang="ar-AE" sz="2500" i="1">
                                  <a:solidFill>
                                    <a:schemeClr val="bg1"/>
                                  </a:solidFill>
                                  <a:latin typeface="Cambria Math" panose="02040503050406030204" pitchFamily="18" charset="0"/>
                                </a:rPr>
                              </m:ctrlPr>
                            </m:mPr>
                            <m:mr>
                              <m:e>
                                <m:r>
                                  <a:rPr lang="ar-AE" sz="2500">
                                    <a:solidFill>
                                      <a:schemeClr val="bg1"/>
                                    </a:solidFill>
                                    <a:latin typeface="Cambria Math" panose="02040503050406030204" pitchFamily="18" charset="0"/>
                                  </a:rPr>
                                  <m:t>1</m:t>
                                </m:r>
                              </m:e>
                              <m:e>
                                <m:r>
                                  <m:rPr>
                                    <m:nor/>
                                  </m:rPr>
                                  <a:rPr lang="en-IN" sz="2500" i="1">
                                    <a:solidFill>
                                      <a:schemeClr val="bg1"/>
                                    </a:solidFill>
                                    <a:latin typeface="+mj-lt"/>
                                  </a:rPr>
                                  <m:t>if</m:t>
                                </m:r>
                                <m:r>
                                  <m:rPr>
                                    <m:nor/>
                                  </m:rPr>
                                  <a:rPr lang="en-IN" sz="2500" i="1">
                                    <a:solidFill>
                                      <a:schemeClr val="bg1"/>
                                    </a:solidFill>
                                    <a:latin typeface="+mj-lt"/>
                                  </a:rPr>
                                  <m:t> </m:t>
                                </m:r>
                                <m:r>
                                  <a:rPr lang="en-IN" sz="2500" i="1">
                                    <a:solidFill>
                                      <a:schemeClr val="bg1"/>
                                    </a:solidFill>
                                    <a:latin typeface="Cambria Math" panose="02040503050406030204" pitchFamily="18" charset="0"/>
                                  </a:rPr>
                                  <m:t>𝑃</m:t>
                                </m:r>
                                <m:d>
                                  <m:dPr>
                                    <m:ctrlPr>
                                      <a:rPr lang="ar-AE" sz="2500" i="1">
                                        <a:solidFill>
                                          <a:schemeClr val="bg1"/>
                                        </a:solidFill>
                                        <a:latin typeface="Cambria Math" panose="02040503050406030204" pitchFamily="18" charset="0"/>
                                      </a:rPr>
                                    </m:ctrlPr>
                                  </m:dPr>
                                  <m:e>
                                    <m:r>
                                      <a:rPr lang="ar-AE" sz="2500" i="1">
                                        <a:solidFill>
                                          <a:schemeClr val="bg1"/>
                                        </a:solidFill>
                                        <a:latin typeface="Cambria Math" panose="02040503050406030204" pitchFamily="18" charset="0"/>
                                      </a:rPr>
                                      <m:t>𝑦</m:t>
                                    </m:r>
                                    <m:r>
                                      <a:rPr lang="ar-AE" sz="2500">
                                        <a:solidFill>
                                          <a:schemeClr val="bg1"/>
                                        </a:solidFill>
                                        <a:latin typeface="Cambria Math" panose="02040503050406030204" pitchFamily="18" charset="0"/>
                                      </a:rPr>
                                      <m:t>=</m:t>
                                    </m:r>
                                    <m:r>
                                      <a:rPr lang="ar-AE" sz="2500">
                                        <a:solidFill>
                                          <a:schemeClr val="bg1"/>
                                        </a:solidFill>
                                        <a:latin typeface="Cambria Math" panose="02040503050406030204" pitchFamily="18" charset="0"/>
                                      </a:rPr>
                                      <m:t>1</m:t>
                                    </m:r>
                                    <m:r>
                                      <a:rPr lang="ar-AE" sz="2500">
                                        <a:solidFill>
                                          <a:schemeClr val="bg1"/>
                                        </a:solidFill>
                                        <a:latin typeface="Cambria Math" panose="02040503050406030204" pitchFamily="18" charset="0"/>
                                      </a:rPr>
                                      <m:t>∣</m:t>
                                    </m:r>
                                    <m:r>
                                      <a:rPr lang="ar-AE" sz="2500" i="1">
                                        <a:solidFill>
                                          <a:schemeClr val="bg1"/>
                                        </a:solidFill>
                                        <a:latin typeface="Cambria Math" panose="02040503050406030204" pitchFamily="18" charset="0"/>
                                      </a:rPr>
                                      <m:t>𝑥</m:t>
                                    </m:r>
                                  </m:e>
                                </m:d>
                                <m:r>
                                  <a:rPr lang="ar-AE" sz="2500">
                                    <a:solidFill>
                                      <a:schemeClr val="bg1"/>
                                    </a:solidFill>
                                    <a:latin typeface="Cambria Math" panose="02040503050406030204" pitchFamily="18" charset="0"/>
                                  </a:rPr>
                                  <m:t>≥</m:t>
                                </m:r>
                                <m:r>
                                  <a:rPr lang="ar-AE" sz="2500">
                                    <a:solidFill>
                                      <a:schemeClr val="bg1"/>
                                    </a:solidFill>
                                    <a:latin typeface="Cambria Math" panose="02040503050406030204" pitchFamily="18" charset="0"/>
                                  </a:rPr>
                                  <m:t>0</m:t>
                                </m:r>
                                <m:r>
                                  <a:rPr lang="ar-AE" sz="2500">
                                    <a:solidFill>
                                      <a:schemeClr val="bg1"/>
                                    </a:solidFill>
                                    <a:latin typeface="Cambria Math" panose="02040503050406030204" pitchFamily="18" charset="0"/>
                                  </a:rPr>
                                  <m:t>.</m:t>
                                </m:r>
                                <m:r>
                                  <a:rPr lang="ar-AE" sz="2500">
                                    <a:solidFill>
                                      <a:schemeClr val="bg1"/>
                                    </a:solidFill>
                                    <a:latin typeface="Cambria Math" panose="02040503050406030204" pitchFamily="18" charset="0"/>
                                  </a:rPr>
                                  <m:t>5</m:t>
                                </m:r>
                              </m:e>
                            </m:mr>
                            <m:mr>
                              <m:e>
                                <m:r>
                                  <a:rPr lang="ar-AE" sz="2500">
                                    <a:solidFill>
                                      <a:schemeClr val="bg1"/>
                                    </a:solidFill>
                                    <a:latin typeface="Cambria Math" panose="02040503050406030204" pitchFamily="18" charset="0"/>
                                  </a:rPr>
                                  <m:t>0</m:t>
                                </m:r>
                              </m:e>
                              <m:e>
                                <m:r>
                                  <m:rPr>
                                    <m:nor/>
                                  </m:rPr>
                                  <a:rPr lang="en-IN" sz="2500" i="1">
                                    <a:solidFill>
                                      <a:schemeClr val="bg1"/>
                                    </a:solidFill>
                                    <a:latin typeface="+mj-lt"/>
                                  </a:rPr>
                                  <m:t>otherwise</m:t>
                                </m:r>
                              </m:e>
                            </m:mr>
                          </m:m>
                        </m:e>
                      </m:d>
                    </m:oMath>
                  </m:oMathPara>
                </a14:m>
                <a:endParaRPr lang="ar-AE" sz="2500" dirty="0">
                  <a:solidFill>
                    <a:schemeClr val="bg1"/>
                  </a:solidFill>
                  <a:latin typeface="+mj-lt"/>
                </a:endParaRPr>
              </a:p>
              <a:p>
                <a:pPr marL="342900" indent="-342900">
                  <a:buFont typeface="Wingdings" panose="05000000000000000000" pitchFamily="2" charset="2"/>
                  <a:buChar char="v"/>
                </a:pPr>
                <a:r>
                  <a:rPr lang="en-IN" sz="2500" b="1" dirty="0">
                    <a:solidFill>
                      <a:schemeClr val="bg1"/>
                    </a:solidFill>
                    <a:latin typeface="+mj-lt"/>
                  </a:rPr>
                  <a:t>Why Preprocessing is Important</a:t>
                </a:r>
              </a:p>
              <a:p>
                <a:pPr lvl="1"/>
                <a:r>
                  <a:rPr lang="en-IN" sz="2500" dirty="0">
                    <a:solidFill>
                      <a:schemeClr val="bg1"/>
                    </a:solidFill>
                    <a:latin typeface="+mj-lt"/>
                  </a:rPr>
                  <a:t>Logistic Regression depends on gradient-based optimization.</a:t>
                </a:r>
              </a:p>
              <a:p>
                <a:pPr lvl="1"/>
                <a:r>
                  <a:rPr lang="en-IN" sz="2500" dirty="0">
                    <a:solidFill>
                      <a:schemeClr val="bg1"/>
                    </a:solidFill>
                    <a:latin typeface="+mj-lt"/>
                  </a:rPr>
                  <a:t>Large feature magnitudes:</a:t>
                </a:r>
              </a:p>
              <a:p>
                <a:pPr lvl="1"/>
                <a:r>
                  <a:rPr lang="en-IN" sz="2500" dirty="0">
                    <a:solidFill>
                      <a:schemeClr val="bg1"/>
                    </a:solidFill>
                    <a:latin typeface="+mj-lt"/>
                  </a:rPr>
                  <a:t>Slow convergence </a:t>
                </a:r>
              </a:p>
              <a:p>
                <a:pPr lvl="1"/>
                <a:r>
                  <a:rPr lang="en-IN" sz="2500" dirty="0">
                    <a:solidFill>
                      <a:schemeClr val="bg1"/>
                    </a:solidFill>
                    <a:latin typeface="+mj-lt"/>
                  </a:rPr>
                  <a:t>Cause unstable optimization </a:t>
                </a:r>
              </a:p>
              <a:p>
                <a:pPr lvl="1"/>
                <a:r>
                  <a:rPr lang="en-IN" sz="2500" dirty="0">
                    <a:solidFill>
                      <a:schemeClr val="bg1"/>
                    </a:solidFill>
                    <a:latin typeface="+mj-lt"/>
                  </a:rPr>
                  <a:t>Produce biased coefficients </a:t>
                </a:r>
              </a:p>
              <a:p>
                <a:pPr marL="342900" indent="-342900">
                  <a:buFont typeface="Wingdings" panose="05000000000000000000" pitchFamily="2" charset="2"/>
                  <a:buChar char="v"/>
                </a:pPr>
                <a:r>
                  <a:rPr lang="en-IN" sz="2500" b="1" dirty="0">
                    <a:solidFill>
                      <a:schemeClr val="bg1"/>
                    </a:solidFill>
                    <a:latin typeface="+mj-lt"/>
                  </a:rPr>
                  <a:t>Importance of Standardization</a:t>
                </a:r>
              </a:p>
              <a:p>
                <a:r>
                  <a:rPr lang="en-IN" sz="2500" dirty="0">
                    <a:solidFill>
                      <a:schemeClr val="bg1"/>
                    </a:solidFill>
                    <a:latin typeface="+mj-lt"/>
                  </a:rPr>
                  <a:t>     Gradient descent converges faster when features are standardized.</a:t>
                </a:r>
              </a:p>
              <a:p>
                <a:pPr marL="342900" indent="-342900">
                  <a:buFont typeface="Wingdings" panose="05000000000000000000" pitchFamily="2" charset="2"/>
                  <a:buChar char="v"/>
                </a:pPr>
                <a:r>
                  <a:rPr lang="en-IN" sz="2500" b="1" dirty="0">
                    <a:solidFill>
                      <a:schemeClr val="bg1"/>
                    </a:solidFill>
                    <a:latin typeface="+mj-lt"/>
                  </a:rPr>
                  <a:t>Missing Values </a:t>
                </a:r>
              </a:p>
              <a:p>
                <a:r>
                  <a:rPr lang="en-IN" sz="2500" dirty="0">
                    <a:solidFill>
                      <a:schemeClr val="bg1"/>
                    </a:solidFill>
                    <a:latin typeface="+mj-lt"/>
                  </a:rPr>
                  <a:t>     Logistic regression cannot handle </a:t>
                </a:r>
                <a:r>
                  <a:rPr lang="en-IN" sz="2500" dirty="0" err="1">
                    <a:solidFill>
                      <a:schemeClr val="bg1"/>
                    </a:solidFill>
                    <a:latin typeface="+mj-lt"/>
                  </a:rPr>
                  <a:t>NaN</a:t>
                </a:r>
                <a:r>
                  <a:rPr lang="en-IN" sz="2500" dirty="0">
                    <a:solidFill>
                      <a:schemeClr val="bg1"/>
                    </a:solidFill>
                    <a:latin typeface="+mj-lt"/>
                  </a:rPr>
                  <a:t> values directly.</a:t>
                </a:r>
              </a:p>
              <a:p>
                <a:pPr marL="342900" indent="-342900">
                  <a:buFont typeface="Wingdings" panose="05000000000000000000" pitchFamily="2" charset="2"/>
                  <a:buChar char="v"/>
                </a:pPr>
                <a:r>
                  <a:rPr lang="en-IN" sz="2500" b="1" dirty="0">
                    <a:solidFill>
                      <a:schemeClr val="bg1"/>
                    </a:solidFill>
                    <a:latin typeface="+mj-lt"/>
                  </a:rPr>
                  <a:t>Encoding</a:t>
                </a:r>
              </a:p>
              <a:p>
                <a:r>
                  <a:rPr lang="en-IN" sz="2500" dirty="0">
                    <a:solidFill>
                      <a:schemeClr val="bg1"/>
                    </a:solidFill>
                    <a:latin typeface="+mj-lt"/>
                  </a:rPr>
                  <a:t>     Categorical variables must be transformed numerically.</a:t>
                </a:r>
              </a:p>
            </p:txBody>
          </p:sp>
        </mc:Choice>
        <mc:Fallback>
          <p:sp>
            <p:nvSpPr>
              <p:cNvPr id="24" name="TextBox 24"/>
              <p:cNvSpPr txBox="1">
                <a:spLocks noRot="1" noChangeAspect="1" noMove="1" noResize="1" noEditPoints="1" noAdjustHandles="1" noChangeArrowheads="1" noChangeShapeType="1" noTextEdit="1"/>
              </p:cNvSpPr>
              <p:nvPr/>
            </p:nvSpPr>
            <p:spPr>
              <a:xfrm>
                <a:off x="1569932" y="1059552"/>
                <a:ext cx="10331245" cy="8936870"/>
              </a:xfrm>
              <a:prstGeom prst="rect">
                <a:avLst/>
              </a:prstGeom>
              <a:blipFill>
                <a:blip r:embed="rId2"/>
                <a:stretch>
                  <a:fillRect l="-1771" t="-1023" b="-1160"/>
                </a:stretch>
              </a:blipFill>
            </p:spPr>
            <p:txBody>
              <a:bodyPr/>
              <a:lstStyle/>
              <a:p>
                <a:r>
                  <a:rPr lang="en-IN">
                    <a:noFill/>
                  </a:rPr>
                  <a:t> </a:t>
                </a:r>
              </a:p>
            </p:txBody>
          </p:sp>
        </mc:Fallback>
      </mc:AlternateContent>
      <p:sp>
        <p:nvSpPr>
          <p:cNvPr id="25" name="TextBox 25"/>
          <p:cNvSpPr txBox="1"/>
          <p:nvPr/>
        </p:nvSpPr>
        <p:spPr>
          <a:xfrm>
            <a:off x="408633" y="241837"/>
            <a:ext cx="1154372" cy="394339"/>
          </a:xfrm>
          <a:prstGeom prst="rect">
            <a:avLst/>
          </a:prstGeom>
        </p:spPr>
        <p:txBody>
          <a:bodyPr lIns="0" tIns="0" rIns="0" bIns="0" rtlCol="0" anchor="t">
            <a:spAutoFit/>
          </a:bodyPr>
          <a:lstStyle/>
          <a:p>
            <a:pPr>
              <a:lnSpc>
                <a:spcPts val="4057"/>
              </a:lnSpc>
            </a:pPr>
            <a:r>
              <a:rPr lang="en-US" sz="3145" dirty="0">
                <a:solidFill>
                  <a:srgbClr val="FFFFFF"/>
                </a:solidFill>
                <a:latin typeface="Mokoto"/>
                <a:ea typeface="Mokoto"/>
                <a:cs typeface="Mokoto"/>
                <a:sym typeface="Mokoto"/>
              </a:rPr>
              <a:t>07</a:t>
            </a:r>
          </a:p>
        </p:txBody>
      </p:sp>
      <p:pic>
        <p:nvPicPr>
          <p:cNvPr id="3" name="Picture 2">
            <a:extLst>
              <a:ext uri="{FF2B5EF4-FFF2-40B4-BE49-F238E27FC236}">
                <a16:creationId xmlns:a16="http://schemas.microsoft.com/office/drawing/2014/main" id="{DE18367A-01C6-ECAD-9AB7-50C097E512D6}"/>
              </a:ext>
            </a:extLst>
          </p:cNvPr>
          <p:cNvPicPr>
            <a:picLocks noChangeAspect="1"/>
          </p:cNvPicPr>
          <p:nvPr/>
        </p:nvPicPr>
        <p:blipFill>
          <a:blip r:embed="rId3"/>
          <a:stretch>
            <a:fillRect/>
          </a:stretch>
        </p:blipFill>
        <p:spPr>
          <a:xfrm>
            <a:off x="12192000" y="4305300"/>
            <a:ext cx="5100464" cy="35051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8415D9E0-0778-F53F-EC8E-A5B8A64D6639}"/>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8F7765B0-E018-760E-59C7-A41AA1D8AD95}"/>
              </a:ext>
            </a:extLst>
          </p:cNvPr>
          <p:cNvSpPr txBox="1"/>
          <p:nvPr/>
        </p:nvSpPr>
        <p:spPr>
          <a:xfrm>
            <a:off x="5257800" y="241837"/>
            <a:ext cx="7162800" cy="969176"/>
          </a:xfrm>
          <a:prstGeom prst="rect">
            <a:avLst/>
          </a:prstGeom>
        </p:spPr>
        <p:txBody>
          <a:bodyPr wrap="square" lIns="0" tIns="0" rIns="0" bIns="0" rtlCol="0" anchor="t">
            <a:spAutoFit/>
          </a:bodyPr>
          <a:lstStyle/>
          <a:p>
            <a:pPr algn="ctr" defTabSz="914400">
              <a:lnSpc>
                <a:spcPts val="8143"/>
              </a:lnSpc>
              <a:defRPr/>
            </a:pPr>
            <a:r>
              <a:rPr lang="en-US" sz="6000" b="1" dirty="0">
                <a:solidFill>
                  <a:srgbClr val="36E9FD"/>
                </a:solidFill>
                <a:latin typeface="Montserrat Semi-Bold"/>
                <a:ea typeface="Montserrat Semi-Bold"/>
                <a:cs typeface="Montserrat Semi-Bold"/>
                <a:sym typeface="Montserrat Semi-Bold"/>
              </a:rPr>
              <a:t>DECISION TREE</a:t>
            </a:r>
          </a:p>
        </p:txBody>
      </p:sp>
      <mc:AlternateContent xmlns:mc="http://schemas.openxmlformats.org/markup-compatibility/2006">
        <mc:Choice xmlns:a14="http://schemas.microsoft.com/office/drawing/2010/main" Requires="a14">
          <p:sp>
            <p:nvSpPr>
              <p:cNvPr id="24" name="TextBox 24">
                <a:extLst>
                  <a:ext uri="{FF2B5EF4-FFF2-40B4-BE49-F238E27FC236}">
                    <a16:creationId xmlns:a16="http://schemas.microsoft.com/office/drawing/2014/main" id="{273ED36F-C943-2D8D-5C67-EE9BE9F40BAF}"/>
                  </a:ext>
                </a:extLst>
              </p:cNvPr>
              <p:cNvSpPr txBox="1"/>
              <p:nvPr/>
            </p:nvSpPr>
            <p:spPr>
              <a:xfrm>
                <a:off x="1828800" y="1562100"/>
                <a:ext cx="11430000" cy="7825989"/>
              </a:xfrm>
              <a:prstGeom prst="rect">
                <a:avLst/>
              </a:prstGeom>
            </p:spPr>
            <p:txBody>
              <a:bodyPr wrap="square" lIns="0" tIns="0" rIns="0" bIns="0" rtlCol="0" anchor="t">
                <a:spAutoFit/>
              </a:bodyPr>
              <a:lstStyle/>
              <a:p>
                <a:pPr marL="342900" indent="-342900">
                  <a:buFont typeface="Wingdings" panose="05000000000000000000" pitchFamily="2" charset="2"/>
                  <a:buChar char="v"/>
                </a:pPr>
                <a:r>
                  <a:rPr lang="en-IN" sz="2800" dirty="0">
                    <a:solidFill>
                      <a:schemeClr val="bg1"/>
                    </a:solidFill>
                    <a:latin typeface="+mj-lt"/>
                  </a:rPr>
                  <a:t>Decision Trees split data recursively using impurity measures.</a:t>
                </a:r>
              </a:p>
              <a:p>
                <a:pPr marL="342900" indent="-342900">
                  <a:buFont typeface="Wingdings" panose="05000000000000000000" pitchFamily="2" charset="2"/>
                  <a:buChar char="v"/>
                </a:pPr>
                <a:r>
                  <a:rPr lang="en-IN" sz="2800" dirty="0">
                    <a:solidFill>
                      <a:schemeClr val="bg1"/>
                    </a:solidFill>
                    <a:latin typeface="+mj-lt"/>
                  </a:rPr>
                  <a:t>Common criteria:</a:t>
                </a:r>
              </a:p>
              <a:p>
                <a:pPr lvl="1"/>
                <a:r>
                  <a:rPr lang="en-IN" sz="2800" dirty="0">
                    <a:solidFill>
                      <a:schemeClr val="bg1"/>
                    </a:solidFill>
                    <a:latin typeface="+mj-lt"/>
                  </a:rPr>
                  <a:t>Gini Index </a:t>
                </a:r>
              </a:p>
              <a:p>
                <a:pPr lvl="1"/>
                <a:r>
                  <a:rPr lang="en-IN" sz="2800" dirty="0">
                    <a:solidFill>
                      <a:schemeClr val="bg1"/>
                    </a:solidFill>
                    <a:latin typeface="+mj-lt"/>
                  </a:rPr>
                  <a:t>Entropy </a:t>
                </a:r>
              </a:p>
              <a:p>
                <a:pPr lvl="1"/>
                <a:r>
                  <a:rPr lang="en-IN" sz="2800" dirty="0">
                    <a:solidFill>
                      <a:schemeClr val="bg1"/>
                    </a:solidFill>
                    <a:latin typeface="+mj-lt"/>
                  </a:rPr>
                  <a:t>Information Gain </a:t>
                </a:r>
              </a:p>
              <a:p>
                <a:pPr marL="342900" indent="-342900">
                  <a:buFont typeface="Wingdings" panose="05000000000000000000" pitchFamily="2" charset="2"/>
                  <a:buChar char="v"/>
                </a:pPr>
                <a:r>
                  <a:rPr lang="en-IN" sz="2800" b="1" dirty="0">
                    <a:solidFill>
                      <a:schemeClr val="bg1"/>
                    </a:solidFill>
                    <a:latin typeface="+mj-lt"/>
                  </a:rPr>
                  <a:t>Entropy Formula</a:t>
                </a:r>
              </a:p>
              <a:p>
                <a:pPr/>
                <a14:m>
                  <m:oMathPara xmlns:m="http://schemas.openxmlformats.org/officeDocument/2006/math">
                    <m:oMathParaPr>
                      <m:jc m:val="centerGroup"/>
                    </m:oMathParaPr>
                    <m:oMath xmlns:m="http://schemas.openxmlformats.org/officeDocument/2006/math">
                      <m:r>
                        <a:rPr lang="en-IN" sz="2800" i="1" smtClean="0">
                          <a:solidFill>
                            <a:schemeClr val="bg1"/>
                          </a:solidFill>
                          <a:latin typeface="Cambria Math" panose="02040503050406030204" pitchFamily="18" charset="0"/>
                        </a:rPr>
                        <m:t>𝐸𝑛𝑡𝑟𝑜𝑝𝑦</m:t>
                      </m:r>
                      <m:d>
                        <m:dPr>
                          <m:ctrlPr>
                            <a:rPr lang="ar-AE" sz="2800" i="1">
                              <a:solidFill>
                                <a:schemeClr val="bg1"/>
                              </a:solidFill>
                              <a:latin typeface="Cambria Math" panose="02040503050406030204" pitchFamily="18" charset="0"/>
                            </a:rPr>
                          </m:ctrlPr>
                        </m:dPr>
                        <m:e>
                          <m:r>
                            <a:rPr lang="ar-AE" sz="2800" i="1">
                              <a:solidFill>
                                <a:schemeClr val="bg1"/>
                              </a:solidFill>
                              <a:latin typeface="Cambria Math" panose="02040503050406030204" pitchFamily="18" charset="0"/>
                            </a:rPr>
                            <m:t>𝑆</m:t>
                          </m:r>
                        </m:e>
                      </m:d>
                      <m:r>
                        <a:rPr lang="ar-AE" sz="2800">
                          <a:solidFill>
                            <a:schemeClr val="bg1"/>
                          </a:solidFill>
                          <a:latin typeface="Cambria Math" panose="02040503050406030204" pitchFamily="18" charset="0"/>
                        </a:rPr>
                        <m:t>=−</m:t>
                      </m:r>
                      <m:nary>
                        <m:naryPr>
                          <m:chr m:val="∑"/>
                          <m:limLoc m:val="subSup"/>
                          <m:grow m:val="on"/>
                          <m:ctrlPr>
                            <a:rPr lang="ar-AE" sz="2800" i="1">
                              <a:solidFill>
                                <a:schemeClr val="bg1"/>
                              </a:solidFill>
                              <a:latin typeface="Cambria Math" panose="02040503050406030204" pitchFamily="18" charset="0"/>
                            </a:rPr>
                          </m:ctrlPr>
                        </m:naryPr>
                        <m:sub>
                          <m:r>
                            <a:rPr lang="ar-AE" sz="2800" i="1">
                              <a:solidFill>
                                <a:schemeClr val="bg1"/>
                              </a:solidFill>
                              <a:latin typeface="Cambria Math" panose="02040503050406030204" pitchFamily="18" charset="0"/>
                            </a:rPr>
                            <m:t>𝑖</m:t>
                          </m:r>
                          <m:r>
                            <a:rPr lang="ar-AE" sz="2800">
                              <a:solidFill>
                                <a:schemeClr val="bg1"/>
                              </a:solidFill>
                              <a:latin typeface="Cambria Math" panose="02040503050406030204" pitchFamily="18" charset="0"/>
                            </a:rPr>
                            <m:t>=</m:t>
                          </m:r>
                          <m:r>
                            <a:rPr lang="ar-AE" sz="2800">
                              <a:solidFill>
                                <a:schemeClr val="bg1"/>
                              </a:solidFill>
                              <a:latin typeface="Cambria Math" panose="02040503050406030204" pitchFamily="18" charset="0"/>
                            </a:rPr>
                            <m:t>1</m:t>
                          </m:r>
                        </m:sub>
                        <m:sup>
                          <m:r>
                            <a:rPr lang="en-US" sz="2800" b="0" i="1" smtClean="0">
                              <a:solidFill>
                                <a:schemeClr val="bg1"/>
                              </a:solidFill>
                              <a:latin typeface="Cambria Math" panose="02040503050406030204" pitchFamily="18" charset="0"/>
                            </a:rPr>
                            <m:t>𝑛</m:t>
                          </m:r>
                        </m:sup>
                        <m:e>
                          <m:sSub>
                            <m:sSubPr>
                              <m:ctrlPr>
                                <a:rPr lang="ar-AE" sz="2800" i="1">
                                  <a:solidFill>
                                    <a:schemeClr val="bg1"/>
                                  </a:solidFill>
                                  <a:latin typeface="Cambria Math" panose="02040503050406030204" pitchFamily="18" charset="0"/>
                                </a:rPr>
                              </m:ctrlPr>
                            </m:sSubPr>
                            <m:e>
                              <m:r>
                                <a:rPr lang="ar-AE" sz="2800" i="1">
                                  <a:solidFill>
                                    <a:schemeClr val="bg1"/>
                                  </a:solidFill>
                                  <a:latin typeface="Cambria Math" panose="02040503050406030204" pitchFamily="18" charset="0"/>
                                </a:rPr>
                                <m:t>𝑝</m:t>
                              </m:r>
                            </m:e>
                            <m:sub>
                              <m:r>
                                <a:rPr lang="ar-AE" sz="2800" i="1">
                                  <a:solidFill>
                                    <a:schemeClr val="bg1"/>
                                  </a:solidFill>
                                  <a:latin typeface="Cambria Math" panose="02040503050406030204" pitchFamily="18" charset="0"/>
                                </a:rPr>
                                <m:t>𝑖</m:t>
                              </m:r>
                            </m:sub>
                          </m:sSub>
                        </m:e>
                      </m:nary>
                      <m:r>
                        <a:rPr lang="en-US" sz="2800" b="0" i="1" smtClean="0">
                          <a:solidFill>
                            <a:schemeClr val="bg1"/>
                          </a:solidFill>
                          <a:latin typeface="Cambria Math" panose="02040503050406030204" pitchFamily="18" charset="0"/>
                        </a:rPr>
                        <m:t>𝑙𝑜𝑔</m:t>
                      </m:r>
                      <m:r>
                        <a:rPr lang="en-US" sz="2800" b="0" i="1" smtClean="0">
                          <a:solidFill>
                            <a:schemeClr val="bg1"/>
                          </a:solidFill>
                          <a:latin typeface="Cambria Math" panose="02040503050406030204" pitchFamily="18" charset="0"/>
                        </a:rPr>
                        <m:t>2</m:t>
                      </m:r>
                      <m:d>
                        <m:dPr>
                          <m:ctrlPr>
                            <a:rPr lang="ar-AE" sz="2800" i="1">
                              <a:solidFill>
                                <a:schemeClr val="bg1"/>
                              </a:solidFill>
                              <a:latin typeface="Cambria Math" panose="02040503050406030204" pitchFamily="18" charset="0"/>
                            </a:rPr>
                          </m:ctrlPr>
                        </m:dPr>
                        <m:e>
                          <m:sSub>
                            <m:sSubPr>
                              <m:ctrlPr>
                                <a:rPr lang="ar-AE" sz="2800" i="1">
                                  <a:solidFill>
                                    <a:schemeClr val="bg1"/>
                                  </a:solidFill>
                                  <a:latin typeface="Cambria Math" panose="02040503050406030204" pitchFamily="18" charset="0"/>
                                </a:rPr>
                              </m:ctrlPr>
                            </m:sSubPr>
                            <m:e>
                              <m:r>
                                <a:rPr lang="ar-AE" sz="2800" i="1">
                                  <a:solidFill>
                                    <a:schemeClr val="bg1"/>
                                  </a:solidFill>
                                  <a:latin typeface="Cambria Math" panose="02040503050406030204" pitchFamily="18" charset="0"/>
                                </a:rPr>
                                <m:t>𝑝</m:t>
                              </m:r>
                            </m:e>
                            <m:sub>
                              <m:r>
                                <a:rPr lang="ar-AE" sz="2800" i="1">
                                  <a:solidFill>
                                    <a:schemeClr val="bg1"/>
                                  </a:solidFill>
                                  <a:latin typeface="Cambria Math" panose="02040503050406030204" pitchFamily="18" charset="0"/>
                                </a:rPr>
                                <m:t>𝑖</m:t>
                              </m:r>
                            </m:sub>
                          </m:sSub>
                        </m:e>
                      </m:d>
                    </m:oMath>
                  </m:oMathPara>
                </a14:m>
                <a:endParaRPr lang="ar-AE" sz="2800" dirty="0">
                  <a:solidFill>
                    <a:schemeClr val="bg1"/>
                  </a:solidFill>
                  <a:latin typeface="+mj-lt"/>
                </a:endParaRPr>
              </a:p>
              <a:p>
                <a:pPr marL="342900" indent="-342900">
                  <a:buFont typeface="Wingdings" panose="05000000000000000000" pitchFamily="2" charset="2"/>
                  <a:buChar char="v"/>
                </a:pPr>
                <a:r>
                  <a:rPr lang="en-IN" sz="2800" b="1" dirty="0">
                    <a:solidFill>
                      <a:schemeClr val="bg1"/>
                    </a:solidFill>
                    <a:latin typeface="+mj-lt"/>
                  </a:rPr>
                  <a:t>Information Gain</a:t>
                </a:r>
              </a:p>
              <a:p>
                <a:pPr/>
                <a14:m>
                  <m:oMathPara xmlns:m="http://schemas.openxmlformats.org/officeDocument/2006/math">
                    <m:oMathParaPr>
                      <m:jc m:val="centerGroup"/>
                    </m:oMathParaPr>
                    <m:oMath xmlns:m="http://schemas.openxmlformats.org/officeDocument/2006/math">
                      <m:r>
                        <a:rPr lang="en-IN" sz="2800" i="1">
                          <a:solidFill>
                            <a:schemeClr val="bg1"/>
                          </a:solidFill>
                          <a:latin typeface="Cambria Math" panose="02040503050406030204" pitchFamily="18" charset="0"/>
                        </a:rPr>
                        <m:t>𝐼𝐺</m:t>
                      </m:r>
                      <m:r>
                        <a:rPr lang="en-IN" sz="2800">
                          <a:solidFill>
                            <a:schemeClr val="bg1"/>
                          </a:solidFill>
                          <a:latin typeface="Cambria Math" panose="02040503050406030204" pitchFamily="18" charset="0"/>
                        </a:rPr>
                        <m:t>=</m:t>
                      </m:r>
                      <m:r>
                        <a:rPr lang="en-IN" sz="2800" i="1">
                          <a:solidFill>
                            <a:schemeClr val="bg1"/>
                          </a:solidFill>
                          <a:latin typeface="Cambria Math" panose="02040503050406030204" pitchFamily="18" charset="0"/>
                        </a:rPr>
                        <m:t>𝐸𝑛𝑡𝑟𝑜𝑝𝑦</m:t>
                      </m:r>
                      <m:d>
                        <m:dPr>
                          <m:ctrlPr>
                            <a:rPr lang="ar-AE" sz="2800" i="1">
                              <a:solidFill>
                                <a:schemeClr val="bg1"/>
                              </a:solidFill>
                              <a:latin typeface="Cambria Math" panose="02040503050406030204" pitchFamily="18" charset="0"/>
                            </a:rPr>
                          </m:ctrlPr>
                        </m:dPr>
                        <m:e>
                          <m:r>
                            <a:rPr lang="ar-AE" sz="2800" i="1">
                              <a:solidFill>
                                <a:schemeClr val="bg1"/>
                              </a:solidFill>
                              <a:latin typeface="Cambria Math" panose="02040503050406030204" pitchFamily="18" charset="0"/>
                            </a:rPr>
                            <m:t>𝑝𝑎𝑟𝑒𝑛𝑡</m:t>
                          </m:r>
                        </m:e>
                      </m:d>
                      <m:r>
                        <a:rPr lang="ar-AE" sz="2800">
                          <a:solidFill>
                            <a:schemeClr val="bg1"/>
                          </a:solidFill>
                          <a:latin typeface="Cambria Math" panose="02040503050406030204" pitchFamily="18" charset="0"/>
                        </a:rPr>
                        <m:t>−</m:t>
                      </m:r>
                      <m:r>
                        <a:rPr lang="ar-AE" sz="2800" i="1">
                          <a:solidFill>
                            <a:schemeClr val="bg1"/>
                          </a:solidFill>
                          <a:latin typeface="Cambria Math" panose="02040503050406030204" pitchFamily="18" charset="0"/>
                        </a:rPr>
                        <m:t>𝑊𝑒𝑖𝑔</m:t>
                      </m:r>
                      <m:r>
                        <a:rPr lang="ar-AE" sz="2800" i="1">
                          <a:solidFill>
                            <a:schemeClr val="bg1"/>
                          </a:solidFill>
                          <a:latin typeface="Cambria Math" panose="02040503050406030204" pitchFamily="18" charset="0"/>
                        </a:rPr>
                        <m:t>h</m:t>
                      </m:r>
                      <m:r>
                        <a:rPr lang="ar-AE" sz="2800" i="1">
                          <a:solidFill>
                            <a:schemeClr val="bg1"/>
                          </a:solidFill>
                          <a:latin typeface="Cambria Math" panose="02040503050406030204" pitchFamily="18" charset="0"/>
                        </a:rPr>
                        <m:t>𝑡𝑒𝑑𝐸𝑛𝑡𝑟𝑜𝑝𝑦</m:t>
                      </m:r>
                      <m:d>
                        <m:dPr>
                          <m:ctrlPr>
                            <a:rPr lang="ar-AE" sz="2800" i="1">
                              <a:solidFill>
                                <a:schemeClr val="bg1"/>
                              </a:solidFill>
                              <a:latin typeface="Cambria Math" panose="02040503050406030204" pitchFamily="18" charset="0"/>
                            </a:rPr>
                          </m:ctrlPr>
                        </m:dPr>
                        <m:e>
                          <m:r>
                            <a:rPr lang="ar-AE" sz="2800" i="1">
                              <a:solidFill>
                                <a:schemeClr val="bg1"/>
                              </a:solidFill>
                              <a:latin typeface="Cambria Math" panose="02040503050406030204" pitchFamily="18" charset="0"/>
                            </a:rPr>
                            <m:t>𝑐</m:t>
                          </m:r>
                          <m:r>
                            <a:rPr lang="ar-AE" sz="2800" i="1">
                              <a:solidFill>
                                <a:schemeClr val="bg1"/>
                              </a:solidFill>
                              <a:latin typeface="Cambria Math" panose="02040503050406030204" pitchFamily="18" charset="0"/>
                            </a:rPr>
                            <m:t>h</m:t>
                          </m:r>
                          <m:r>
                            <a:rPr lang="ar-AE" sz="2800" i="1">
                              <a:solidFill>
                                <a:schemeClr val="bg1"/>
                              </a:solidFill>
                              <a:latin typeface="Cambria Math" panose="02040503050406030204" pitchFamily="18" charset="0"/>
                            </a:rPr>
                            <m:t>𝑖𝑙𝑑𝑟𝑒𝑛</m:t>
                          </m:r>
                        </m:e>
                      </m:d>
                    </m:oMath>
                  </m:oMathPara>
                </a14:m>
                <a:endParaRPr lang="ar-AE" sz="2800" dirty="0">
                  <a:solidFill>
                    <a:schemeClr val="bg1"/>
                  </a:solidFill>
                  <a:latin typeface="+mj-lt"/>
                </a:endParaRPr>
              </a:p>
              <a:p>
                <a:pPr marL="342900" indent="-342900">
                  <a:buFont typeface="Wingdings" panose="05000000000000000000" pitchFamily="2" charset="2"/>
                  <a:buChar char="v"/>
                </a:pPr>
                <a:r>
                  <a:rPr lang="en-IN" sz="2800" b="1" dirty="0">
                    <a:solidFill>
                      <a:schemeClr val="bg1"/>
                    </a:solidFill>
                    <a:latin typeface="+mj-lt"/>
                  </a:rPr>
                  <a:t>Why Preprocessing is Less Important</a:t>
                </a:r>
              </a:p>
              <a:p>
                <a:pPr marL="342900" indent="-342900">
                  <a:buFont typeface="Wingdings" panose="05000000000000000000" pitchFamily="2" charset="2"/>
                  <a:buChar char="v"/>
                </a:pPr>
                <a:r>
                  <a:rPr lang="en-IN" sz="2800" dirty="0">
                    <a:solidFill>
                      <a:schemeClr val="bg1"/>
                    </a:solidFill>
                    <a:latin typeface="+mj-lt"/>
                  </a:rPr>
                  <a:t>Decision Trees are:</a:t>
                </a:r>
              </a:p>
              <a:p>
                <a:pPr lvl="1"/>
                <a:r>
                  <a:rPr lang="en-IN" sz="2800" dirty="0">
                    <a:solidFill>
                      <a:schemeClr val="bg1"/>
                    </a:solidFill>
                    <a:latin typeface="+mj-lt"/>
                  </a:rPr>
                  <a:t>Scale invariant </a:t>
                </a:r>
              </a:p>
              <a:p>
                <a:pPr lvl="1"/>
                <a:r>
                  <a:rPr lang="en-IN" sz="2800" dirty="0">
                    <a:solidFill>
                      <a:schemeClr val="bg1"/>
                    </a:solidFill>
                    <a:latin typeface="+mj-lt"/>
                  </a:rPr>
                  <a:t>Non-distance based </a:t>
                </a:r>
              </a:p>
              <a:p>
                <a:pPr marL="342900" indent="-342900">
                  <a:buFont typeface="Wingdings" panose="05000000000000000000" pitchFamily="2" charset="2"/>
                  <a:buChar char="v"/>
                </a:pPr>
                <a:r>
                  <a:rPr lang="en-IN" sz="2800" dirty="0">
                    <a:solidFill>
                      <a:schemeClr val="bg1"/>
                    </a:solidFill>
                    <a:latin typeface="+mj-lt"/>
                  </a:rPr>
                  <a:t>Normalization often provides little improvement </a:t>
                </a:r>
              </a:p>
              <a:p>
                <a:pPr marL="342900" indent="-342900">
                  <a:buFont typeface="Wingdings" panose="05000000000000000000" pitchFamily="2" charset="2"/>
                  <a:buChar char="v"/>
                </a:pPr>
                <a:r>
                  <a:rPr lang="en-IN" sz="2800" dirty="0">
                    <a:solidFill>
                      <a:schemeClr val="bg1"/>
                    </a:solidFill>
                    <a:latin typeface="+mj-lt"/>
                  </a:rPr>
                  <a:t>Standardization usually unnecessary </a:t>
                </a:r>
              </a:p>
              <a:p>
                <a:pPr marL="342900" indent="-342900">
                  <a:buFont typeface="Wingdings" panose="05000000000000000000" pitchFamily="2" charset="2"/>
                  <a:buChar char="v"/>
                </a:pPr>
                <a:r>
                  <a:rPr lang="en-IN" sz="2800" dirty="0">
                    <a:solidFill>
                      <a:schemeClr val="bg1"/>
                    </a:solidFill>
                    <a:latin typeface="+mj-lt"/>
                  </a:rPr>
                  <a:t>Missing values still affect splitting </a:t>
                </a:r>
              </a:p>
              <a:p>
                <a:pPr marL="342900" indent="-342900">
                  <a:buFont typeface="Wingdings" panose="05000000000000000000" pitchFamily="2" charset="2"/>
                  <a:buChar char="v"/>
                </a:pPr>
                <a:r>
                  <a:rPr lang="en-IN" sz="2800" dirty="0">
                    <a:solidFill>
                      <a:schemeClr val="bg1"/>
                    </a:solidFill>
                    <a:latin typeface="+mj-lt"/>
                  </a:rPr>
                  <a:t>Poor encoding can affect categorical interpretation</a:t>
                </a:r>
              </a:p>
            </p:txBody>
          </p:sp>
        </mc:Choice>
        <mc:Fallback>
          <p:sp>
            <p:nvSpPr>
              <p:cNvPr id="24" name="TextBox 24">
                <a:extLst>
                  <a:ext uri="{FF2B5EF4-FFF2-40B4-BE49-F238E27FC236}">
                    <a16:creationId xmlns:a16="http://schemas.microsoft.com/office/drawing/2014/main" id="{273ED36F-C943-2D8D-5C67-EE9BE9F40BAF}"/>
                  </a:ext>
                </a:extLst>
              </p:cNvPr>
              <p:cNvSpPr txBox="1">
                <a:spLocks noRot="1" noChangeAspect="1" noMove="1" noResize="1" noEditPoints="1" noAdjustHandles="1" noChangeArrowheads="1" noChangeShapeType="1" noTextEdit="1"/>
              </p:cNvSpPr>
              <p:nvPr/>
            </p:nvSpPr>
            <p:spPr>
              <a:xfrm>
                <a:off x="1828800" y="1562100"/>
                <a:ext cx="11430000" cy="7825989"/>
              </a:xfrm>
              <a:prstGeom prst="rect">
                <a:avLst/>
              </a:prstGeom>
              <a:blipFill>
                <a:blip r:embed="rId2"/>
                <a:stretch>
                  <a:fillRect l="-1707" t="-1324" b="-779"/>
                </a:stretch>
              </a:blipFill>
            </p:spPr>
            <p:txBody>
              <a:bodyPr/>
              <a:lstStyle/>
              <a:p>
                <a:r>
                  <a:rPr lang="en-IN">
                    <a:noFill/>
                  </a:rPr>
                  <a:t> </a:t>
                </a:r>
              </a:p>
            </p:txBody>
          </p:sp>
        </mc:Fallback>
      </mc:AlternateContent>
      <p:sp>
        <p:nvSpPr>
          <p:cNvPr id="25" name="TextBox 25">
            <a:extLst>
              <a:ext uri="{FF2B5EF4-FFF2-40B4-BE49-F238E27FC236}">
                <a16:creationId xmlns:a16="http://schemas.microsoft.com/office/drawing/2014/main" id="{47F6418C-30DF-BFDF-707E-0449A4D4B21A}"/>
              </a:ext>
            </a:extLst>
          </p:cNvPr>
          <p:cNvSpPr txBox="1"/>
          <p:nvPr/>
        </p:nvSpPr>
        <p:spPr>
          <a:xfrm>
            <a:off x="408633" y="241837"/>
            <a:ext cx="1154372" cy="394339"/>
          </a:xfrm>
          <a:prstGeom prst="rect">
            <a:avLst/>
          </a:prstGeom>
        </p:spPr>
        <p:txBody>
          <a:bodyPr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08</a:t>
            </a:r>
          </a:p>
        </p:txBody>
      </p:sp>
      <p:pic>
        <p:nvPicPr>
          <p:cNvPr id="3" name="Picture 2">
            <a:extLst>
              <a:ext uri="{FF2B5EF4-FFF2-40B4-BE49-F238E27FC236}">
                <a16:creationId xmlns:a16="http://schemas.microsoft.com/office/drawing/2014/main" id="{77629BDB-0926-F566-C106-43D0B28F4A15}"/>
              </a:ext>
            </a:extLst>
          </p:cNvPr>
          <p:cNvPicPr>
            <a:picLocks noChangeAspect="1"/>
          </p:cNvPicPr>
          <p:nvPr/>
        </p:nvPicPr>
        <p:blipFill>
          <a:blip r:embed="rId3"/>
          <a:stretch>
            <a:fillRect/>
          </a:stretch>
        </p:blipFill>
        <p:spPr>
          <a:xfrm>
            <a:off x="12723657" y="4152900"/>
            <a:ext cx="4497545" cy="3162288"/>
          </a:xfrm>
          <a:prstGeom prst="rect">
            <a:avLst/>
          </a:prstGeom>
        </p:spPr>
      </p:pic>
    </p:spTree>
    <p:extLst>
      <p:ext uri="{BB962C8B-B14F-4D97-AF65-F5344CB8AC3E}">
        <p14:creationId xmlns:p14="http://schemas.microsoft.com/office/powerpoint/2010/main" val="717030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0538A121-7242-4B43-946B-1807BF9D5674}"/>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47E5BDC9-D4D4-DD6D-5C43-D78EBD15E966}"/>
              </a:ext>
            </a:extLst>
          </p:cNvPr>
          <p:cNvSpPr txBox="1"/>
          <p:nvPr/>
        </p:nvSpPr>
        <p:spPr>
          <a:xfrm>
            <a:off x="3048000" y="3543300"/>
            <a:ext cx="12954000" cy="969176"/>
          </a:xfrm>
          <a:prstGeom prst="rect">
            <a:avLst/>
          </a:prstGeom>
        </p:spPr>
        <p:txBody>
          <a:bodyPr wrap="square" lIns="0" tIns="0" rIns="0" bIns="0" rtlCol="0" anchor="t">
            <a:spAutoFit/>
          </a:bodyPr>
          <a:lstStyle/>
          <a:p>
            <a:pPr defTabSz="914400">
              <a:lnSpc>
                <a:spcPts val="8143"/>
              </a:lnSpc>
              <a:defRPr/>
            </a:pPr>
            <a:r>
              <a:rPr lang="en-US" sz="6000" b="1" dirty="0">
                <a:solidFill>
                  <a:srgbClr val="36E9FD"/>
                </a:solidFill>
                <a:latin typeface="Montserrat Semi-Bold" panose="020B0604020202020204" charset="0"/>
                <a:ea typeface="Montserrat Semi-Bold"/>
                <a:cs typeface="Montserrat Semi-Bold"/>
                <a:sym typeface="Montserrat Semi-Bold"/>
              </a:rPr>
              <a:t>PRE-PROCESSING TECHNIQUES</a:t>
            </a:r>
          </a:p>
        </p:txBody>
      </p:sp>
    </p:spTree>
    <p:extLst>
      <p:ext uri="{BB962C8B-B14F-4D97-AF65-F5344CB8AC3E}">
        <p14:creationId xmlns:p14="http://schemas.microsoft.com/office/powerpoint/2010/main" val="2354576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1A16161B-55FB-2538-1091-CCC1C28227D3}"/>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3F48046C-A6FC-F076-DD9F-946E2ABCECC1}"/>
              </a:ext>
            </a:extLst>
          </p:cNvPr>
          <p:cNvSpPr txBox="1"/>
          <p:nvPr/>
        </p:nvSpPr>
        <p:spPr>
          <a:xfrm>
            <a:off x="4648201" y="-15541"/>
            <a:ext cx="9144000" cy="927946"/>
          </a:xfrm>
          <a:prstGeom prst="rect">
            <a:avLst/>
          </a:prstGeom>
        </p:spPr>
        <p:txBody>
          <a:bodyPr wrap="square" lIns="0" tIns="0" rIns="0" bIns="0" rtlCol="0" anchor="t">
            <a:spAutoFit/>
          </a:bodyPr>
          <a:lstStyle/>
          <a:p>
            <a:pPr>
              <a:lnSpc>
                <a:spcPts val="8143"/>
              </a:lnSpc>
            </a:pPr>
            <a:r>
              <a:rPr lang="en-US" sz="4700" b="1" dirty="0">
                <a:solidFill>
                  <a:srgbClr val="36E9FD"/>
                </a:solidFill>
                <a:latin typeface="Montserrat Semi-Bold" panose="020B0604020202020204" charset="0"/>
                <a:ea typeface="Montserrat Semi-Bold"/>
                <a:cs typeface="Montserrat Semi-Bold"/>
                <a:sym typeface="Montserrat Semi-Bold"/>
              </a:rPr>
              <a:t>HANDLING MISSING VALUES</a:t>
            </a:r>
          </a:p>
        </p:txBody>
      </p:sp>
      <p:sp>
        <p:nvSpPr>
          <p:cNvPr id="25" name="TextBox 25">
            <a:extLst>
              <a:ext uri="{FF2B5EF4-FFF2-40B4-BE49-F238E27FC236}">
                <a16:creationId xmlns:a16="http://schemas.microsoft.com/office/drawing/2014/main" id="{D51D3978-187D-DDF2-EE44-3413EC3439CA}"/>
              </a:ext>
            </a:extLst>
          </p:cNvPr>
          <p:cNvSpPr txBox="1"/>
          <p:nvPr/>
        </p:nvSpPr>
        <p:spPr>
          <a:xfrm>
            <a:off x="483809" y="96282"/>
            <a:ext cx="1154372" cy="394339"/>
          </a:xfrm>
          <a:prstGeom prst="rect">
            <a:avLst/>
          </a:prstGeom>
        </p:spPr>
        <p:txBody>
          <a:bodyPr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09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17C8882-3BC9-CBBF-4597-7FFD4EC54047}"/>
                  </a:ext>
                </a:extLst>
              </p:cNvPr>
              <p:cNvSpPr txBox="1"/>
              <p:nvPr/>
            </p:nvSpPr>
            <p:spPr>
              <a:xfrm>
                <a:off x="3810000" y="1333500"/>
                <a:ext cx="11439388" cy="8024376"/>
              </a:xfrm>
              <a:prstGeom prst="rect">
                <a:avLst/>
              </a:prstGeom>
              <a:noFill/>
            </p:spPr>
            <p:txBody>
              <a:bodyPr wrap="square" rtlCol="0">
                <a:spAutoFit/>
              </a:bodyPr>
              <a:lstStyle/>
              <a:p>
                <a:pPr marL="514350" indent="-514350">
                  <a:buAutoNum type="arabicPeriod"/>
                </a:pPr>
                <a:r>
                  <a:rPr lang="en-IN" sz="2800" b="1" u="sng" dirty="0">
                    <a:solidFill>
                      <a:srgbClr val="72F1FE"/>
                    </a:solidFill>
                  </a:rPr>
                  <a:t>Mean Imputation</a:t>
                </a:r>
              </a:p>
              <a:p>
                <a:endParaRPr lang="en-IN" sz="2800" b="1" u="sng" dirty="0">
                  <a:solidFill>
                    <a:schemeClr val="bg1"/>
                  </a:solidFill>
                </a:endParaRPr>
              </a:p>
              <a:p>
                <a:pPr marL="457200" indent="-457200">
                  <a:buFont typeface="Wingdings" panose="05000000000000000000" pitchFamily="2" charset="2"/>
                  <a:buChar char="v"/>
                </a:pPr>
                <a:r>
                  <a:rPr lang="en-IN" sz="2800" b="1" dirty="0">
                    <a:solidFill>
                      <a:schemeClr val="bg1"/>
                    </a:solidFill>
                  </a:rPr>
                  <a:t>Concept</a:t>
                </a:r>
              </a:p>
              <a:p>
                <a:pPr lvl="1"/>
                <a:r>
                  <a:rPr lang="en-IN" sz="2800" dirty="0">
                    <a:solidFill>
                      <a:schemeClr val="bg1"/>
                    </a:solidFill>
                  </a:rPr>
                  <a:t>Missing numerical values are replaced with the mean of observed values.</a:t>
                </a:r>
              </a:p>
              <a:p>
                <a:pPr lvl="1"/>
                <a:r>
                  <a:rPr lang="en-IN" sz="2800" b="1" dirty="0">
                    <a:solidFill>
                      <a:schemeClr val="bg1"/>
                    </a:solidFill>
                  </a:rPr>
                  <a:t>Formula</a:t>
                </a:r>
              </a:p>
              <a:p>
                <a:pPr/>
                <a14:m>
                  <m:oMathPara xmlns:m="http://schemas.openxmlformats.org/officeDocument/2006/math">
                    <m:oMathParaPr>
                      <m:jc m:val="centerGroup"/>
                    </m:oMathParaPr>
                    <m:oMath xmlns:m="http://schemas.openxmlformats.org/officeDocument/2006/math">
                      <m:limUpp>
                        <m:limUppPr>
                          <m:ctrlPr>
                            <a:rPr lang="ar-AE" sz="2800" b="1" i="1">
                              <a:solidFill>
                                <a:schemeClr val="bg1"/>
                              </a:solidFill>
                              <a:latin typeface="Cambria Math" panose="02040503050406030204" pitchFamily="18" charset="0"/>
                            </a:rPr>
                          </m:ctrlPr>
                        </m:limUppPr>
                        <m:e>
                          <m:r>
                            <a:rPr lang="ar-AE" sz="2800" b="1" i="1">
                              <a:solidFill>
                                <a:schemeClr val="bg1"/>
                              </a:solidFill>
                              <a:latin typeface="Cambria Math" panose="02040503050406030204" pitchFamily="18" charset="0"/>
                            </a:rPr>
                            <m:t>𝒙</m:t>
                          </m:r>
                        </m:e>
                        <m:lim>
                          <m:r>
                            <a:rPr lang="ar-AE" sz="2800" b="1">
                              <a:solidFill>
                                <a:schemeClr val="bg1"/>
                              </a:solidFill>
                              <a:latin typeface="Cambria Math" panose="02040503050406030204" pitchFamily="18" charset="0"/>
                            </a:rPr>
                            <m:t>ˉ</m:t>
                          </m:r>
                        </m:lim>
                      </m:limUpp>
                      <m:r>
                        <a:rPr lang="ar-AE" sz="2800" b="1">
                          <a:solidFill>
                            <a:schemeClr val="bg1"/>
                          </a:solidFill>
                          <a:latin typeface="Cambria Math" panose="02040503050406030204" pitchFamily="18" charset="0"/>
                        </a:rPr>
                        <m:t>=</m:t>
                      </m:r>
                      <m:f>
                        <m:fPr>
                          <m:ctrlPr>
                            <a:rPr lang="ar-AE" sz="2800" b="1" i="1">
                              <a:solidFill>
                                <a:schemeClr val="bg1"/>
                              </a:solidFill>
                              <a:latin typeface="Cambria Math" panose="02040503050406030204" pitchFamily="18" charset="0"/>
                            </a:rPr>
                          </m:ctrlPr>
                        </m:fPr>
                        <m:num>
                          <m:r>
                            <a:rPr lang="ar-AE" sz="2800" b="1" i="1">
                              <a:solidFill>
                                <a:schemeClr val="bg1"/>
                              </a:solidFill>
                              <a:latin typeface="Cambria Math" panose="02040503050406030204" pitchFamily="18" charset="0"/>
                            </a:rPr>
                            <m:t>𝟏</m:t>
                          </m:r>
                        </m:num>
                        <m:den>
                          <m:r>
                            <a:rPr lang="ar-AE" sz="2800" b="1" i="1">
                              <a:solidFill>
                                <a:schemeClr val="bg1"/>
                              </a:solidFill>
                              <a:latin typeface="Cambria Math" panose="02040503050406030204" pitchFamily="18" charset="0"/>
                            </a:rPr>
                            <m:t>𝒏</m:t>
                          </m:r>
                        </m:den>
                      </m:f>
                      <m:nary>
                        <m:naryPr>
                          <m:chr m:val="∑"/>
                          <m:limLoc m:val="subSup"/>
                          <m:grow m:val="on"/>
                          <m:ctrlPr>
                            <a:rPr lang="ar-AE" sz="2800" b="1" i="1">
                              <a:solidFill>
                                <a:schemeClr val="bg1"/>
                              </a:solidFill>
                              <a:latin typeface="Cambria Math" panose="02040503050406030204" pitchFamily="18" charset="0"/>
                            </a:rPr>
                          </m:ctrlPr>
                        </m:naryPr>
                        <m:sub>
                          <m:r>
                            <a:rPr lang="ar-AE" sz="2800" b="1" i="1">
                              <a:solidFill>
                                <a:schemeClr val="bg1"/>
                              </a:solidFill>
                              <a:latin typeface="Cambria Math" panose="02040503050406030204" pitchFamily="18" charset="0"/>
                            </a:rPr>
                            <m:t>𝒊</m:t>
                          </m:r>
                          <m:r>
                            <a:rPr lang="ar-AE" sz="2800" b="1">
                              <a:solidFill>
                                <a:schemeClr val="bg1"/>
                              </a:solidFill>
                              <a:latin typeface="Cambria Math" panose="02040503050406030204" pitchFamily="18" charset="0"/>
                            </a:rPr>
                            <m:t>=</m:t>
                          </m:r>
                          <m:r>
                            <a:rPr lang="ar-AE" sz="2800" b="1" i="1">
                              <a:solidFill>
                                <a:schemeClr val="bg1"/>
                              </a:solidFill>
                              <a:latin typeface="Cambria Math" panose="02040503050406030204" pitchFamily="18" charset="0"/>
                            </a:rPr>
                            <m:t>𝟏</m:t>
                          </m:r>
                        </m:sub>
                        <m:sup>
                          <m:r>
                            <a:rPr lang="ar-AE" sz="2800" b="1" i="1">
                              <a:solidFill>
                                <a:schemeClr val="bg1"/>
                              </a:solidFill>
                              <a:latin typeface="Cambria Math" panose="02040503050406030204" pitchFamily="18" charset="0"/>
                            </a:rPr>
                            <m:t>𝒏</m:t>
                          </m:r>
                        </m:sup>
                        <m:e>
                          <m:sSub>
                            <m:sSubPr>
                              <m:ctrlPr>
                                <a:rPr lang="ar-AE" sz="2800" b="1" i="1">
                                  <a:solidFill>
                                    <a:schemeClr val="bg1"/>
                                  </a:solidFill>
                                  <a:latin typeface="Cambria Math" panose="02040503050406030204" pitchFamily="18" charset="0"/>
                                </a:rPr>
                              </m:ctrlPr>
                            </m:sSubPr>
                            <m:e>
                              <m:r>
                                <a:rPr lang="ar-AE" sz="2800" b="1" i="1">
                                  <a:solidFill>
                                    <a:schemeClr val="bg1"/>
                                  </a:solidFill>
                                  <a:latin typeface="Cambria Math" panose="02040503050406030204" pitchFamily="18" charset="0"/>
                                </a:rPr>
                                <m:t>𝒙</m:t>
                              </m:r>
                            </m:e>
                            <m:sub>
                              <m:r>
                                <a:rPr lang="ar-AE" sz="2800" b="1" i="1">
                                  <a:solidFill>
                                    <a:schemeClr val="bg1"/>
                                  </a:solidFill>
                                  <a:latin typeface="Cambria Math" panose="02040503050406030204" pitchFamily="18" charset="0"/>
                                </a:rPr>
                                <m:t>𝒊</m:t>
                              </m:r>
                            </m:sub>
                          </m:sSub>
                        </m:e>
                      </m:nary>
                    </m:oMath>
                  </m:oMathPara>
                </a14:m>
                <a:endParaRPr lang="ar-AE" sz="2800" b="1" dirty="0">
                  <a:solidFill>
                    <a:schemeClr val="bg1"/>
                  </a:solidFill>
                </a:endParaRPr>
              </a:p>
              <a:p>
                <a:pPr marL="457200" indent="-457200">
                  <a:buFont typeface="Wingdings" panose="05000000000000000000" pitchFamily="2" charset="2"/>
                  <a:buChar char="v"/>
                </a:pPr>
                <a:r>
                  <a:rPr lang="en-IN" sz="2800" dirty="0">
                    <a:solidFill>
                      <a:schemeClr val="bg1"/>
                    </a:solidFill>
                  </a:rPr>
                  <a:t>Missing value replacement:</a:t>
                </a:r>
              </a:p>
              <a:p>
                <a:pPr/>
                <a14:m>
                  <m:oMathPara xmlns:m="http://schemas.openxmlformats.org/officeDocument/2006/math">
                    <m:oMathParaPr>
                      <m:jc m:val="centerGroup"/>
                    </m:oMathParaPr>
                    <m:oMath xmlns:m="http://schemas.openxmlformats.org/officeDocument/2006/math">
                      <m:sSub>
                        <m:sSubPr>
                          <m:ctrlPr>
                            <a:rPr lang="ar-AE" sz="2800" b="1" i="1">
                              <a:solidFill>
                                <a:schemeClr val="bg1"/>
                              </a:solidFill>
                              <a:latin typeface="Cambria Math" panose="02040503050406030204" pitchFamily="18" charset="0"/>
                            </a:rPr>
                          </m:ctrlPr>
                        </m:sSubPr>
                        <m:e>
                          <m:r>
                            <a:rPr lang="ar-AE" sz="2800" b="1" i="1">
                              <a:solidFill>
                                <a:schemeClr val="bg1"/>
                              </a:solidFill>
                              <a:latin typeface="Cambria Math" panose="02040503050406030204" pitchFamily="18" charset="0"/>
                            </a:rPr>
                            <m:t>𝒙</m:t>
                          </m:r>
                        </m:e>
                        <m:sub>
                          <m:r>
                            <a:rPr lang="ar-AE" sz="2800" b="1" i="1">
                              <a:solidFill>
                                <a:schemeClr val="bg1"/>
                              </a:solidFill>
                              <a:latin typeface="Cambria Math" panose="02040503050406030204" pitchFamily="18" charset="0"/>
                            </a:rPr>
                            <m:t>𝒎𝒊𝒔𝒔𝒊𝒏𝒈</m:t>
                          </m:r>
                        </m:sub>
                      </m:sSub>
                      <m:r>
                        <a:rPr lang="ar-AE" sz="2800" b="1">
                          <a:solidFill>
                            <a:schemeClr val="bg1"/>
                          </a:solidFill>
                          <a:latin typeface="Cambria Math" panose="02040503050406030204" pitchFamily="18" charset="0"/>
                        </a:rPr>
                        <m:t>=</m:t>
                      </m:r>
                      <m:limUpp>
                        <m:limUppPr>
                          <m:ctrlPr>
                            <a:rPr lang="ar-AE" sz="2800" b="1" i="1">
                              <a:solidFill>
                                <a:schemeClr val="bg1"/>
                              </a:solidFill>
                              <a:latin typeface="Cambria Math" panose="02040503050406030204" pitchFamily="18" charset="0"/>
                            </a:rPr>
                          </m:ctrlPr>
                        </m:limUppPr>
                        <m:e>
                          <m:r>
                            <a:rPr lang="ar-AE" sz="2800" b="1" i="1">
                              <a:solidFill>
                                <a:schemeClr val="bg1"/>
                              </a:solidFill>
                              <a:latin typeface="Cambria Math" panose="02040503050406030204" pitchFamily="18" charset="0"/>
                            </a:rPr>
                            <m:t>𝒙</m:t>
                          </m:r>
                        </m:e>
                        <m:lim>
                          <m:r>
                            <a:rPr lang="ar-AE" sz="2800" b="1">
                              <a:solidFill>
                                <a:schemeClr val="bg1"/>
                              </a:solidFill>
                              <a:latin typeface="Cambria Math" panose="02040503050406030204" pitchFamily="18" charset="0"/>
                            </a:rPr>
                            <m:t>ˉ</m:t>
                          </m:r>
                        </m:lim>
                      </m:limUpp>
                    </m:oMath>
                  </m:oMathPara>
                </a14:m>
                <a:endParaRPr lang="ar-AE" sz="2800" b="1" dirty="0">
                  <a:solidFill>
                    <a:schemeClr val="bg1"/>
                  </a:solidFill>
                </a:endParaRPr>
              </a:p>
              <a:p>
                <a:pPr marL="457200" indent="-457200">
                  <a:buFont typeface="Wingdings" panose="05000000000000000000" pitchFamily="2" charset="2"/>
                  <a:buChar char="v"/>
                </a:pPr>
                <a:r>
                  <a:rPr lang="en-IN" sz="2800" b="1" dirty="0">
                    <a:solidFill>
                      <a:schemeClr val="bg1"/>
                    </a:solidFill>
                  </a:rPr>
                  <a:t>Advantages</a:t>
                </a:r>
              </a:p>
              <a:p>
                <a:pPr lvl="1"/>
                <a:r>
                  <a:rPr lang="en-IN" sz="2800" dirty="0">
                    <a:solidFill>
                      <a:schemeClr val="bg1"/>
                    </a:solidFill>
                  </a:rPr>
                  <a:t>Simple </a:t>
                </a:r>
              </a:p>
              <a:p>
                <a:pPr lvl="1"/>
                <a:r>
                  <a:rPr lang="en-IN" sz="2800" dirty="0">
                    <a:solidFill>
                      <a:schemeClr val="bg1"/>
                    </a:solidFill>
                  </a:rPr>
                  <a:t>Fast </a:t>
                </a:r>
              </a:p>
              <a:p>
                <a:pPr lvl="1"/>
                <a:r>
                  <a:rPr lang="en-IN" sz="2800" dirty="0">
                    <a:solidFill>
                      <a:schemeClr val="bg1"/>
                    </a:solidFill>
                  </a:rPr>
                  <a:t>Preserves dataset size </a:t>
                </a:r>
              </a:p>
              <a:p>
                <a:pPr lvl="1"/>
                <a:endParaRPr lang="en-IN" sz="2800" dirty="0">
                  <a:solidFill>
                    <a:schemeClr val="bg1"/>
                  </a:solidFill>
                </a:endParaRPr>
              </a:p>
              <a:p>
                <a:pPr marL="457200" indent="-457200">
                  <a:buFont typeface="Wingdings" panose="05000000000000000000" pitchFamily="2" charset="2"/>
                  <a:buChar char="v"/>
                </a:pPr>
                <a:r>
                  <a:rPr lang="en-IN" sz="2800" b="1" dirty="0">
                    <a:solidFill>
                      <a:schemeClr val="bg1"/>
                    </a:solidFill>
                  </a:rPr>
                  <a:t>Disadvantages</a:t>
                </a:r>
              </a:p>
              <a:p>
                <a:pPr lvl="1"/>
                <a:r>
                  <a:rPr lang="en-IN" sz="2800" dirty="0">
                    <a:solidFill>
                      <a:schemeClr val="bg1"/>
                    </a:solidFill>
                  </a:rPr>
                  <a:t>Reduces variance </a:t>
                </a:r>
              </a:p>
              <a:p>
                <a:pPr lvl="1"/>
                <a:r>
                  <a:rPr lang="en-IN" sz="2800" dirty="0">
                    <a:solidFill>
                      <a:schemeClr val="bg1"/>
                    </a:solidFill>
                  </a:rPr>
                  <a:t>Distorts correlations </a:t>
                </a:r>
              </a:p>
              <a:p>
                <a:pPr lvl="1"/>
                <a:r>
                  <a:rPr lang="en-IN" sz="2800" dirty="0">
                    <a:solidFill>
                      <a:schemeClr val="bg1"/>
                    </a:solidFill>
                  </a:rPr>
                  <a:t>Sensitive to outliers</a:t>
                </a:r>
              </a:p>
            </p:txBody>
          </p:sp>
        </mc:Choice>
        <mc:Fallback xmlns="">
          <p:sp>
            <p:nvSpPr>
              <p:cNvPr id="5" name="TextBox 4">
                <a:extLst>
                  <a:ext uri="{FF2B5EF4-FFF2-40B4-BE49-F238E27FC236}">
                    <a16:creationId xmlns:a16="http://schemas.microsoft.com/office/drawing/2014/main" id="{117C8882-3BC9-CBBF-4597-7FFD4EC54047}"/>
                  </a:ext>
                </a:extLst>
              </p:cNvPr>
              <p:cNvSpPr txBox="1">
                <a:spLocks noRot="1" noChangeAspect="1" noMove="1" noResize="1" noEditPoints="1" noAdjustHandles="1" noChangeArrowheads="1" noChangeShapeType="1" noTextEdit="1"/>
              </p:cNvSpPr>
              <p:nvPr/>
            </p:nvSpPr>
            <p:spPr>
              <a:xfrm>
                <a:off x="3810000" y="1333500"/>
                <a:ext cx="11439388" cy="8024376"/>
              </a:xfrm>
              <a:prstGeom prst="rect">
                <a:avLst/>
              </a:prstGeom>
              <a:blipFill>
                <a:blip r:embed="rId2"/>
                <a:stretch>
                  <a:fillRect l="-1119" t="-836" b="-1368"/>
                </a:stretch>
              </a:blipFill>
            </p:spPr>
            <p:txBody>
              <a:bodyPr/>
              <a:lstStyle/>
              <a:p>
                <a:r>
                  <a:rPr lang="en-IN">
                    <a:noFill/>
                  </a:rPr>
                  <a:t> </a:t>
                </a:r>
              </a:p>
            </p:txBody>
          </p:sp>
        </mc:Fallback>
      </mc:AlternateContent>
    </p:spTree>
    <p:extLst>
      <p:ext uri="{BB962C8B-B14F-4D97-AF65-F5344CB8AC3E}">
        <p14:creationId xmlns:p14="http://schemas.microsoft.com/office/powerpoint/2010/main" val="2700791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86185D86-0F83-E1AF-5E09-8ED3E296DEB2}"/>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2E3821C5-7140-8032-19FB-3D20015CBFC8}"/>
              </a:ext>
            </a:extLst>
          </p:cNvPr>
          <p:cNvSpPr txBox="1"/>
          <p:nvPr/>
        </p:nvSpPr>
        <p:spPr>
          <a:xfrm>
            <a:off x="4724400" y="0"/>
            <a:ext cx="10553819" cy="927946"/>
          </a:xfrm>
          <a:prstGeom prst="rect">
            <a:avLst/>
          </a:prstGeom>
        </p:spPr>
        <p:txBody>
          <a:bodyPr wrap="square" lIns="0" tIns="0" rIns="0" bIns="0" rtlCol="0" anchor="t">
            <a:spAutoFit/>
          </a:bodyPr>
          <a:lstStyle/>
          <a:p>
            <a:pPr marL="0" marR="0" lvl="0" indent="0" algn="l" defTabSz="914311" rtl="0" eaLnBrk="1" fontAlgn="auto" latinLnBrk="0" hangingPunct="1">
              <a:lnSpc>
                <a:spcPts val="8143"/>
              </a:lnSpc>
              <a:spcBef>
                <a:spcPts val="0"/>
              </a:spcBef>
              <a:spcAft>
                <a:spcPts val="0"/>
              </a:spcAft>
              <a:buClrTx/>
              <a:buSzTx/>
              <a:buFontTx/>
              <a:buNone/>
              <a:tabLst/>
              <a:defRPr/>
            </a:pPr>
            <a:r>
              <a:rPr kumimoji="0" lang="en-US" sz="4700" b="1" i="0" u="none" strike="noStrike" kern="1200" cap="none" spc="0" normalizeH="0" baseline="0" noProof="0" dirty="0">
                <a:ln>
                  <a:noFill/>
                </a:ln>
                <a:solidFill>
                  <a:srgbClr val="36E9FD"/>
                </a:solidFill>
                <a:effectLst/>
                <a:uLnTx/>
                <a:uFillTx/>
                <a:latin typeface="Montserrat Semi-Bold" panose="020B0604020202020204" charset="0"/>
                <a:ea typeface="Montserrat Semi-Bold"/>
                <a:cs typeface="Montserrat Semi-Bold"/>
                <a:sym typeface="Montserrat Semi-Bold"/>
              </a:rPr>
              <a:t>HANDLING MISSING VALUES</a:t>
            </a:r>
          </a:p>
        </p:txBody>
      </p:sp>
      <p:sp>
        <p:nvSpPr>
          <p:cNvPr id="25" name="TextBox 25">
            <a:extLst>
              <a:ext uri="{FF2B5EF4-FFF2-40B4-BE49-F238E27FC236}">
                <a16:creationId xmlns:a16="http://schemas.microsoft.com/office/drawing/2014/main" id="{89930D8D-55CE-930C-B610-0B3FF8491CC6}"/>
              </a:ext>
            </a:extLst>
          </p:cNvPr>
          <p:cNvSpPr txBox="1"/>
          <p:nvPr/>
        </p:nvSpPr>
        <p:spPr>
          <a:xfrm>
            <a:off x="483809" y="96282"/>
            <a:ext cx="1154372" cy="394339"/>
          </a:xfrm>
          <a:prstGeom prst="rect">
            <a:avLst/>
          </a:prstGeom>
        </p:spPr>
        <p:txBody>
          <a:bodyPr lIns="0" tIns="0" rIns="0" bIns="0" rtlCol="0" anchor="t">
            <a:spAutoFit/>
          </a:bodyPr>
          <a:lstStyle/>
          <a:p>
            <a:pPr marL="0" marR="0" lvl="0" indent="0" algn="l" defTabSz="914400" rtl="0" eaLnBrk="1" fontAlgn="auto" latinLnBrk="0" hangingPunct="1">
              <a:lnSpc>
                <a:spcPts val="4057"/>
              </a:lnSpc>
              <a:spcBef>
                <a:spcPts val="0"/>
              </a:spcBef>
              <a:spcAft>
                <a:spcPts val="0"/>
              </a:spcAft>
              <a:buClrTx/>
              <a:buSzTx/>
              <a:buFontTx/>
              <a:buNone/>
              <a:tabLst/>
              <a:defRPr/>
            </a:pPr>
            <a:r>
              <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rPr>
              <a:t>10</a:t>
            </a:r>
          </a:p>
        </p:txBody>
      </p:sp>
      <p:sp>
        <p:nvSpPr>
          <p:cNvPr id="5" name="TextBox 4">
            <a:extLst>
              <a:ext uri="{FF2B5EF4-FFF2-40B4-BE49-F238E27FC236}">
                <a16:creationId xmlns:a16="http://schemas.microsoft.com/office/drawing/2014/main" id="{18BE2157-C117-8460-975F-3EB3B3D89886}"/>
              </a:ext>
            </a:extLst>
          </p:cNvPr>
          <p:cNvSpPr txBox="1"/>
          <p:nvPr/>
        </p:nvSpPr>
        <p:spPr>
          <a:xfrm>
            <a:off x="562231" y="1279938"/>
            <a:ext cx="11439388" cy="954107"/>
          </a:xfrm>
          <a:prstGeom prst="rect">
            <a:avLst/>
          </a:prstGeom>
          <a:noFill/>
        </p:spPr>
        <p:txBody>
          <a:bodyPr wrap="square" rtlCol="0">
            <a:spAutoFit/>
          </a:bodyPr>
          <a:lstStyle/>
          <a:p>
            <a:pPr marL="514350" marR="0" lvl="0" indent="-514350" algn="l" defTabSz="914311" rtl="0" eaLnBrk="1" fontAlgn="auto" latinLnBrk="0" hangingPunct="1">
              <a:lnSpc>
                <a:spcPct val="100000"/>
              </a:lnSpc>
              <a:spcBef>
                <a:spcPts val="0"/>
              </a:spcBef>
              <a:spcAft>
                <a:spcPts val="0"/>
              </a:spcAft>
              <a:buClrTx/>
              <a:buSzTx/>
              <a:buFontTx/>
              <a:buAutoNum type="arabicPeriod"/>
              <a:tabLst/>
              <a:defRPr/>
            </a:pPr>
            <a:r>
              <a:rPr kumimoji="0" lang="en-IN" sz="2800" b="1" i="0" u="sng" strike="noStrike" kern="1200" cap="none" spc="0" normalizeH="0" baseline="0" noProof="0" dirty="0">
                <a:ln>
                  <a:noFill/>
                </a:ln>
                <a:solidFill>
                  <a:srgbClr val="72F1FE"/>
                </a:solidFill>
                <a:effectLst/>
                <a:uLnTx/>
                <a:uFillTx/>
                <a:latin typeface="Calibri"/>
                <a:ea typeface="+mn-ea"/>
                <a:cs typeface="+mn-cs"/>
              </a:rPr>
              <a:t>Mean Imputation</a:t>
            </a:r>
          </a:p>
          <a:p>
            <a:pPr marL="0" marR="0" lvl="0" indent="0" algn="l" defTabSz="914311" rtl="0" eaLnBrk="1" fontAlgn="auto" latinLnBrk="0" hangingPunct="1">
              <a:lnSpc>
                <a:spcPct val="100000"/>
              </a:lnSpc>
              <a:spcBef>
                <a:spcPts val="0"/>
              </a:spcBef>
              <a:spcAft>
                <a:spcPts val="0"/>
              </a:spcAft>
              <a:buClrTx/>
              <a:buSzTx/>
              <a:buFontTx/>
              <a:buNone/>
              <a:tabLst/>
              <a:defRPr/>
            </a:pPr>
            <a:endParaRPr kumimoji="0" lang="en-IN" sz="2800" b="1" i="0" u="sng" strike="noStrike" kern="1200" cap="none" spc="0" normalizeH="0" baseline="0" noProof="0" dirty="0">
              <a:ln>
                <a:noFill/>
              </a:ln>
              <a:solidFill>
                <a:prstClr val="white"/>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5748CE44-9AAB-6A62-C8C2-B56F6EA9A9D2}"/>
              </a:ext>
            </a:extLst>
          </p:cNvPr>
          <p:cNvPicPr>
            <a:picLocks noChangeAspect="1"/>
          </p:cNvPicPr>
          <p:nvPr/>
        </p:nvPicPr>
        <p:blipFill>
          <a:blip r:embed="rId2"/>
          <a:stretch>
            <a:fillRect/>
          </a:stretch>
        </p:blipFill>
        <p:spPr>
          <a:xfrm>
            <a:off x="609600" y="2234045"/>
            <a:ext cx="13338583" cy="3124200"/>
          </a:xfrm>
          <a:prstGeom prst="rect">
            <a:avLst/>
          </a:prstGeom>
        </p:spPr>
      </p:pic>
      <p:pic>
        <p:nvPicPr>
          <p:cNvPr id="8" name="Picture 7">
            <a:extLst>
              <a:ext uri="{FF2B5EF4-FFF2-40B4-BE49-F238E27FC236}">
                <a16:creationId xmlns:a16="http://schemas.microsoft.com/office/drawing/2014/main" id="{36C778B6-6AF2-2F16-B23E-8CD764AA66F7}"/>
              </a:ext>
            </a:extLst>
          </p:cNvPr>
          <p:cNvPicPr>
            <a:picLocks noChangeAspect="1"/>
          </p:cNvPicPr>
          <p:nvPr/>
        </p:nvPicPr>
        <p:blipFill>
          <a:blip r:embed="rId3"/>
          <a:stretch>
            <a:fillRect/>
          </a:stretch>
        </p:blipFill>
        <p:spPr>
          <a:xfrm>
            <a:off x="14036494" y="7408129"/>
            <a:ext cx="4038600" cy="1371600"/>
          </a:xfrm>
          <a:prstGeom prst="rect">
            <a:avLst/>
          </a:prstGeom>
        </p:spPr>
      </p:pic>
      <p:pic>
        <p:nvPicPr>
          <p:cNvPr id="12" name="Picture 11">
            <a:extLst>
              <a:ext uri="{FF2B5EF4-FFF2-40B4-BE49-F238E27FC236}">
                <a16:creationId xmlns:a16="http://schemas.microsoft.com/office/drawing/2014/main" id="{B31876E0-2E7A-F8EE-BCA8-6B3B3E1FB59F}"/>
              </a:ext>
            </a:extLst>
          </p:cNvPr>
          <p:cNvPicPr>
            <a:picLocks noChangeAspect="1"/>
          </p:cNvPicPr>
          <p:nvPr/>
        </p:nvPicPr>
        <p:blipFill>
          <a:blip r:embed="rId4"/>
          <a:stretch>
            <a:fillRect/>
          </a:stretch>
        </p:blipFill>
        <p:spPr>
          <a:xfrm>
            <a:off x="14036494" y="5849293"/>
            <a:ext cx="4038600" cy="1371600"/>
          </a:xfrm>
          <a:prstGeom prst="rect">
            <a:avLst/>
          </a:prstGeom>
        </p:spPr>
      </p:pic>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F6E51812-2A90-68B7-45B9-B199BF50456E}"/>
                  </a:ext>
                </a:extLst>
              </p14:cNvPr>
              <p14:cNvContentPartPr/>
              <p14:nvPr/>
            </p14:nvContentPartPr>
            <p14:xfrm>
              <a:off x="15586080" y="1800622"/>
              <a:ext cx="360" cy="360"/>
            </p14:xfrm>
          </p:contentPart>
        </mc:Choice>
        <mc:Fallback xmlns="">
          <p:pic>
            <p:nvPicPr>
              <p:cNvPr id="15" name="Ink 14">
                <a:extLst>
                  <a:ext uri="{FF2B5EF4-FFF2-40B4-BE49-F238E27FC236}">
                    <a16:creationId xmlns:a16="http://schemas.microsoft.com/office/drawing/2014/main" id="{F6E51812-2A90-68B7-45B9-B199BF50456E}"/>
                  </a:ext>
                </a:extLst>
              </p:cNvPr>
              <p:cNvPicPr/>
              <p:nvPr/>
            </p:nvPicPr>
            <p:blipFill>
              <a:blip r:embed="rId6"/>
              <a:stretch>
                <a:fillRect/>
              </a:stretch>
            </p:blipFill>
            <p:spPr>
              <a:xfrm>
                <a:off x="15577080" y="179198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3C75F5AC-58D4-B44A-D894-BA79A78D9B29}"/>
                  </a:ext>
                </a:extLst>
              </p14:cNvPr>
              <p14:cNvContentPartPr/>
              <p14:nvPr/>
            </p14:nvContentPartPr>
            <p14:xfrm>
              <a:off x="17706120" y="4322782"/>
              <a:ext cx="360" cy="360"/>
            </p14:xfrm>
          </p:contentPart>
        </mc:Choice>
        <mc:Fallback xmlns="">
          <p:pic>
            <p:nvPicPr>
              <p:cNvPr id="16" name="Ink 15">
                <a:extLst>
                  <a:ext uri="{FF2B5EF4-FFF2-40B4-BE49-F238E27FC236}">
                    <a16:creationId xmlns:a16="http://schemas.microsoft.com/office/drawing/2014/main" id="{3C75F5AC-58D4-B44A-D894-BA79A78D9B29}"/>
                  </a:ext>
                </a:extLst>
              </p:cNvPr>
              <p:cNvPicPr/>
              <p:nvPr/>
            </p:nvPicPr>
            <p:blipFill>
              <a:blip r:embed="rId8"/>
              <a:stretch>
                <a:fillRect/>
              </a:stretch>
            </p:blipFill>
            <p:spPr>
              <a:xfrm>
                <a:off x="17697480" y="431378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9" name="Ink 48">
                <a:extLst>
                  <a:ext uri="{FF2B5EF4-FFF2-40B4-BE49-F238E27FC236}">
                    <a16:creationId xmlns:a16="http://schemas.microsoft.com/office/drawing/2014/main" id="{FB23D0DD-111F-9DB1-E82D-AEE92C2B53CE}"/>
                  </a:ext>
                </a:extLst>
              </p14:cNvPr>
              <p14:cNvContentPartPr/>
              <p14:nvPr/>
            </p14:nvContentPartPr>
            <p14:xfrm>
              <a:off x="1302000" y="8825302"/>
              <a:ext cx="665280" cy="360"/>
            </p14:xfrm>
          </p:contentPart>
        </mc:Choice>
        <mc:Fallback xmlns="">
          <p:pic>
            <p:nvPicPr>
              <p:cNvPr id="49" name="Ink 48">
                <a:extLst>
                  <a:ext uri="{FF2B5EF4-FFF2-40B4-BE49-F238E27FC236}">
                    <a16:creationId xmlns:a16="http://schemas.microsoft.com/office/drawing/2014/main" id="{FB23D0DD-111F-9DB1-E82D-AEE92C2B53CE}"/>
                  </a:ext>
                </a:extLst>
              </p:cNvPr>
              <p:cNvPicPr/>
              <p:nvPr/>
            </p:nvPicPr>
            <p:blipFill>
              <a:blip r:embed="rId10"/>
              <a:stretch>
                <a:fillRect/>
              </a:stretch>
            </p:blipFill>
            <p:spPr>
              <a:xfrm>
                <a:off x="1248000" y="8717662"/>
                <a:ext cx="7729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1" name="Ink 50">
                <a:extLst>
                  <a:ext uri="{FF2B5EF4-FFF2-40B4-BE49-F238E27FC236}">
                    <a16:creationId xmlns:a16="http://schemas.microsoft.com/office/drawing/2014/main" id="{AAAA1A9F-63DF-267B-C1F4-D2CF83C846B9}"/>
                  </a:ext>
                </a:extLst>
              </p14:cNvPr>
              <p14:cNvContentPartPr/>
              <p14:nvPr/>
            </p14:nvContentPartPr>
            <p14:xfrm>
              <a:off x="5001360" y="8810902"/>
              <a:ext cx="693000" cy="14760"/>
            </p14:xfrm>
          </p:contentPart>
        </mc:Choice>
        <mc:Fallback xmlns="">
          <p:pic>
            <p:nvPicPr>
              <p:cNvPr id="51" name="Ink 50">
                <a:extLst>
                  <a:ext uri="{FF2B5EF4-FFF2-40B4-BE49-F238E27FC236}">
                    <a16:creationId xmlns:a16="http://schemas.microsoft.com/office/drawing/2014/main" id="{AAAA1A9F-63DF-267B-C1F4-D2CF83C846B9}"/>
                  </a:ext>
                </a:extLst>
              </p:cNvPr>
              <p:cNvPicPr/>
              <p:nvPr/>
            </p:nvPicPr>
            <p:blipFill>
              <a:blip r:embed="rId12"/>
              <a:stretch>
                <a:fillRect/>
              </a:stretch>
            </p:blipFill>
            <p:spPr>
              <a:xfrm>
                <a:off x="4947360" y="8703262"/>
                <a:ext cx="800640" cy="230400"/>
              </a:xfrm>
              <a:prstGeom prst="rect">
                <a:avLst/>
              </a:prstGeom>
            </p:spPr>
          </p:pic>
        </mc:Fallback>
      </mc:AlternateContent>
      <p:pic>
        <p:nvPicPr>
          <p:cNvPr id="53" name="Picture 52">
            <a:extLst>
              <a:ext uri="{FF2B5EF4-FFF2-40B4-BE49-F238E27FC236}">
                <a16:creationId xmlns:a16="http://schemas.microsoft.com/office/drawing/2014/main" id="{C426BD8B-BB0A-71AC-8481-8368ECB6AC6A}"/>
              </a:ext>
            </a:extLst>
          </p:cNvPr>
          <p:cNvPicPr>
            <a:picLocks noChangeAspect="1"/>
          </p:cNvPicPr>
          <p:nvPr/>
        </p:nvPicPr>
        <p:blipFill>
          <a:blip r:embed="rId13"/>
          <a:stretch>
            <a:fillRect/>
          </a:stretch>
        </p:blipFill>
        <p:spPr>
          <a:xfrm>
            <a:off x="609600" y="5475520"/>
            <a:ext cx="13338583" cy="4316179"/>
          </a:xfrm>
          <a:prstGeom prst="rect">
            <a:avLst/>
          </a:prstGeom>
        </p:spPr>
      </p:pic>
      <mc:AlternateContent xmlns:mc="http://schemas.openxmlformats.org/markup-compatibility/2006" xmlns:p14="http://schemas.microsoft.com/office/powerpoint/2010/main">
        <mc:Choice Requires="p14">
          <p:contentPart p14:bwMode="auto" r:id="rId14">
            <p14:nvContentPartPr>
              <p14:cNvPr id="62" name="Ink 61">
                <a:extLst>
                  <a:ext uri="{FF2B5EF4-FFF2-40B4-BE49-F238E27FC236}">
                    <a16:creationId xmlns:a16="http://schemas.microsoft.com/office/drawing/2014/main" id="{E016B1DC-8CFF-2064-5FA9-1F9E095B04E5}"/>
                  </a:ext>
                </a:extLst>
              </p14:cNvPr>
              <p14:cNvContentPartPr/>
              <p14:nvPr/>
            </p14:nvContentPartPr>
            <p14:xfrm>
              <a:off x="1276440" y="8532982"/>
              <a:ext cx="699480" cy="83880"/>
            </p14:xfrm>
          </p:contentPart>
        </mc:Choice>
        <mc:Fallback xmlns="">
          <p:pic>
            <p:nvPicPr>
              <p:cNvPr id="62" name="Ink 61">
                <a:extLst>
                  <a:ext uri="{FF2B5EF4-FFF2-40B4-BE49-F238E27FC236}">
                    <a16:creationId xmlns:a16="http://schemas.microsoft.com/office/drawing/2014/main" id="{E016B1DC-8CFF-2064-5FA9-1F9E095B04E5}"/>
                  </a:ext>
                </a:extLst>
              </p:cNvPr>
              <p:cNvPicPr/>
              <p:nvPr/>
            </p:nvPicPr>
            <p:blipFill>
              <a:blip r:embed="rId15"/>
              <a:stretch>
                <a:fillRect/>
              </a:stretch>
            </p:blipFill>
            <p:spPr>
              <a:xfrm>
                <a:off x="1222800" y="8424982"/>
                <a:ext cx="80712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4" name="Ink 63">
                <a:extLst>
                  <a:ext uri="{FF2B5EF4-FFF2-40B4-BE49-F238E27FC236}">
                    <a16:creationId xmlns:a16="http://schemas.microsoft.com/office/drawing/2014/main" id="{E343B29C-45CD-DB2A-2611-60360066C295}"/>
                  </a:ext>
                </a:extLst>
              </p14:cNvPr>
              <p14:cNvContentPartPr/>
              <p14:nvPr/>
            </p14:nvContentPartPr>
            <p14:xfrm>
              <a:off x="5001360" y="8561782"/>
              <a:ext cx="651960" cy="28440"/>
            </p14:xfrm>
          </p:contentPart>
        </mc:Choice>
        <mc:Fallback xmlns="">
          <p:pic>
            <p:nvPicPr>
              <p:cNvPr id="64" name="Ink 63">
                <a:extLst>
                  <a:ext uri="{FF2B5EF4-FFF2-40B4-BE49-F238E27FC236}">
                    <a16:creationId xmlns:a16="http://schemas.microsoft.com/office/drawing/2014/main" id="{E343B29C-45CD-DB2A-2611-60360066C295}"/>
                  </a:ext>
                </a:extLst>
              </p:cNvPr>
              <p:cNvPicPr/>
              <p:nvPr/>
            </p:nvPicPr>
            <p:blipFill>
              <a:blip r:embed="rId17"/>
              <a:stretch>
                <a:fillRect/>
              </a:stretch>
            </p:blipFill>
            <p:spPr>
              <a:xfrm>
                <a:off x="4947360" y="8453782"/>
                <a:ext cx="759600" cy="244080"/>
              </a:xfrm>
              <a:prstGeom prst="rect">
                <a:avLst/>
              </a:prstGeom>
            </p:spPr>
          </p:pic>
        </mc:Fallback>
      </mc:AlternateContent>
    </p:spTree>
    <p:extLst>
      <p:ext uri="{BB962C8B-B14F-4D97-AF65-F5344CB8AC3E}">
        <p14:creationId xmlns:p14="http://schemas.microsoft.com/office/powerpoint/2010/main" val="2446404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8F48575C-2DA9-B91B-97E6-24471EC91305}"/>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FA67A1C1-AF45-CF47-A803-FC55E0E3CB48}"/>
              </a:ext>
            </a:extLst>
          </p:cNvPr>
          <p:cNvSpPr txBox="1"/>
          <p:nvPr/>
        </p:nvSpPr>
        <p:spPr>
          <a:xfrm>
            <a:off x="4724400" y="0"/>
            <a:ext cx="10553819" cy="927946"/>
          </a:xfrm>
          <a:prstGeom prst="rect">
            <a:avLst/>
          </a:prstGeom>
        </p:spPr>
        <p:txBody>
          <a:bodyPr wrap="square" lIns="0" tIns="0" rIns="0" bIns="0" rtlCol="0" anchor="t">
            <a:spAutoFit/>
          </a:bodyPr>
          <a:lstStyle/>
          <a:p>
            <a:pPr marL="0" marR="0" lvl="0" indent="0" algn="l" defTabSz="914311" rtl="0" eaLnBrk="1" fontAlgn="auto" latinLnBrk="0" hangingPunct="1">
              <a:lnSpc>
                <a:spcPts val="8143"/>
              </a:lnSpc>
              <a:spcBef>
                <a:spcPts val="0"/>
              </a:spcBef>
              <a:spcAft>
                <a:spcPts val="0"/>
              </a:spcAft>
              <a:buClrTx/>
              <a:buSzTx/>
              <a:buFontTx/>
              <a:buNone/>
              <a:tabLst/>
              <a:defRPr/>
            </a:pPr>
            <a:r>
              <a:rPr kumimoji="0" lang="en-US" sz="4700" b="1" i="0" u="none" strike="noStrike" kern="1200" cap="none" spc="0" normalizeH="0" baseline="0" noProof="0" dirty="0">
                <a:ln>
                  <a:noFill/>
                </a:ln>
                <a:solidFill>
                  <a:srgbClr val="36E9FD"/>
                </a:solidFill>
                <a:effectLst/>
                <a:uLnTx/>
                <a:uFillTx/>
                <a:latin typeface="Montserrat Semi-Bold" panose="020B0604020202020204" charset="0"/>
                <a:ea typeface="Montserrat Semi-Bold"/>
                <a:cs typeface="Montserrat Semi-Bold"/>
                <a:sym typeface="Montserrat Semi-Bold"/>
              </a:rPr>
              <a:t>HANDLING MISSING VALUES</a:t>
            </a:r>
          </a:p>
        </p:txBody>
      </p:sp>
      <p:sp>
        <p:nvSpPr>
          <p:cNvPr id="25" name="TextBox 25">
            <a:extLst>
              <a:ext uri="{FF2B5EF4-FFF2-40B4-BE49-F238E27FC236}">
                <a16:creationId xmlns:a16="http://schemas.microsoft.com/office/drawing/2014/main" id="{27F3029B-F47F-F654-C6FE-8F1285CE27E1}"/>
              </a:ext>
            </a:extLst>
          </p:cNvPr>
          <p:cNvSpPr txBox="1"/>
          <p:nvPr/>
        </p:nvSpPr>
        <p:spPr>
          <a:xfrm>
            <a:off x="483809" y="96282"/>
            <a:ext cx="1154372" cy="394339"/>
          </a:xfrm>
          <a:prstGeom prst="rect">
            <a:avLst/>
          </a:prstGeom>
        </p:spPr>
        <p:txBody>
          <a:bodyPr lIns="0" tIns="0" rIns="0" bIns="0" rtlCol="0" anchor="t">
            <a:spAutoFit/>
          </a:bodyPr>
          <a:lstStyle/>
          <a:p>
            <a:pPr marL="0" marR="0" lvl="0" indent="0" algn="l" defTabSz="914400" rtl="0" eaLnBrk="1" fontAlgn="auto" latinLnBrk="0" hangingPunct="1">
              <a:lnSpc>
                <a:spcPts val="4057"/>
              </a:lnSpc>
              <a:spcBef>
                <a:spcPts val="0"/>
              </a:spcBef>
              <a:spcAft>
                <a:spcPts val="0"/>
              </a:spcAft>
              <a:buClrTx/>
              <a:buSzTx/>
              <a:buFontTx/>
              <a:buNone/>
              <a:tabLst/>
              <a:defRPr/>
            </a:pPr>
            <a:r>
              <a:rPr lang="en-US" sz="3145" dirty="0">
                <a:solidFill>
                  <a:srgbClr val="FFFFFF"/>
                </a:solidFill>
                <a:latin typeface="Mokoto"/>
                <a:ea typeface="Mokoto"/>
                <a:cs typeface="Mokoto"/>
                <a:sym typeface="Mokoto"/>
              </a:rPr>
              <a:t>11</a:t>
            </a:r>
            <a:endPar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endParaRPr>
          </a:p>
        </p:txBody>
      </p:sp>
      <p:sp>
        <p:nvSpPr>
          <p:cNvPr id="5" name="TextBox 4">
            <a:extLst>
              <a:ext uri="{FF2B5EF4-FFF2-40B4-BE49-F238E27FC236}">
                <a16:creationId xmlns:a16="http://schemas.microsoft.com/office/drawing/2014/main" id="{CDA13F5A-1346-5C16-3AAC-DC1AD38F8226}"/>
              </a:ext>
            </a:extLst>
          </p:cNvPr>
          <p:cNvSpPr txBox="1"/>
          <p:nvPr/>
        </p:nvSpPr>
        <p:spPr>
          <a:xfrm>
            <a:off x="1026359" y="1323568"/>
            <a:ext cx="3974281" cy="954107"/>
          </a:xfrm>
          <a:prstGeom prst="rect">
            <a:avLst/>
          </a:prstGeom>
          <a:noFill/>
        </p:spPr>
        <p:txBody>
          <a:bodyPr wrap="square" rtlCol="0">
            <a:spAutoFit/>
          </a:bodyPr>
          <a:lstStyle/>
          <a:p>
            <a:pPr marL="514350" marR="0" lvl="0" indent="-514350" algn="l" defTabSz="914311" rtl="0" eaLnBrk="1" fontAlgn="auto" latinLnBrk="0" hangingPunct="1">
              <a:lnSpc>
                <a:spcPct val="100000"/>
              </a:lnSpc>
              <a:spcBef>
                <a:spcPts val="0"/>
              </a:spcBef>
              <a:spcAft>
                <a:spcPts val="0"/>
              </a:spcAft>
              <a:buClrTx/>
              <a:buSzTx/>
              <a:buFontTx/>
              <a:buAutoNum type="arabicPeriod"/>
              <a:tabLst/>
              <a:defRPr/>
            </a:pPr>
            <a:r>
              <a:rPr kumimoji="0" lang="en-IN" sz="2800" b="1" i="0" u="sng" strike="noStrike" kern="1200" cap="none" spc="0" normalizeH="0" baseline="0" noProof="0" dirty="0">
                <a:ln>
                  <a:noFill/>
                </a:ln>
                <a:solidFill>
                  <a:srgbClr val="72F1FE"/>
                </a:solidFill>
                <a:effectLst/>
                <a:uLnTx/>
                <a:uFillTx/>
                <a:latin typeface="Calibri"/>
                <a:ea typeface="+mn-ea"/>
                <a:cs typeface="+mn-cs"/>
              </a:rPr>
              <a:t>Mean Imputation</a:t>
            </a:r>
          </a:p>
          <a:p>
            <a:pPr marL="0" marR="0" lvl="0" indent="0" algn="l" defTabSz="914311" rtl="0" eaLnBrk="1" fontAlgn="auto" latinLnBrk="0" hangingPunct="1">
              <a:lnSpc>
                <a:spcPct val="100000"/>
              </a:lnSpc>
              <a:spcBef>
                <a:spcPts val="0"/>
              </a:spcBef>
              <a:spcAft>
                <a:spcPts val="0"/>
              </a:spcAft>
              <a:buClrTx/>
              <a:buSzTx/>
              <a:buFontTx/>
              <a:buNone/>
              <a:tabLst/>
              <a:defRPr/>
            </a:pPr>
            <a:endParaRPr kumimoji="0" lang="en-IN" sz="2800" b="1" i="0" u="sng" strike="noStrike" kern="1200" cap="none" spc="0" normalizeH="0" baseline="0" noProof="0" dirty="0">
              <a:ln>
                <a:noFill/>
              </a:ln>
              <a:solidFill>
                <a:prstClr val="white"/>
              </a:solidFill>
              <a:effectLst/>
              <a:uLnTx/>
              <a:uFillTx/>
              <a:latin typeface="Calibri"/>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15" name="Ink 14">
                <a:extLst>
                  <a:ext uri="{FF2B5EF4-FFF2-40B4-BE49-F238E27FC236}">
                    <a16:creationId xmlns:a16="http://schemas.microsoft.com/office/drawing/2014/main" id="{859D360D-E6D2-AA09-409C-3F1E338A0821}"/>
                  </a:ext>
                </a:extLst>
              </p14:cNvPr>
              <p14:cNvContentPartPr/>
              <p14:nvPr/>
            </p14:nvContentPartPr>
            <p14:xfrm>
              <a:off x="15586080" y="1800622"/>
              <a:ext cx="360" cy="360"/>
            </p14:xfrm>
          </p:contentPart>
        </mc:Choice>
        <mc:Fallback xmlns="">
          <p:pic>
            <p:nvPicPr>
              <p:cNvPr id="15" name="Ink 14">
                <a:extLst>
                  <a:ext uri="{FF2B5EF4-FFF2-40B4-BE49-F238E27FC236}">
                    <a16:creationId xmlns:a16="http://schemas.microsoft.com/office/drawing/2014/main" id="{859D360D-E6D2-AA09-409C-3F1E338A0821}"/>
                  </a:ext>
                </a:extLst>
              </p:cNvPr>
              <p:cNvPicPr/>
              <p:nvPr/>
            </p:nvPicPr>
            <p:blipFill>
              <a:blip r:embed="rId3"/>
              <a:stretch>
                <a:fillRect/>
              </a:stretch>
            </p:blipFill>
            <p:spPr>
              <a:xfrm>
                <a:off x="15577080" y="179198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64D123F6-C215-F49E-03C7-886163AD2CEC}"/>
                  </a:ext>
                </a:extLst>
              </p14:cNvPr>
              <p14:cNvContentPartPr/>
              <p14:nvPr/>
            </p14:nvContentPartPr>
            <p14:xfrm>
              <a:off x="17706120" y="4322782"/>
              <a:ext cx="360" cy="360"/>
            </p14:xfrm>
          </p:contentPart>
        </mc:Choice>
        <mc:Fallback xmlns="">
          <p:pic>
            <p:nvPicPr>
              <p:cNvPr id="16" name="Ink 15">
                <a:extLst>
                  <a:ext uri="{FF2B5EF4-FFF2-40B4-BE49-F238E27FC236}">
                    <a16:creationId xmlns:a16="http://schemas.microsoft.com/office/drawing/2014/main" id="{64D123F6-C215-F49E-03C7-886163AD2CEC}"/>
                  </a:ext>
                </a:extLst>
              </p:cNvPr>
              <p:cNvPicPr/>
              <p:nvPr/>
            </p:nvPicPr>
            <p:blipFill>
              <a:blip r:embed="rId5"/>
              <a:stretch>
                <a:fillRect/>
              </a:stretch>
            </p:blipFill>
            <p:spPr>
              <a:xfrm>
                <a:off x="17697480" y="431378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9" name="Ink 48">
                <a:extLst>
                  <a:ext uri="{FF2B5EF4-FFF2-40B4-BE49-F238E27FC236}">
                    <a16:creationId xmlns:a16="http://schemas.microsoft.com/office/drawing/2014/main" id="{AC793922-3F2F-2F0A-3E78-327512D31333}"/>
                  </a:ext>
                </a:extLst>
              </p14:cNvPr>
              <p14:cNvContentPartPr/>
              <p14:nvPr/>
            </p14:nvContentPartPr>
            <p14:xfrm>
              <a:off x="1302000" y="8825302"/>
              <a:ext cx="665280" cy="360"/>
            </p14:xfrm>
          </p:contentPart>
        </mc:Choice>
        <mc:Fallback xmlns="">
          <p:pic>
            <p:nvPicPr>
              <p:cNvPr id="49" name="Ink 48">
                <a:extLst>
                  <a:ext uri="{FF2B5EF4-FFF2-40B4-BE49-F238E27FC236}">
                    <a16:creationId xmlns:a16="http://schemas.microsoft.com/office/drawing/2014/main" id="{AC793922-3F2F-2F0A-3E78-327512D31333}"/>
                  </a:ext>
                </a:extLst>
              </p:cNvPr>
              <p:cNvPicPr/>
              <p:nvPr/>
            </p:nvPicPr>
            <p:blipFill>
              <a:blip r:embed="rId7"/>
              <a:stretch>
                <a:fillRect/>
              </a:stretch>
            </p:blipFill>
            <p:spPr>
              <a:xfrm>
                <a:off x="1248000" y="8717662"/>
                <a:ext cx="7729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1" name="Ink 50">
                <a:extLst>
                  <a:ext uri="{FF2B5EF4-FFF2-40B4-BE49-F238E27FC236}">
                    <a16:creationId xmlns:a16="http://schemas.microsoft.com/office/drawing/2014/main" id="{718914DC-80AE-F8CC-A00D-9B99AB94671B}"/>
                  </a:ext>
                </a:extLst>
              </p14:cNvPr>
              <p14:cNvContentPartPr/>
              <p14:nvPr/>
            </p14:nvContentPartPr>
            <p14:xfrm>
              <a:off x="5001360" y="8810902"/>
              <a:ext cx="693000" cy="14760"/>
            </p14:xfrm>
          </p:contentPart>
        </mc:Choice>
        <mc:Fallback xmlns="">
          <p:pic>
            <p:nvPicPr>
              <p:cNvPr id="51" name="Ink 50">
                <a:extLst>
                  <a:ext uri="{FF2B5EF4-FFF2-40B4-BE49-F238E27FC236}">
                    <a16:creationId xmlns:a16="http://schemas.microsoft.com/office/drawing/2014/main" id="{718914DC-80AE-F8CC-A00D-9B99AB94671B}"/>
                  </a:ext>
                </a:extLst>
              </p:cNvPr>
              <p:cNvPicPr/>
              <p:nvPr/>
            </p:nvPicPr>
            <p:blipFill>
              <a:blip r:embed="rId9"/>
              <a:stretch>
                <a:fillRect/>
              </a:stretch>
            </p:blipFill>
            <p:spPr>
              <a:xfrm>
                <a:off x="4947360" y="8703262"/>
                <a:ext cx="800640" cy="230400"/>
              </a:xfrm>
              <a:prstGeom prst="rect">
                <a:avLst/>
              </a:prstGeom>
            </p:spPr>
          </p:pic>
        </mc:Fallback>
      </mc:AlternateContent>
      <p:pic>
        <p:nvPicPr>
          <p:cNvPr id="11" name="Picture 10">
            <a:extLst>
              <a:ext uri="{FF2B5EF4-FFF2-40B4-BE49-F238E27FC236}">
                <a16:creationId xmlns:a16="http://schemas.microsoft.com/office/drawing/2014/main" id="{47C06E96-B346-41A7-7436-E23A95E151C2}"/>
              </a:ext>
            </a:extLst>
          </p:cNvPr>
          <p:cNvPicPr>
            <a:picLocks noChangeAspect="1"/>
          </p:cNvPicPr>
          <p:nvPr/>
        </p:nvPicPr>
        <p:blipFill>
          <a:blip r:embed="rId10"/>
          <a:stretch>
            <a:fillRect/>
          </a:stretch>
        </p:blipFill>
        <p:spPr>
          <a:xfrm>
            <a:off x="1448520" y="2020020"/>
            <a:ext cx="12191280" cy="7619280"/>
          </a:xfrm>
          <a:prstGeom prst="rect">
            <a:avLst/>
          </a:prstGeom>
        </p:spPr>
      </p:pic>
    </p:spTree>
    <p:extLst>
      <p:ext uri="{BB962C8B-B14F-4D97-AF65-F5344CB8AC3E}">
        <p14:creationId xmlns:p14="http://schemas.microsoft.com/office/powerpoint/2010/main" val="604637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6107AA8A-9EAD-464B-6584-BC3EB0C100F2}"/>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FD3C4F9B-FFBB-DFE9-F6FE-67F8E838CE7D}"/>
              </a:ext>
            </a:extLst>
          </p:cNvPr>
          <p:cNvSpPr txBox="1"/>
          <p:nvPr/>
        </p:nvSpPr>
        <p:spPr>
          <a:xfrm>
            <a:off x="4724400" y="0"/>
            <a:ext cx="10553819" cy="927946"/>
          </a:xfrm>
          <a:prstGeom prst="rect">
            <a:avLst/>
          </a:prstGeom>
        </p:spPr>
        <p:txBody>
          <a:bodyPr wrap="square" lIns="0" tIns="0" rIns="0" bIns="0" rtlCol="0" anchor="t">
            <a:spAutoFit/>
          </a:bodyPr>
          <a:lstStyle/>
          <a:p>
            <a:pPr marL="0" marR="0" lvl="0" indent="0" algn="l" defTabSz="914311" rtl="0" eaLnBrk="1" fontAlgn="auto" latinLnBrk="0" hangingPunct="1">
              <a:lnSpc>
                <a:spcPts val="8143"/>
              </a:lnSpc>
              <a:spcBef>
                <a:spcPts val="0"/>
              </a:spcBef>
              <a:spcAft>
                <a:spcPts val="0"/>
              </a:spcAft>
              <a:buClrTx/>
              <a:buSzTx/>
              <a:buFontTx/>
              <a:buNone/>
              <a:tabLst/>
              <a:defRPr/>
            </a:pPr>
            <a:r>
              <a:rPr kumimoji="0" lang="en-US" sz="4700" b="1" i="0" u="none" strike="noStrike" kern="1200" cap="none" spc="0" normalizeH="0" baseline="0" noProof="0" dirty="0">
                <a:ln>
                  <a:noFill/>
                </a:ln>
                <a:solidFill>
                  <a:srgbClr val="36E9FD"/>
                </a:solidFill>
                <a:effectLst/>
                <a:uLnTx/>
                <a:uFillTx/>
                <a:latin typeface="Montserrat Semi-Bold" panose="020B0604020202020204" charset="0"/>
                <a:ea typeface="Montserrat Semi-Bold"/>
                <a:cs typeface="Montserrat Semi-Bold"/>
                <a:sym typeface="Montserrat Semi-Bold"/>
              </a:rPr>
              <a:t>HANDLING MISSING VALUES</a:t>
            </a:r>
          </a:p>
        </p:txBody>
      </p:sp>
      <p:sp>
        <p:nvSpPr>
          <p:cNvPr id="25" name="TextBox 25">
            <a:extLst>
              <a:ext uri="{FF2B5EF4-FFF2-40B4-BE49-F238E27FC236}">
                <a16:creationId xmlns:a16="http://schemas.microsoft.com/office/drawing/2014/main" id="{C2212A75-0978-7530-F709-231BCAB118F1}"/>
              </a:ext>
            </a:extLst>
          </p:cNvPr>
          <p:cNvSpPr txBox="1"/>
          <p:nvPr/>
        </p:nvSpPr>
        <p:spPr>
          <a:xfrm>
            <a:off x="483809" y="96282"/>
            <a:ext cx="1154372" cy="394339"/>
          </a:xfrm>
          <a:prstGeom prst="rect">
            <a:avLst/>
          </a:prstGeom>
        </p:spPr>
        <p:txBody>
          <a:bodyPr lIns="0" tIns="0" rIns="0" bIns="0" rtlCol="0" anchor="t">
            <a:spAutoFit/>
          </a:bodyPr>
          <a:lstStyle/>
          <a:p>
            <a:pPr marL="0" marR="0" lvl="0" indent="0" algn="l" defTabSz="914400" rtl="0" eaLnBrk="1" fontAlgn="auto" latinLnBrk="0" hangingPunct="1">
              <a:lnSpc>
                <a:spcPts val="4057"/>
              </a:lnSpc>
              <a:spcBef>
                <a:spcPts val="0"/>
              </a:spcBef>
              <a:spcAft>
                <a:spcPts val="0"/>
              </a:spcAft>
              <a:buClrTx/>
              <a:buSzTx/>
              <a:buFontTx/>
              <a:buNone/>
              <a:tabLst/>
              <a:defRPr/>
            </a:pPr>
            <a:r>
              <a:rPr lang="en-US" sz="3145" dirty="0">
                <a:solidFill>
                  <a:srgbClr val="FFFFFF"/>
                </a:solidFill>
                <a:latin typeface="Mokoto"/>
                <a:ea typeface="Mokoto"/>
                <a:cs typeface="Mokoto"/>
                <a:sym typeface="Mokoto"/>
              </a:rPr>
              <a:t>12</a:t>
            </a:r>
            <a:endPar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endParaRPr>
          </a:p>
        </p:txBody>
      </p:sp>
      <p:sp>
        <p:nvSpPr>
          <p:cNvPr id="5" name="TextBox 4">
            <a:extLst>
              <a:ext uri="{FF2B5EF4-FFF2-40B4-BE49-F238E27FC236}">
                <a16:creationId xmlns:a16="http://schemas.microsoft.com/office/drawing/2014/main" id="{AC2C9835-7B4E-2DDF-1903-4C72C77A8C21}"/>
              </a:ext>
            </a:extLst>
          </p:cNvPr>
          <p:cNvSpPr txBox="1"/>
          <p:nvPr/>
        </p:nvSpPr>
        <p:spPr>
          <a:xfrm>
            <a:off x="562231" y="1279938"/>
            <a:ext cx="11439388" cy="954107"/>
          </a:xfrm>
          <a:prstGeom prst="rect">
            <a:avLst/>
          </a:prstGeom>
          <a:noFill/>
        </p:spPr>
        <p:txBody>
          <a:bodyPr wrap="square" rtlCol="0">
            <a:spAutoFit/>
          </a:bodyPr>
          <a:lstStyle/>
          <a:p>
            <a:pPr marL="514350" marR="0" lvl="0" indent="-514350" algn="l" defTabSz="914311" rtl="0" eaLnBrk="1" fontAlgn="auto" latinLnBrk="0" hangingPunct="1">
              <a:lnSpc>
                <a:spcPct val="100000"/>
              </a:lnSpc>
              <a:spcBef>
                <a:spcPts val="0"/>
              </a:spcBef>
              <a:spcAft>
                <a:spcPts val="0"/>
              </a:spcAft>
              <a:buClrTx/>
              <a:buSzTx/>
              <a:buFontTx/>
              <a:buAutoNum type="arabicPeriod"/>
              <a:tabLst/>
              <a:defRPr/>
            </a:pPr>
            <a:r>
              <a:rPr kumimoji="0" lang="en-IN" sz="2800" b="1" i="0" u="sng" strike="noStrike" kern="1200" cap="none" spc="0" normalizeH="0" baseline="0" noProof="0" dirty="0">
                <a:ln>
                  <a:noFill/>
                </a:ln>
                <a:solidFill>
                  <a:srgbClr val="72F1FE"/>
                </a:solidFill>
                <a:effectLst/>
                <a:uLnTx/>
                <a:uFillTx/>
                <a:latin typeface="Calibri"/>
                <a:ea typeface="+mn-ea"/>
                <a:cs typeface="+mn-cs"/>
              </a:rPr>
              <a:t>Mean Imputation</a:t>
            </a:r>
          </a:p>
          <a:p>
            <a:pPr marL="0" marR="0" lvl="0" indent="0" algn="l" defTabSz="914311" rtl="0" eaLnBrk="1" fontAlgn="auto" latinLnBrk="0" hangingPunct="1">
              <a:lnSpc>
                <a:spcPct val="100000"/>
              </a:lnSpc>
              <a:spcBef>
                <a:spcPts val="0"/>
              </a:spcBef>
              <a:spcAft>
                <a:spcPts val="0"/>
              </a:spcAft>
              <a:buClrTx/>
              <a:buSzTx/>
              <a:buFontTx/>
              <a:buNone/>
              <a:tabLst/>
              <a:defRPr/>
            </a:pPr>
            <a:endParaRPr kumimoji="0" lang="en-IN" sz="2800" b="1" i="0" u="sng" strike="noStrike" kern="1200" cap="none" spc="0" normalizeH="0" baseline="0" noProof="0" dirty="0">
              <a:ln>
                <a:noFill/>
              </a:ln>
              <a:solidFill>
                <a:prstClr val="white"/>
              </a:solidFill>
              <a:effectLst/>
              <a:uLnTx/>
              <a:uFillTx/>
              <a:latin typeface="Calibri"/>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15" name="Ink 14">
                <a:extLst>
                  <a:ext uri="{FF2B5EF4-FFF2-40B4-BE49-F238E27FC236}">
                    <a16:creationId xmlns:a16="http://schemas.microsoft.com/office/drawing/2014/main" id="{D6AF431D-4B52-8BD7-4923-05CEAC854D3C}"/>
                  </a:ext>
                </a:extLst>
              </p14:cNvPr>
              <p14:cNvContentPartPr/>
              <p14:nvPr/>
            </p14:nvContentPartPr>
            <p14:xfrm>
              <a:off x="15586080" y="1800622"/>
              <a:ext cx="360" cy="360"/>
            </p14:xfrm>
          </p:contentPart>
        </mc:Choice>
        <mc:Fallback xmlns="">
          <p:pic>
            <p:nvPicPr>
              <p:cNvPr id="15" name="Ink 14">
                <a:extLst>
                  <a:ext uri="{FF2B5EF4-FFF2-40B4-BE49-F238E27FC236}">
                    <a16:creationId xmlns:a16="http://schemas.microsoft.com/office/drawing/2014/main" id="{D6AF431D-4B52-8BD7-4923-05CEAC854D3C}"/>
                  </a:ext>
                </a:extLst>
              </p:cNvPr>
              <p:cNvPicPr/>
              <p:nvPr/>
            </p:nvPicPr>
            <p:blipFill>
              <a:blip r:embed="rId3"/>
              <a:stretch>
                <a:fillRect/>
              </a:stretch>
            </p:blipFill>
            <p:spPr>
              <a:xfrm>
                <a:off x="15577080" y="179198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90723E47-7C70-0663-68D1-5570DB8C9A88}"/>
                  </a:ext>
                </a:extLst>
              </p14:cNvPr>
              <p14:cNvContentPartPr/>
              <p14:nvPr/>
            </p14:nvContentPartPr>
            <p14:xfrm>
              <a:off x="17706120" y="4322782"/>
              <a:ext cx="360" cy="360"/>
            </p14:xfrm>
          </p:contentPart>
        </mc:Choice>
        <mc:Fallback xmlns="">
          <p:pic>
            <p:nvPicPr>
              <p:cNvPr id="16" name="Ink 15">
                <a:extLst>
                  <a:ext uri="{FF2B5EF4-FFF2-40B4-BE49-F238E27FC236}">
                    <a16:creationId xmlns:a16="http://schemas.microsoft.com/office/drawing/2014/main" id="{90723E47-7C70-0663-68D1-5570DB8C9A88}"/>
                  </a:ext>
                </a:extLst>
              </p:cNvPr>
              <p:cNvPicPr/>
              <p:nvPr/>
            </p:nvPicPr>
            <p:blipFill>
              <a:blip r:embed="rId5"/>
              <a:stretch>
                <a:fillRect/>
              </a:stretch>
            </p:blipFill>
            <p:spPr>
              <a:xfrm>
                <a:off x="17697480" y="431378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9" name="Ink 48">
                <a:extLst>
                  <a:ext uri="{FF2B5EF4-FFF2-40B4-BE49-F238E27FC236}">
                    <a16:creationId xmlns:a16="http://schemas.microsoft.com/office/drawing/2014/main" id="{E46CC53F-3D3E-CAFB-45AD-7E2D295E5E85}"/>
                  </a:ext>
                </a:extLst>
              </p14:cNvPr>
              <p14:cNvContentPartPr/>
              <p14:nvPr/>
            </p14:nvContentPartPr>
            <p14:xfrm>
              <a:off x="1302000" y="8825302"/>
              <a:ext cx="665280" cy="360"/>
            </p14:xfrm>
          </p:contentPart>
        </mc:Choice>
        <mc:Fallback xmlns="">
          <p:pic>
            <p:nvPicPr>
              <p:cNvPr id="49" name="Ink 48">
                <a:extLst>
                  <a:ext uri="{FF2B5EF4-FFF2-40B4-BE49-F238E27FC236}">
                    <a16:creationId xmlns:a16="http://schemas.microsoft.com/office/drawing/2014/main" id="{E46CC53F-3D3E-CAFB-45AD-7E2D295E5E85}"/>
                  </a:ext>
                </a:extLst>
              </p:cNvPr>
              <p:cNvPicPr/>
              <p:nvPr/>
            </p:nvPicPr>
            <p:blipFill>
              <a:blip r:embed="rId7"/>
              <a:stretch>
                <a:fillRect/>
              </a:stretch>
            </p:blipFill>
            <p:spPr>
              <a:xfrm>
                <a:off x="1248000" y="8717662"/>
                <a:ext cx="7729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1" name="Ink 50">
                <a:extLst>
                  <a:ext uri="{FF2B5EF4-FFF2-40B4-BE49-F238E27FC236}">
                    <a16:creationId xmlns:a16="http://schemas.microsoft.com/office/drawing/2014/main" id="{5730AF84-8E37-1C1E-409D-289A9F80EE34}"/>
                  </a:ext>
                </a:extLst>
              </p14:cNvPr>
              <p14:cNvContentPartPr/>
              <p14:nvPr/>
            </p14:nvContentPartPr>
            <p14:xfrm>
              <a:off x="5001360" y="8810902"/>
              <a:ext cx="693000" cy="14760"/>
            </p14:xfrm>
          </p:contentPart>
        </mc:Choice>
        <mc:Fallback xmlns="">
          <p:pic>
            <p:nvPicPr>
              <p:cNvPr id="51" name="Ink 50">
                <a:extLst>
                  <a:ext uri="{FF2B5EF4-FFF2-40B4-BE49-F238E27FC236}">
                    <a16:creationId xmlns:a16="http://schemas.microsoft.com/office/drawing/2014/main" id="{5730AF84-8E37-1C1E-409D-289A9F80EE34}"/>
                  </a:ext>
                </a:extLst>
              </p:cNvPr>
              <p:cNvPicPr/>
              <p:nvPr/>
            </p:nvPicPr>
            <p:blipFill>
              <a:blip r:embed="rId9"/>
              <a:stretch>
                <a:fillRect/>
              </a:stretch>
            </p:blipFill>
            <p:spPr>
              <a:xfrm>
                <a:off x="4947360" y="8703262"/>
                <a:ext cx="800640" cy="230400"/>
              </a:xfrm>
              <a:prstGeom prst="rect">
                <a:avLst/>
              </a:prstGeom>
            </p:spPr>
          </p:pic>
        </mc:Fallback>
      </mc:AlternateContent>
      <p:pic>
        <p:nvPicPr>
          <p:cNvPr id="22" name="Picture 21">
            <a:extLst>
              <a:ext uri="{FF2B5EF4-FFF2-40B4-BE49-F238E27FC236}">
                <a16:creationId xmlns:a16="http://schemas.microsoft.com/office/drawing/2014/main" id="{E67F76B0-55D3-C9DB-BF29-DE1E1C3C4A18}"/>
              </a:ext>
            </a:extLst>
          </p:cNvPr>
          <p:cNvPicPr>
            <a:picLocks noChangeAspect="1"/>
          </p:cNvPicPr>
          <p:nvPr/>
        </p:nvPicPr>
        <p:blipFill>
          <a:blip r:embed="rId10"/>
          <a:stretch>
            <a:fillRect/>
          </a:stretch>
        </p:blipFill>
        <p:spPr>
          <a:xfrm>
            <a:off x="562232" y="2043773"/>
            <a:ext cx="5457568" cy="6119158"/>
          </a:xfrm>
          <a:prstGeom prst="rect">
            <a:avLst/>
          </a:prstGeom>
        </p:spPr>
      </p:pic>
      <p:pic>
        <p:nvPicPr>
          <p:cNvPr id="26" name="Picture 25">
            <a:extLst>
              <a:ext uri="{FF2B5EF4-FFF2-40B4-BE49-F238E27FC236}">
                <a16:creationId xmlns:a16="http://schemas.microsoft.com/office/drawing/2014/main" id="{8C96DD44-C33A-DBB9-048A-23DBA8B2D55C}"/>
              </a:ext>
            </a:extLst>
          </p:cNvPr>
          <p:cNvPicPr>
            <a:picLocks noChangeAspect="1"/>
          </p:cNvPicPr>
          <p:nvPr/>
        </p:nvPicPr>
        <p:blipFill>
          <a:blip r:embed="rId11"/>
          <a:stretch>
            <a:fillRect/>
          </a:stretch>
        </p:blipFill>
        <p:spPr>
          <a:xfrm>
            <a:off x="6534256" y="2043773"/>
            <a:ext cx="5457568" cy="6119158"/>
          </a:xfrm>
          <a:prstGeom prst="rect">
            <a:avLst/>
          </a:prstGeom>
        </p:spPr>
      </p:pic>
      <p:pic>
        <p:nvPicPr>
          <p:cNvPr id="28" name="Picture 27">
            <a:extLst>
              <a:ext uri="{FF2B5EF4-FFF2-40B4-BE49-F238E27FC236}">
                <a16:creationId xmlns:a16="http://schemas.microsoft.com/office/drawing/2014/main" id="{FF3D8E65-EFA3-EF37-90E1-6D6932B6DA47}"/>
              </a:ext>
            </a:extLst>
          </p:cNvPr>
          <p:cNvPicPr>
            <a:picLocks noChangeAspect="1"/>
          </p:cNvPicPr>
          <p:nvPr/>
        </p:nvPicPr>
        <p:blipFill>
          <a:blip r:embed="rId12"/>
          <a:stretch>
            <a:fillRect/>
          </a:stretch>
        </p:blipFill>
        <p:spPr>
          <a:xfrm>
            <a:off x="12471644" y="2043773"/>
            <a:ext cx="5455768" cy="6118798"/>
          </a:xfrm>
          <a:prstGeom prst="rect">
            <a:avLst/>
          </a:prstGeom>
        </p:spPr>
      </p:pic>
    </p:spTree>
    <p:extLst>
      <p:ext uri="{BB962C8B-B14F-4D97-AF65-F5344CB8AC3E}">
        <p14:creationId xmlns:p14="http://schemas.microsoft.com/office/powerpoint/2010/main" val="2186649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03F69F1B-B143-1761-0C19-DC446C84F176}"/>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30FDE5EC-5D40-FC30-0F6D-044A4138207E}"/>
              </a:ext>
            </a:extLst>
          </p:cNvPr>
          <p:cNvSpPr txBox="1"/>
          <p:nvPr/>
        </p:nvSpPr>
        <p:spPr>
          <a:xfrm>
            <a:off x="4419600" y="13302"/>
            <a:ext cx="10553819" cy="927946"/>
          </a:xfrm>
          <a:prstGeom prst="rect">
            <a:avLst/>
          </a:prstGeom>
        </p:spPr>
        <p:txBody>
          <a:bodyPr wrap="square" lIns="0" tIns="0" rIns="0" bIns="0" rtlCol="0" anchor="t">
            <a:spAutoFit/>
          </a:bodyPr>
          <a:lstStyle/>
          <a:p>
            <a:pPr defTabSz="914400">
              <a:lnSpc>
                <a:spcPts val="8143"/>
              </a:lnSpc>
              <a:defRPr/>
            </a:pPr>
            <a:r>
              <a:rPr lang="en-US" sz="4700" b="1" dirty="0">
                <a:solidFill>
                  <a:srgbClr val="36E9FD"/>
                </a:solidFill>
                <a:latin typeface="Montserrat Semi-Bold" panose="020B0604020202020204" charset="0"/>
                <a:ea typeface="Montserrat Semi-Bold"/>
                <a:cs typeface="Montserrat Semi-Bold"/>
                <a:sym typeface="Montserrat Semi-Bold"/>
              </a:rPr>
              <a:t>HANDLING MISSING VALUES</a:t>
            </a:r>
          </a:p>
        </p:txBody>
      </p:sp>
      <p:sp>
        <p:nvSpPr>
          <p:cNvPr id="25" name="TextBox 25">
            <a:extLst>
              <a:ext uri="{FF2B5EF4-FFF2-40B4-BE49-F238E27FC236}">
                <a16:creationId xmlns:a16="http://schemas.microsoft.com/office/drawing/2014/main" id="{4C2E4886-DA6D-D1A6-8678-EC16C60318F2}"/>
              </a:ext>
            </a:extLst>
          </p:cNvPr>
          <p:cNvSpPr txBox="1"/>
          <p:nvPr/>
        </p:nvSpPr>
        <p:spPr>
          <a:xfrm>
            <a:off x="483809" y="96282"/>
            <a:ext cx="1154372" cy="394339"/>
          </a:xfrm>
          <a:prstGeom prst="rect">
            <a:avLst/>
          </a:prstGeom>
        </p:spPr>
        <p:txBody>
          <a:bodyPr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13</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63034F6-0EC9-8FBE-C277-C862DD6DBE32}"/>
                  </a:ext>
                </a:extLst>
              </p:cNvPr>
              <p:cNvSpPr txBox="1"/>
              <p:nvPr/>
            </p:nvSpPr>
            <p:spPr>
              <a:xfrm>
                <a:off x="3886200" y="1558159"/>
                <a:ext cx="10225755" cy="7601568"/>
              </a:xfrm>
              <a:prstGeom prst="rect">
                <a:avLst/>
              </a:prstGeom>
              <a:noFill/>
            </p:spPr>
            <p:txBody>
              <a:bodyPr wrap="square" rtlCol="0">
                <a:spAutoFit/>
              </a:bodyPr>
              <a:lstStyle/>
              <a:p>
                <a:pPr defTabSz="914400">
                  <a:defRPr/>
                </a:pPr>
                <a:r>
                  <a:rPr lang="en-IN" sz="2800" b="1" dirty="0">
                    <a:solidFill>
                      <a:srgbClr val="72F1FE"/>
                    </a:solidFill>
                    <a:latin typeface="Calibri"/>
                  </a:rPr>
                  <a:t>2. </a:t>
                </a:r>
                <a:r>
                  <a:rPr lang="en-IN" sz="2800" b="1" u="sng" dirty="0">
                    <a:solidFill>
                      <a:srgbClr val="72F1FE"/>
                    </a:solidFill>
                    <a:latin typeface="Calibri"/>
                  </a:rPr>
                  <a:t>KNN Model based Imputation</a:t>
                </a:r>
              </a:p>
              <a:p>
                <a:pPr defTabSz="914400">
                  <a:defRPr/>
                </a:pPr>
                <a:endParaRPr lang="en-IN" sz="2800" b="1" u="sng" dirty="0">
                  <a:solidFill>
                    <a:prstClr val="white"/>
                  </a:solidFill>
                  <a:latin typeface="Calibri"/>
                </a:endParaRPr>
              </a:p>
              <a:p>
                <a:pPr marL="457200" indent="-457200">
                  <a:buFont typeface="Wingdings" panose="05000000000000000000" pitchFamily="2" charset="2"/>
                  <a:buChar char="v"/>
                </a:pPr>
                <a:r>
                  <a:rPr lang="en-IN" sz="2800" dirty="0">
                    <a:solidFill>
                      <a:schemeClr val="bg1"/>
                    </a:solidFill>
                  </a:rPr>
                  <a:t>Missing values are estimated using nearest neighbouring samples.</a:t>
                </a:r>
              </a:p>
              <a:p>
                <a:pPr marL="457200" indent="-457200">
                  <a:buFont typeface="Wingdings" panose="05000000000000000000" pitchFamily="2" charset="2"/>
                  <a:buChar char="v"/>
                </a:pPr>
                <a:r>
                  <a:rPr lang="en-IN" sz="2800" b="1" dirty="0">
                    <a:solidFill>
                      <a:schemeClr val="bg1"/>
                    </a:solidFill>
                  </a:rPr>
                  <a:t>Procedure</a:t>
                </a:r>
              </a:p>
              <a:p>
                <a:pPr lvl="1"/>
                <a:r>
                  <a:rPr lang="en-IN" sz="2800" dirty="0">
                    <a:solidFill>
                      <a:schemeClr val="bg1"/>
                    </a:solidFill>
                  </a:rPr>
                  <a:t>Find k nearest samples </a:t>
                </a:r>
              </a:p>
              <a:p>
                <a:pPr lvl="1"/>
                <a:r>
                  <a:rPr lang="en-IN" sz="2800" dirty="0">
                    <a:solidFill>
                      <a:schemeClr val="bg1"/>
                    </a:solidFill>
                  </a:rPr>
                  <a:t>Compute average of </a:t>
                </a:r>
                <a:r>
                  <a:rPr lang="en-IN" sz="2800" dirty="0" err="1">
                    <a:solidFill>
                      <a:schemeClr val="bg1"/>
                    </a:solidFill>
                  </a:rPr>
                  <a:t>neighbors</a:t>
                </a:r>
                <a:r>
                  <a:rPr lang="en-IN" sz="2800" dirty="0">
                    <a:solidFill>
                      <a:schemeClr val="bg1"/>
                    </a:solidFill>
                  </a:rPr>
                  <a:t> </a:t>
                </a:r>
              </a:p>
              <a:p>
                <a:pPr lvl="1"/>
                <a:r>
                  <a:rPr lang="en-IN" sz="2800" dirty="0">
                    <a:solidFill>
                      <a:schemeClr val="bg1"/>
                    </a:solidFill>
                  </a:rPr>
                  <a:t>Replace missing value </a:t>
                </a:r>
              </a:p>
              <a:p>
                <a:pPr marL="457200" indent="-457200">
                  <a:buFont typeface="Wingdings" panose="05000000000000000000" pitchFamily="2" charset="2"/>
                  <a:buChar char="v"/>
                </a:pPr>
                <a:r>
                  <a:rPr lang="en-IN" sz="2800" b="1" dirty="0">
                    <a:solidFill>
                      <a:schemeClr val="bg1"/>
                    </a:solidFill>
                  </a:rPr>
                  <a:t>Formula</a:t>
                </a:r>
                <a:endParaRPr lang="en-IN" sz="2400" b="1" dirty="0">
                  <a:solidFill>
                    <a:schemeClr val="bg1"/>
                  </a:solidFill>
                </a:endParaRPr>
              </a:p>
              <a:p>
                <a:pPr/>
                <a14:m>
                  <m:oMathPara xmlns:m="http://schemas.openxmlformats.org/officeDocument/2006/math">
                    <m:oMathParaPr>
                      <m:jc m:val="centerGroup"/>
                    </m:oMathParaPr>
                    <m:oMath xmlns:m="http://schemas.openxmlformats.org/officeDocument/2006/math">
                      <m:sSub>
                        <m:sSubPr>
                          <m:ctrlPr>
                            <a:rPr lang="ar-AE" sz="2400" i="1">
                              <a:solidFill>
                                <a:schemeClr val="bg1"/>
                              </a:solidFill>
                              <a:latin typeface="Cambria Math" panose="02040503050406030204" pitchFamily="18" charset="0"/>
                            </a:rPr>
                          </m:ctrlPr>
                        </m:sSubPr>
                        <m:e>
                          <m:r>
                            <a:rPr lang="ar-AE" sz="2400" i="1">
                              <a:solidFill>
                                <a:schemeClr val="bg1"/>
                              </a:solidFill>
                              <a:latin typeface="Cambria Math" panose="02040503050406030204" pitchFamily="18" charset="0"/>
                            </a:rPr>
                            <m:t>𝑥</m:t>
                          </m:r>
                        </m:e>
                        <m:sub>
                          <m:r>
                            <a:rPr lang="ar-AE" sz="2400" i="1">
                              <a:solidFill>
                                <a:schemeClr val="bg1"/>
                              </a:solidFill>
                              <a:latin typeface="Cambria Math" panose="02040503050406030204" pitchFamily="18" charset="0"/>
                            </a:rPr>
                            <m:t>𝑚𝑖𝑠𝑠𝑖𝑛𝑔</m:t>
                          </m:r>
                        </m:sub>
                      </m:sSub>
                      <m:r>
                        <a:rPr lang="ar-AE" sz="2400">
                          <a:solidFill>
                            <a:schemeClr val="bg1"/>
                          </a:solidFill>
                          <a:latin typeface="Cambria Math" panose="02040503050406030204" pitchFamily="18" charset="0"/>
                        </a:rPr>
                        <m:t>=</m:t>
                      </m:r>
                      <m:f>
                        <m:fPr>
                          <m:ctrlPr>
                            <a:rPr lang="ar-AE" sz="2400" i="1">
                              <a:solidFill>
                                <a:schemeClr val="bg1"/>
                              </a:solidFill>
                              <a:latin typeface="Cambria Math" panose="02040503050406030204" pitchFamily="18" charset="0"/>
                            </a:rPr>
                          </m:ctrlPr>
                        </m:fPr>
                        <m:num>
                          <m:r>
                            <a:rPr lang="ar-AE" sz="2400">
                              <a:solidFill>
                                <a:schemeClr val="bg1"/>
                              </a:solidFill>
                              <a:latin typeface="Cambria Math" panose="02040503050406030204" pitchFamily="18" charset="0"/>
                            </a:rPr>
                            <m:t>1</m:t>
                          </m:r>
                        </m:num>
                        <m:den>
                          <m:r>
                            <a:rPr lang="ar-AE" sz="2400" i="1">
                              <a:solidFill>
                                <a:schemeClr val="bg1"/>
                              </a:solidFill>
                              <a:latin typeface="Cambria Math" panose="02040503050406030204" pitchFamily="18" charset="0"/>
                            </a:rPr>
                            <m:t>𝑘</m:t>
                          </m:r>
                        </m:den>
                      </m:f>
                      <m:nary>
                        <m:naryPr>
                          <m:chr m:val="∑"/>
                          <m:grow m:val="on"/>
                          <m:ctrlPr>
                            <a:rPr lang="ar-AE" sz="2400" i="1">
                              <a:solidFill>
                                <a:schemeClr val="bg1"/>
                              </a:solidFill>
                              <a:latin typeface="Cambria Math" panose="02040503050406030204" pitchFamily="18" charset="0"/>
                            </a:rPr>
                          </m:ctrlPr>
                        </m:naryPr>
                        <m:sub>
                          <m:r>
                            <a:rPr lang="ar-AE" sz="2400" i="1">
                              <a:solidFill>
                                <a:schemeClr val="bg1"/>
                              </a:solidFill>
                              <a:latin typeface="Cambria Math" panose="02040503050406030204" pitchFamily="18" charset="0"/>
                            </a:rPr>
                            <m:t>𝑖</m:t>
                          </m:r>
                          <m:r>
                            <a:rPr lang="ar-AE" sz="2400">
                              <a:solidFill>
                                <a:schemeClr val="bg1"/>
                              </a:solidFill>
                              <a:latin typeface="Cambria Math" panose="02040503050406030204" pitchFamily="18" charset="0"/>
                            </a:rPr>
                            <m:t>=</m:t>
                          </m:r>
                          <m:r>
                            <a:rPr lang="ar-AE" sz="2400">
                              <a:solidFill>
                                <a:schemeClr val="bg1"/>
                              </a:solidFill>
                              <a:latin typeface="Cambria Math" panose="02040503050406030204" pitchFamily="18" charset="0"/>
                            </a:rPr>
                            <m:t>1</m:t>
                          </m:r>
                        </m:sub>
                        <m:sup>
                          <m:r>
                            <a:rPr lang="ar-AE" sz="2400" i="1">
                              <a:solidFill>
                                <a:schemeClr val="bg1"/>
                              </a:solidFill>
                              <a:latin typeface="Cambria Math" panose="02040503050406030204" pitchFamily="18" charset="0"/>
                            </a:rPr>
                            <m:t>𝑘</m:t>
                          </m:r>
                        </m:sup>
                        <m:e>
                          <m:sSub>
                            <m:sSubPr>
                              <m:ctrlPr>
                                <a:rPr lang="ar-AE" sz="2400" i="1">
                                  <a:solidFill>
                                    <a:schemeClr val="bg1"/>
                                  </a:solidFill>
                                  <a:latin typeface="Cambria Math" panose="02040503050406030204" pitchFamily="18" charset="0"/>
                                </a:rPr>
                              </m:ctrlPr>
                            </m:sSubPr>
                            <m:e>
                              <m:r>
                                <a:rPr lang="ar-AE" sz="2400" i="1">
                                  <a:solidFill>
                                    <a:schemeClr val="bg1"/>
                                  </a:solidFill>
                                  <a:latin typeface="Cambria Math" panose="02040503050406030204" pitchFamily="18" charset="0"/>
                                </a:rPr>
                                <m:t>𝑥</m:t>
                              </m:r>
                            </m:e>
                            <m:sub>
                              <m:r>
                                <a:rPr lang="ar-AE" sz="2400" i="1">
                                  <a:solidFill>
                                    <a:schemeClr val="bg1"/>
                                  </a:solidFill>
                                  <a:latin typeface="Cambria Math" panose="02040503050406030204" pitchFamily="18" charset="0"/>
                                </a:rPr>
                                <m:t>𝑖</m:t>
                              </m:r>
                            </m:sub>
                          </m:sSub>
                        </m:e>
                      </m:nary>
                    </m:oMath>
                  </m:oMathPara>
                </a14:m>
                <a:endParaRPr lang="ar-AE" sz="2400" dirty="0">
                  <a:solidFill>
                    <a:schemeClr val="bg1"/>
                  </a:solidFill>
                </a:endParaRPr>
              </a:p>
              <a:p>
                <a:pPr marL="457200" indent="-457200">
                  <a:buFont typeface="Wingdings" panose="05000000000000000000" pitchFamily="2" charset="2"/>
                  <a:buChar char="v"/>
                </a:pPr>
                <a:r>
                  <a:rPr lang="en-IN" sz="2800" b="1" dirty="0">
                    <a:solidFill>
                      <a:schemeClr val="bg1"/>
                    </a:solidFill>
                  </a:rPr>
                  <a:t>Advantages</a:t>
                </a:r>
              </a:p>
              <a:p>
                <a:pPr lvl="1"/>
                <a:r>
                  <a:rPr lang="en-IN" sz="2800" dirty="0">
                    <a:solidFill>
                      <a:schemeClr val="bg1"/>
                    </a:solidFill>
                  </a:rPr>
                  <a:t>Preserves local structure </a:t>
                </a:r>
              </a:p>
              <a:p>
                <a:pPr lvl="1"/>
                <a:r>
                  <a:rPr lang="en-IN" sz="2800" dirty="0">
                    <a:solidFill>
                      <a:schemeClr val="bg1"/>
                    </a:solidFill>
                  </a:rPr>
                  <a:t>More accurate than mean imputation </a:t>
                </a:r>
              </a:p>
              <a:p>
                <a:pPr lvl="1"/>
                <a:endParaRPr lang="en-IN" sz="2800" dirty="0">
                  <a:solidFill>
                    <a:schemeClr val="bg1"/>
                  </a:solidFill>
                </a:endParaRPr>
              </a:p>
              <a:p>
                <a:pPr marL="457200" indent="-457200">
                  <a:buFont typeface="Wingdings" panose="05000000000000000000" pitchFamily="2" charset="2"/>
                  <a:buChar char="v"/>
                </a:pPr>
                <a:r>
                  <a:rPr lang="en-IN" sz="2800" b="1" dirty="0">
                    <a:solidFill>
                      <a:schemeClr val="bg1"/>
                    </a:solidFill>
                  </a:rPr>
                  <a:t>Disadvantages</a:t>
                </a:r>
              </a:p>
              <a:p>
                <a:pPr lvl="1"/>
                <a:r>
                  <a:rPr lang="en-IN" sz="2800" dirty="0">
                    <a:solidFill>
                      <a:schemeClr val="bg1"/>
                    </a:solidFill>
                  </a:rPr>
                  <a:t>Computationally expensive </a:t>
                </a:r>
              </a:p>
              <a:p>
                <a:pPr lvl="1"/>
                <a:r>
                  <a:rPr lang="en-IN" sz="2800" dirty="0">
                    <a:solidFill>
                      <a:schemeClr val="bg1"/>
                    </a:solidFill>
                  </a:rPr>
                  <a:t>Sensitive to scaling</a:t>
                </a:r>
              </a:p>
            </p:txBody>
          </p:sp>
        </mc:Choice>
        <mc:Fallback xmlns="">
          <p:sp>
            <p:nvSpPr>
              <p:cNvPr id="5" name="TextBox 4">
                <a:extLst>
                  <a:ext uri="{FF2B5EF4-FFF2-40B4-BE49-F238E27FC236}">
                    <a16:creationId xmlns:a16="http://schemas.microsoft.com/office/drawing/2014/main" id="{863034F6-0EC9-8FBE-C277-C862DD6DBE32}"/>
                  </a:ext>
                </a:extLst>
              </p:cNvPr>
              <p:cNvSpPr txBox="1">
                <a:spLocks noRot="1" noChangeAspect="1" noMove="1" noResize="1" noEditPoints="1" noAdjustHandles="1" noChangeArrowheads="1" noChangeShapeType="1" noTextEdit="1"/>
              </p:cNvSpPr>
              <p:nvPr/>
            </p:nvSpPr>
            <p:spPr>
              <a:xfrm>
                <a:off x="3886200" y="1558159"/>
                <a:ext cx="10225755" cy="7601568"/>
              </a:xfrm>
              <a:prstGeom prst="rect">
                <a:avLst/>
              </a:prstGeom>
              <a:blipFill>
                <a:blip r:embed="rId2"/>
                <a:stretch>
                  <a:fillRect l="-1252" t="-802" r="-477" b="-1363"/>
                </a:stretch>
              </a:blipFill>
            </p:spPr>
            <p:txBody>
              <a:bodyPr/>
              <a:lstStyle/>
              <a:p>
                <a:r>
                  <a:rPr lang="en-IN">
                    <a:noFill/>
                  </a:rPr>
                  <a:t> </a:t>
                </a:r>
              </a:p>
            </p:txBody>
          </p:sp>
        </mc:Fallback>
      </mc:AlternateContent>
    </p:spTree>
    <p:extLst>
      <p:ext uri="{BB962C8B-B14F-4D97-AF65-F5344CB8AC3E}">
        <p14:creationId xmlns:p14="http://schemas.microsoft.com/office/powerpoint/2010/main" val="950332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A980541A-2E9C-5886-1975-6A5437F272E6}"/>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526695E0-A9AF-7381-03FE-EC161CADB6C8}"/>
              </a:ext>
            </a:extLst>
          </p:cNvPr>
          <p:cNvSpPr txBox="1"/>
          <p:nvPr/>
        </p:nvSpPr>
        <p:spPr>
          <a:xfrm>
            <a:off x="4419600" y="13302"/>
            <a:ext cx="10553819" cy="927946"/>
          </a:xfrm>
          <a:prstGeom prst="rect">
            <a:avLst/>
          </a:prstGeom>
        </p:spPr>
        <p:txBody>
          <a:bodyPr wrap="square" lIns="0" tIns="0" rIns="0" bIns="0" rtlCol="0" anchor="t">
            <a:spAutoFit/>
          </a:bodyPr>
          <a:lstStyle/>
          <a:p>
            <a:pPr marL="0" marR="0" lvl="0" indent="0" algn="l" defTabSz="914400" rtl="0" eaLnBrk="1" fontAlgn="auto" latinLnBrk="0" hangingPunct="1">
              <a:lnSpc>
                <a:spcPts val="8143"/>
              </a:lnSpc>
              <a:spcBef>
                <a:spcPts val="0"/>
              </a:spcBef>
              <a:spcAft>
                <a:spcPts val="0"/>
              </a:spcAft>
              <a:buClrTx/>
              <a:buSzTx/>
              <a:buFontTx/>
              <a:buNone/>
              <a:tabLst/>
              <a:defRPr/>
            </a:pPr>
            <a:r>
              <a:rPr kumimoji="0" lang="en-US" sz="4700" b="1" i="0" u="none" strike="noStrike" kern="1200" cap="none" spc="0" normalizeH="0" baseline="0" noProof="0" dirty="0">
                <a:ln>
                  <a:noFill/>
                </a:ln>
                <a:solidFill>
                  <a:srgbClr val="36E9FD"/>
                </a:solidFill>
                <a:effectLst/>
                <a:uLnTx/>
                <a:uFillTx/>
                <a:latin typeface="Montserrat Semi-Bold" panose="020B0604020202020204" charset="0"/>
                <a:ea typeface="Montserrat Semi-Bold"/>
                <a:cs typeface="Montserrat Semi-Bold"/>
                <a:sym typeface="Montserrat Semi-Bold"/>
              </a:rPr>
              <a:t>HANDLING MISSING VALUES</a:t>
            </a:r>
          </a:p>
        </p:txBody>
      </p:sp>
      <p:sp>
        <p:nvSpPr>
          <p:cNvPr id="25" name="TextBox 25">
            <a:extLst>
              <a:ext uri="{FF2B5EF4-FFF2-40B4-BE49-F238E27FC236}">
                <a16:creationId xmlns:a16="http://schemas.microsoft.com/office/drawing/2014/main" id="{AABF015C-EC70-A4F9-623E-A05AD9DA5714}"/>
              </a:ext>
            </a:extLst>
          </p:cNvPr>
          <p:cNvSpPr txBox="1"/>
          <p:nvPr/>
        </p:nvSpPr>
        <p:spPr>
          <a:xfrm>
            <a:off x="483809" y="96282"/>
            <a:ext cx="1154372" cy="394339"/>
          </a:xfrm>
          <a:prstGeom prst="rect">
            <a:avLst/>
          </a:prstGeom>
        </p:spPr>
        <p:txBody>
          <a:bodyPr lIns="0" tIns="0" rIns="0" bIns="0" rtlCol="0" anchor="t">
            <a:spAutoFit/>
          </a:bodyPr>
          <a:lstStyle/>
          <a:p>
            <a:pPr marL="0" marR="0" lvl="0" indent="0" algn="l" defTabSz="914400" rtl="0" eaLnBrk="1" fontAlgn="auto" latinLnBrk="0" hangingPunct="1">
              <a:lnSpc>
                <a:spcPts val="4057"/>
              </a:lnSpc>
              <a:spcBef>
                <a:spcPts val="0"/>
              </a:spcBef>
              <a:spcAft>
                <a:spcPts val="0"/>
              </a:spcAft>
              <a:buClrTx/>
              <a:buSzTx/>
              <a:buFontTx/>
              <a:buNone/>
              <a:tabLst/>
              <a:defRPr/>
            </a:pPr>
            <a:r>
              <a:rPr lang="en-US" sz="3145" dirty="0">
                <a:solidFill>
                  <a:srgbClr val="FFFFFF"/>
                </a:solidFill>
                <a:latin typeface="Mokoto"/>
                <a:ea typeface="Mokoto"/>
                <a:cs typeface="Mokoto"/>
                <a:sym typeface="Mokoto"/>
              </a:rPr>
              <a:t>14</a:t>
            </a:r>
            <a:endPar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endParaRPr>
          </a:p>
        </p:txBody>
      </p:sp>
      <p:sp>
        <p:nvSpPr>
          <p:cNvPr id="5" name="TextBox 4">
            <a:extLst>
              <a:ext uri="{FF2B5EF4-FFF2-40B4-BE49-F238E27FC236}">
                <a16:creationId xmlns:a16="http://schemas.microsoft.com/office/drawing/2014/main" id="{089826B7-3FF9-3837-6C31-527092AAC7C6}"/>
              </a:ext>
            </a:extLst>
          </p:cNvPr>
          <p:cNvSpPr txBox="1"/>
          <p:nvPr/>
        </p:nvSpPr>
        <p:spPr>
          <a:xfrm>
            <a:off x="1060995" y="941248"/>
            <a:ext cx="1022575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72F1FE"/>
                </a:solidFill>
                <a:effectLst/>
                <a:uLnTx/>
                <a:uFillTx/>
                <a:latin typeface="Calibri"/>
                <a:ea typeface="+mn-ea"/>
                <a:cs typeface="+mn-cs"/>
              </a:rPr>
              <a:t>2. </a:t>
            </a:r>
            <a:r>
              <a:rPr kumimoji="0" lang="en-IN" sz="2800" b="1" i="0" u="sng" strike="noStrike" kern="1200" cap="none" spc="0" normalizeH="0" baseline="0" noProof="0" dirty="0">
                <a:ln>
                  <a:noFill/>
                </a:ln>
                <a:solidFill>
                  <a:srgbClr val="72F1FE"/>
                </a:solidFill>
                <a:effectLst/>
                <a:uLnTx/>
                <a:uFillTx/>
                <a:latin typeface="Calibri"/>
                <a:ea typeface="+mn-ea"/>
                <a:cs typeface="+mn-cs"/>
              </a:rPr>
              <a:t>KNN Model based Imputation</a:t>
            </a:r>
          </a:p>
        </p:txBody>
      </p:sp>
      <p:pic>
        <p:nvPicPr>
          <p:cNvPr id="7" name="Picture 6">
            <a:extLst>
              <a:ext uri="{FF2B5EF4-FFF2-40B4-BE49-F238E27FC236}">
                <a16:creationId xmlns:a16="http://schemas.microsoft.com/office/drawing/2014/main" id="{ADF28B59-5BA8-D0F6-9C04-4F10CFA3033B}"/>
              </a:ext>
            </a:extLst>
          </p:cNvPr>
          <p:cNvPicPr>
            <a:picLocks noChangeAspect="1"/>
          </p:cNvPicPr>
          <p:nvPr/>
        </p:nvPicPr>
        <p:blipFill>
          <a:blip r:embed="rId2"/>
          <a:stretch>
            <a:fillRect/>
          </a:stretch>
        </p:blipFill>
        <p:spPr>
          <a:xfrm>
            <a:off x="1219201" y="1580719"/>
            <a:ext cx="13182600" cy="2763331"/>
          </a:xfrm>
          <a:prstGeom prst="rect">
            <a:avLst/>
          </a:prstGeom>
        </p:spPr>
      </p:pic>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2B26F039-A6B3-212C-6994-639200B3535B}"/>
                  </a:ext>
                </a:extLst>
              </p14:cNvPr>
              <p14:cNvContentPartPr/>
              <p14:nvPr/>
            </p14:nvContentPartPr>
            <p14:xfrm>
              <a:off x="2299560" y="8008102"/>
              <a:ext cx="282600" cy="360"/>
            </p14:xfrm>
          </p:contentPart>
        </mc:Choice>
        <mc:Fallback xmlns="">
          <p:pic>
            <p:nvPicPr>
              <p:cNvPr id="12" name="Ink 11">
                <a:extLst>
                  <a:ext uri="{FF2B5EF4-FFF2-40B4-BE49-F238E27FC236}">
                    <a16:creationId xmlns:a16="http://schemas.microsoft.com/office/drawing/2014/main" id="{2B26F039-A6B3-212C-6994-639200B3535B}"/>
                  </a:ext>
                </a:extLst>
              </p:cNvPr>
              <p:cNvPicPr/>
              <p:nvPr/>
            </p:nvPicPr>
            <p:blipFill>
              <a:blip r:embed="rId4"/>
              <a:stretch>
                <a:fillRect/>
              </a:stretch>
            </p:blipFill>
            <p:spPr>
              <a:xfrm>
                <a:off x="2245560" y="7900102"/>
                <a:ext cx="3902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2CB4A41D-AE90-17D6-9BE2-D0FDB546047C}"/>
                  </a:ext>
                </a:extLst>
              </p14:cNvPr>
              <p14:cNvContentPartPr/>
              <p14:nvPr/>
            </p14:nvContentPartPr>
            <p14:xfrm>
              <a:off x="5957160" y="7994062"/>
              <a:ext cx="318960" cy="14040"/>
            </p14:xfrm>
          </p:contentPart>
        </mc:Choice>
        <mc:Fallback xmlns="">
          <p:pic>
            <p:nvPicPr>
              <p:cNvPr id="16" name="Ink 15">
                <a:extLst>
                  <a:ext uri="{FF2B5EF4-FFF2-40B4-BE49-F238E27FC236}">
                    <a16:creationId xmlns:a16="http://schemas.microsoft.com/office/drawing/2014/main" id="{2CB4A41D-AE90-17D6-9BE2-D0FDB546047C}"/>
                  </a:ext>
                </a:extLst>
              </p:cNvPr>
              <p:cNvPicPr/>
              <p:nvPr/>
            </p:nvPicPr>
            <p:blipFill>
              <a:blip r:embed="rId6"/>
              <a:stretch>
                <a:fillRect/>
              </a:stretch>
            </p:blipFill>
            <p:spPr>
              <a:xfrm>
                <a:off x="5903160" y="7886062"/>
                <a:ext cx="426600" cy="229680"/>
              </a:xfrm>
              <a:prstGeom prst="rect">
                <a:avLst/>
              </a:prstGeom>
            </p:spPr>
          </p:pic>
        </mc:Fallback>
      </mc:AlternateContent>
      <p:pic>
        <p:nvPicPr>
          <p:cNvPr id="36" name="Picture 35">
            <a:extLst>
              <a:ext uri="{FF2B5EF4-FFF2-40B4-BE49-F238E27FC236}">
                <a16:creationId xmlns:a16="http://schemas.microsoft.com/office/drawing/2014/main" id="{55401043-F044-7B6B-8EDC-2E52ADFE320F}"/>
              </a:ext>
            </a:extLst>
          </p:cNvPr>
          <p:cNvPicPr>
            <a:picLocks noChangeAspect="1"/>
          </p:cNvPicPr>
          <p:nvPr/>
        </p:nvPicPr>
        <p:blipFill>
          <a:blip r:embed="rId7"/>
          <a:stretch>
            <a:fillRect/>
          </a:stretch>
        </p:blipFill>
        <p:spPr>
          <a:xfrm>
            <a:off x="1219201" y="4460300"/>
            <a:ext cx="13182600" cy="4340799"/>
          </a:xfrm>
          <a:prstGeom prst="rect">
            <a:avLst/>
          </a:prstGeom>
        </p:spPr>
      </p:pic>
      <mc:AlternateContent xmlns:mc="http://schemas.openxmlformats.org/markup-compatibility/2006" xmlns:p14="http://schemas.microsoft.com/office/powerpoint/2010/main">
        <mc:Choice Requires="p14">
          <p:contentPart p14:bwMode="auto" r:id="rId8">
            <p14:nvContentPartPr>
              <p14:cNvPr id="38" name="Ink 37">
                <a:extLst>
                  <a:ext uri="{FF2B5EF4-FFF2-40B4-BE49-F238E27FC236}">
                    <a16:creationId xmlns:a16="http://schemas.microsoft.com/office/drawing/2014/main" id="{F09F73DB-5D3C-C1A2-CD48-577B28E683C8}"/>
                  </a:ext>
                </a:extLst>
              </p14:cNvPr>
              <p14:cNvContentPartPr/>
              <p14:nvPr/>
            </p14:nvContentPartPr>
            <p14:xfrm>
              <a:off x="2341320" y="7869142"/>
              <a:ext cx="290880" cy="360"/>
            </p14:xfrm>
          </p:contentPart>
        </mc:Choice>
        <mc:Fallback xmlns="">
          <p:pic>
            <p:nvPicPr>
              <p:cNvPr id="38" name="Ink 37">
                <a:extLst>
                  <a:ext uri="{FF2B5EF4-FFF2-40B4-BE49-F238E27FC236}">
                    <a16:creationId xmlns:a16="http://schemas.microsoft.com/office/drawing/2014/main" id="{F09F73DB-5D3C-C1A2-CD48-577B28E683C8}"/>
                  </a:ext>
                </a:extLst>
              </p:cNvPr>
              <p:cNvPicPr/>
              <p:nvPr/>
            </p:nvPicPr>
            <p:blipFill>
              <a:blip r:embed="rId9"/>
              <a:stretch>
                <a:fillRect/>
              </a:stretch>
            </p:blipFill>
            <p:spPr>
              <a:xfrm>
                <a:off x="2287320" y="7761142"/>
                <a:ext cx="3985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9" name="Ink 38">
                <a:extLst>
                  <a:ext uri="{FF2B5EF4-FFF2-40B4-BE49-F238E27FC236}">
                    <a16:creationId xmlns:a16="http://schemas.microsoft.com/office/drawing/2014/main" id="{9629425C-BC87-3F21-3127-F87E095CF3F6}"/>
                  </a:ext>
                </a:extLst>
              </p14:cNvPr>
              <p14:cNvContentPartPr/>
              <p14:nvPr/>
            </p14:nvContentPartPr>
            <p14:xfrm>
              <a:off x="6040320" y="7868782"/>
              <a:ext cx="204120" cy="14760"/>
            </p14:xfrm>
          </p:contentPart>
        </mc:Choice>
        <mc:Fallback xmlns="">
          <p:pic>
            <p:nvPicPr>
              <p:cNvPr id="39" name="Ink 38">
                <a:extLst>
                  <a:ext uri="{FF2B5EF4-FFF2-40B4-BE49-F238E27FC236}">
                    <a16:creationId xmlns:a16="http://schemas.microsoft.com/office/drawing/2014/main" id="{9629425C-BC87-3F21-3127-F87E095CF3F6}"/>
                  </a:ext>
                </a:extLst>
              </p:cNvPr>
              <p:cNvPicPr/>
              <p:nvPr/>
            </p:nvPicPr>
            <p:blipFill>
              <a:blip r:embed="rId11"/>
              <a:stretch>
                <a:fillRect/>
              </a:stretch>
            </p:blipFill>
            <p:spPr>
              <a:xfrm>
                <a:off x="5986320" y="7760782"/>
                <a:ext cx="311760" cy="230400"/>
              </a:xfrm>
              <a:prstGeom prst="rect">
                <a:avLst/>
              </a:prstGeom>
            </p:spPr>
          </p:pic>
        </mc:Fallback>
      </mc:AlternateContent>
      <p:pic>
        <p:nvPicPr>
          <p:cNvPr id="41" name="Picture 40">
            <a:extLst>
              <a:ext uri="{FF2B5EF4-FFF2-40B4-BE49-F238E27FC236}">
                <a16:creationId xmlns:a16="http://schemas.microsoft.com/office/drawing/2014/main" id="{6CF6C086-57A4-9F27-C8B6-991573174163}"/>
              </a:ext>
            </a:extLst>
          </p:cNvPr>
          <p:cNvPicPr>
            <a:picLocks noChangeAspect="1"/>
          </p:cNvPicPr>
          <p:nvPr/>
        </p:nvPicPr>
        <p:blipFill>
          <a:blip r:embed="rId12"/>
          <a:stretch>
            <a:fillRect/>
          </a:stretch>
        </p:blipFill>
        <p:spPr>
          <a:xfrm>
            <a:off x="1226128" y="8916346"/>
            <a:ext cx="3193472" cy="1103953"/>
          </a:xfrm>
          <a:prstGeom prst="rect">
            <a:avLst/>
          </a:prstGeom>
        </p:spPr>
      </p:pic>
      <p:pic>
        <p:nvPicPr>
          <p:cNvPr id="43" name="Picture 42">
            <a:extLst>
              <a:ext uri="{FF2B5EF4-FFF2-40B4-BE49-F238E27FC236}">
                <a16:creationId xmlns:a16="http://schemas.microsoft.com/office/drawing/2014/main" id="{38BA5304-51B1-4876-6555-0F775B1CCC54}"/>
              </a:ext>
            </a:extLst>
          </p:cNvPr>
          <p:cNvPicPr>
            <a:picLocks noChangeAspect="1"/>
          </p:cNvPicPr>
          <p:nvPr/>
        </p:nvPicPr>
        <p:blipFill>
          <a:blip r:embed="rId13"/>
          <a:stretch>
            <a:fillRect/>
          </a:stretch>
        </p:blipFill>
        <p:spPr>
          <a:xfrm>
            <a:off x="4641928" y="8915083"/>
            <a:ext cx="3511471" cy="1103953"/>
          </a:xfrm>
          <a:prstGeom prst="rect">
            <a:avLst/>
          </a:prstGeom>
        </p:spPr>
      </p:pic>
      <p:pic>
        <p:nvPicPr>
          <p:cNvPr id="45" name="Picture 44">
            <a:extLst>
              <a:ext uri="{FF2B5EF4-FFF2-40B4-BE49-F238E27FC236}">
                <a16:creationId xmlns:a16="http://schemas.microsoft.com/office/drawing/2014/main" id="{7E078555-0B0B-181E-F593-1B59A5DFA2F4}"/>
              </a:ext>
            </a:extLst>
          </p:cNvPr>
          <p:cNvPicPr>
            <a:picLocks noChangeAspect="1"/>
          </p:cNvPicPr>
          <p:nvPr/>
        </p:nvPicPr>
        <p:blipFill>
          <a:blip r:embed="rId14"/>
          <a:stretch>
            <a:fillRect/>
          </a:stretch>
        </p:blipFill>
        <p:spPr>
          <a:xfrm>
            <a:off x="8375727" y="8915083"/>
            <a:ext cx="3206673" cy="1103952"/>
          </a:xfrm>
          <a:prstGeom prst="rect">
            <a:avLst/>
          </a:prstGeom>
        </p:spPr>
      </p:pic>
    </p:spTree>
    <p:extLst>
      <p:ext uri="{BB962C8B-B14F-4D97-AF65-F5344CB8AC3E}">
        <p14:creationId xmlns:p14="http://schemas.microsoft.com/office/powerpoint/2010/main" val="3602474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543ECB59-A183-43E2-A84E-727D398A53E2}"/>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1961F7A9-905C-F64E-A002-F32DC4CF3353}"/>
              </a:ext>
            </a:extLst>
          </p:cNvPr>
          <p:cNvSpPr txBox="1"/>
          <p:nvPr/>
        </p:nvSpPr>
        <p:spPr>
          <a:xfrm>
            <a:off x="3657600" y="58307"/>
            <a:ext cx="12645632" cy="927946"/>
          </a:xfrm>
          <a:prstGeom prst="rect">
            <a:avLst/>
          </a:prstGeom>
        </p:spPr>
        <p:txBody>
          <a:bodyPr wrap="square" lIns="0" tIns="0" rIns="0" bIns="0" rtlCol="0" anchor="t">
            <a:spAutoFit/>
          </a:bodyPr>
          <a:lstStyle/>
          <a:p>
            <a:pPr defTabSz="914400">
              <a:lnSpc>
                <a:spcPts val="8143"/>
              </a:lnSpc>
              <a:defRPr/>
            </a:pPr>
            <a:r>
              <a:rPr lang="en-US" sz="4700" b="1" dirty="0">
                <a:solidFill>
                  <a:srgbClr val="36E9FD"/>
                </a:solidFill>
                <a:latin typeface="Montserrat Semi-Bold" panose="020B0604020202020204" charset="0"/>
                <a:ea typeface="Montserrat Semi-Bold"/>
                <a:cs typeface="Montserrat Semi-Bold"/>
                <a:sym typeface="Montserrat Semi-Bold"/>
              </a:rPr>
              <a:t>DATA ENCODING FOR PREPROCESSING</a:t>
            </a:r>
          </a:p>
        </p:txBody>
      </p:sp>
      <p:sp>
        <p:nvSpPr>
          <p:cNvPr id="25" name="TextBox 25">
            <a:extLst>
              <a:ext uri="{FF2B5EF4-FFF2-40B4-BE49-F238E27FC236}">
                <a16:creationId xmlns:a16="http://schemas.microsoft.com/office/drawing/2014/main" id="{584CA4A1-997F-178A-B513-C47F862E77A9}"/>
              </a:ext>
            </a:extLst>
          </p:cNvPr>
          <p:cNvSpPr txBox="1"/>
          <p:nvPr/>
        </p:nvSpPr>
        <p:spPr>
          <a:xfrm>
            <a:off x="483809" y="96282"/>
            <a:ext cx="1154372" cy="394339"/>
          </a:xfrm>
          <a:prstGeom prst="rect">
            <a:avLst/>
          </a:prstGeom>
        </p:spPr>
        <p:txBody>
          <a:bodyPr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15</a:t>
            </a:r>
          </a:p>
        </p:txBody>
      </p:sp>
      <p:sp>
        <p:nvSpPr>
          <p:cNvPr id="5" name="TextBox 4">
            <a:extLst>
              <a:ext uri="{FF2B5EF4-FFF2-40B4-BE49-F238E27FC236}">
                <a16:creationId xmlns:a16="http://schemas.microsoft.com/office/drawing/2014/main" id="{52D6757A-9123-4523-E0D7-65319257FE36}"/>
              </a:ext>
            </a:extLst>
          </p:cNvPr>
          <p:cNvSpPr txBox="1"/>
          <p:nvPr/>
        </p:nvSpPr>
        <p:spPr>
          <a:xfrm>
            <a:off x="1638181" y="1485900"/>
            <a:ext cx="12645632" cy="3970318"/>
          </a:xfrm>
          <a:prstGeom prst="rect">
            <a:avLst/>
          </a:prstGeom>
          <a:noFill/>
        </p:spPr>
        <p:txBody>
          <a:bodyPr wrap="square" rtlCol="0">
            <a:spAutoFit/>
          </a:bodyPr>
          <a:lstStyle/>
          <a:p>
            <a:pPr marL="514350" indent="-514350">
              <a:buAutoNum type="arabicPeriod"/>
            </a:pPr>
            <a:r>
              <a:rPr lang="en-US" sz="2800" b="1" dirty="0">
                <a:solidFill>
                  <a:schemeClr val="bg1"/>
                </a:solidFill>
              </a:rPr>
              <a:t>Label Encoding</a:t>
            </a:r>
          </a:p>
          <a:p>
            <a:pPr marL="514350" indent="-514350">
              <a:buAutoNum type="arabicPeriod"/>
            </a:pPr>
            <a:endParaRPr lang="ar-AE" sz="2800" dirty="0">
              <a:solidFill>
                <a:schemeClr val="bg1"/>
              </a:solidFill>
            </a:endParaRPr>
          </a:p>
          <a:p>
            <a:pPr marL="457200" indent="-457200">
              <a:buFont typeface="Wingdings" panose="05000000000000000000" pitchFamily="2" charset="2"/>
              <a:buChar char="v"/>
            </a:pPr>
            <a:r>
              <a:rPr lang="en-US" sz="2800" dirty="0">
                <a:solidFill>
                  <a:schemeClr val="bg1"/>
                </a:solidFill>
              </a:rPr>
              <a:t>Machine-learning algorithms cannot directly process text labels, so categorical values must be converted to numbers.</a:t>
            </a:r>
          </a:p>
          <a:p>
            <a:pPr marL="457200" indent="-457200">
              <a:buFont typeface="Wingdings" panose="05000000000000000000" pitchFamily="2" charset="2"/>
              <a:buChar char="v"/>
            </a:pPr>
            <a:r>
              <a:rPr lang="en-US" sz="2800" dirty="0">
                <a:solidFill>
                  <a:schemeClr val="bg1"/>
                </a:solidFill>
              </a:rPr>
              <a:t>Label encoding is appropriate when:</a:t>
            </a:r>
          </a:p>
          <a:p>
            <a:pPr lvl="2"/>
            <a:r>
              <a:rPr lang="en-US" sz="2800" dirty="0">
                <a:solidFill>
                  <a:schemeClr val="bg1"/>
                </a:solidFill>
              </a:rPr>
              <a:t>The categories have </a:t>
            </a:r>
            <a:r>
              <a:rPr lang="en-US" sz="2800" b="1" dirty="0">
                <a:solidFill>
                  <a:schemeClr val="bg1"/>
                </a:solidFill>
              </a:rPr>
              <a:t>no order</a:t>
            </a:r>
            <a:r>
              <a:rPr lang="en-US" sz="2800" dirty="0">
                <a:solidFill>
                  <a:schemeClr val="bg1"/>
                </a:solidFill>
              </a:rPr>
              <a:t> (nominal data) </a:t>
            </a:r>
          </a:p>
          <a:p>
            <a:pPr lvl="2"/>
            <a:r>
              <a:rPr lang="en-US" sz="2800" dirty="0">
                <a:solidFill>
                  <a:schemeClr val="bg1"/>
                </a:solidFill>
              </a:rPr>
              <a:t>The column has only unique values.</a:t>
            </a:r>
          </a:p>
          <a:p>
            <a:pPr lvl="1"/>
            <a:endParaRPr lang="en-IN" sz="2800" dirty="0">
              <a:solidFill>
                <a:schemeClr val="bg1"/>
              </a:solidFill>
            </a:endParaRPr>
          </a:p>
          <a:p>
            <a:pPr defTabSz="914400">
              <a:defRPr/>
            </a:pPr>
            <a:endParaRPr lang="en-IN" sz="2800" dirty="0">
              <a:solidFill>
                <a:schemeClr val="bg1"/>
              </a:solidFill>
              <a:latin typeface="Calibri"/>
            </a:endParaRPr>
          </a:p>
        </p:txBody>
      </p:sp>
      <p:graphicFrame>
        <p:nvGraphicFramePr>
          <p:cNvPr id="2" name="Table 1">
            <a:extLst>
              <a:ext uri="{FF2B5EF4-FFF2-40B4-BE49-F238E27FC236}">
                <a16:creationId xmlns:a16="http://schemas.microsoft.com/office/drawing/2014/main" id="{2016607D-483C-3FDD-D125-70FF9416BBC1}"/>
              </a:ext>
            </a:extLst>
          </p:cNvPr>
          <p:cNvGraphicFramePr>
            <a:graphicFrameLocks noGrp="1"/>
          </p:cNvGraphicFramePr>
          <p:nvPr>
            <p:extLst>
              <p:ext uri="{D42A27DB-BD31-4B8C-83A1-F6EECF244321}">
                <p14:modId xmlns:p14="http://schemas.microsoft.com/office/powerpoint/2010/main" val="3528562775"/>
              </p:ext>
            </p:extLst>
          </p:nvPr>
        </p:nvGraphicFramePr>
        <p:xfrm>
          <a:off x="2130017" y="4827412"/>
          <a:ext cx="7000128" cy="1097280"/>
        </p:xfrm>
        <a:graphic>
          <a:graphicData uri="http://schemas.openxmlformats.org/drawingml/2006/table">
            <a:tbl>
              <a:tblPr>
                <a:tableStyleId>{FABFCF23-3B69-468F-B69F-88F6DE6A72F2}</a:tableStyleId>
              </a:tblPr>
              <a:tblGrid>
                <a:gridCol w="1750032">
                  <a:extLst>
                    <a:ext uri="{9D8B030D-6E8A-4147-A177-3AD203B41FA5}">
                      <a16:colId xmlns:a16="http://schemas.microsoft.com/office/drawing/2014/main" val="4105064314"/>
                    </a:ext>
                  </a:extLst>
                </a:gridCol>
                <a:gridCol w="1750032">
                  <a:extLst>
                    <a:ext uri="{9D8B030D-6E8A-4147-A177-3AD203B41FA5}">
                      <a16:colId xmlns:a16="http://schemas.microsoft.com/office/drawing/2014/main" val="3171703266"/>
                    </a:ext>
                  </a:extLst>
                </a:gridCol>
                <a:gridCol w="1750032">
                  <a:extLst>
                    <a:ext uri="{9D8B030D-6E8A-4147-A177-3AD203B41FA5}">
                      <a16:colId xmlns:a16="http://schemas.microsoft.com/office/drawing/2014/main" val="474639070"/>
                    </a:ext>
                  </a:extLst>
                </a:gridCol>
                <a:gridCol w="1750032">
                  <a:extLst>
                    <a:ext uri="{9D8B030D-6E8A-4147-A177-3AD203B41FA5}">
                      <a16:colId xmlns:a16="http://schemas.microsoft.com/office/drawing/2014/main" val="4180930036"/>
                    </a:ext>
                  </a:extLst>
                </a:gridCol>
              </a:tblGrid>
              <a:tr h="0">
                <a:tc>
                  <a:txBody>
                    <a:bodyPr/>
                    <a:lstStyle/>
                    <a:p>
                      <a:pPr>
                        <a:buNone/>
                      </a:pPr>
                      <a:r>
                        <a:rPr lang="en-IN"/>
                        <a:t>fixed acidity</a:t>
                      </a:r>
                    </a:p>
                  </a:txBody>
                  <a:tcPr anchor="ctr"/>
                </a:tc>
                <a:tc>
                  <a:txBody>
                    <a:bodyPr/>
                    <a:lstStyle/>
                    <a:p>
                      <a:pPr>
                        <a:buNone/>
                      </a:pPr>
                      <a:r>
                        <a:rPr lang="en-IN" dirty="0"/>
                        <a:t>citric acid</a:t>
                      </a:r>
                    </a:p>
                  </a:txBody>
                  <a:tcPr anchor="ctr"/>
                </a:tc>
                <a:tc>
                  <a:txBody>
                    <a:bodyPr/>
                    <a:lstStyle/>
                    <a:p>
                      <a:pPr>
                        <a:buNone/>
                      </a:pPr>
                      <a:r>
                        <a:rPr lang="en-IN" dirty="0"/>
                        <a:t>alcohol</a:t>
                      </a:r>
                    </a:p>
                  </a:txBody>
                  <a:tcPr anchor="ctr"/>
                </a:tc>
                <a:tc>
                  <a:txBody>
                    <a:bodyPr/>
                    <a:lstStyle/>
                    <a:p>
                      <a:pPr>
                        <a:buNone/>
                      </a:pPr>
                      <a:r>
                        <a:rPr lang="en-IN"/>
                        <a:t>type</a:t>
                      </a:r>
                    </a:p>
                  </a:txBody>
                  <a:tcPr anchor="ctr"/>
                </a:tc>
                <a:extLst>
                  <a:ext uri="{0D108BD9-81ED-4DB2-BD59-A6C34878D82A}">
                    <a16:rowId xmlns:a16="http://schemas.microsoft.com/office/drawing/2014/main" val="2758752856"/>
                  </a:ext>
                </a:extLst>
              </a:tr>
              <a:tr h="0">
                <a:tc>
                  <a:txBody>
                    <a:bodyPr/>
                    <a:lstStyle/>
                    <a:p>
                      <a:pPr>
                        <a:buNone/>
                      </a:pPr>
                      <a:r>
                        <a:rPr lang="en-IN"/>
                        <a:t>7.4</a:t>
                      </a:r>
                    </a:p>
                  </a:txBody>
                  <a:tcPr anchor="ctr"/>
                </a:tc>
                <a:tc>
                  <a:txBody>
                    <a:bodyPr/>
                    <a:lstStyle/>
                    <a:p>
                      <a:pPr>
                        <a:buNone/>
                      </a:pPr>
                      <a:r>
                        <a:rPr lang="en-IN" dirty="0"/>
                        <a:t>0.00</a:t>
                      </a:r>
                    </a:p>
                  </a:txBody>
                  <a:tcPr anchor="ctr"/>
                </a:tc>
                <a:tc>
                  <a:txBody>
                    <a:bodyPr/>
                    <a:lstStyle/>
                    <a:p>
                      <a:pPr>
                        <a:buNone/>
                      </a:pPr>
                      <a:r>
                        <a:rPr lang="en-IN"/>
                        <a:t>9.4</a:t>
                      </a:r>
                    </a:p>
                  </a:txBody>
                  <a:tcPr anchor="ctr"/>
                </a:tc>
                <a:tc>
                  <a:txBody>
                    <a:bodyPr/>
                    <a:lstStyle/>
                    <a:p>
                      <a:pPr>
                        <a:buNone/>
                      </a:pPr>
                      <a:r>
                        <a:rPr lang="en-IN"/>
                        <a:t>red</a:t>
                      </a:r>
                    </a:p>
                  </a:txBody>
                  <a:tcPr anchor="ctr"/>
                </a:tc>
                <a:extLst>
                  <a:ext uri="{0D108BD9-81ED-4DB2-BD59-A6C34878D82A}">
                    <a16:rowId xmlns:a16="http://schemas.microsoft.com/office/drawing/2014/main" val="2955152622"/>
                  </a:ext>
                </a:extLst>
              </a:tr>
              <a:tr h="0">
                <a:tc>
                  <a:txBody>
                    <a:bodyPr/>
                    <a:lstStyle/>
                    <a:p>
                      <a:pPr>
                        <a:buNone/>
                      </a:pPr>
                      <a:r>
                        <a:rPr lang="en-IN"/>
                        <a:t>7.8</a:t>
                      </a:r>
                    </a:p>
                  </a:txBody>
                  <a:tcPr anchor="ctr"/>
                </a:tc>
                <a:tc>
                  <a:txBody>
                    <a:bodyPr/>
                    <a:lstStyle/>
                    <a:p>
                      <a:pPr>
                        <a:buNone/>
                      </a:pPr>
                      <a:r>
                        <a:rPr lang="en-IN"/>
                        <a:t>0.04</a:t>
                      </a:r>
                    </a:p>
                  </a:txBody>
                  <a:tcPr anchor="ctr"/>
                </a:tc>
                <a:tc>
                  <a:txBody>
                    <a:bodyPr/>
                    <a:lstStyle/>
                    <a:p>
                      <a:pPr>
                        <a:buNone/>
                      </a:pPr>
                      <a:r>
                        <a:rPr lang="en-IN"/>
                        <a:t>10.0</a:t>
                      </a:r>
                    </a:p>
                  </a:txBody>
                  <a:tcPr anchor="ctr"/>
                </a:tc>
                <a:tc>
                  <a:txBody>
                    <a:bodyPr/>
                    <a:lstStyle/>
                    <a:p>
                      <a:pPr>
                        <a:buNone/>
                      </a:pPr>
                      <a:r>
                        <a:rPr lang="en-IN" dirty="0"/>
                        <a:t>white</a:t>
                      </a:r>
                    </a:p>
                  </a:txBody>
                  <a:tcPr anchor="ctr"/>
                </a:tc>
                <a:extLst>
                  <a:ext uri="{0D108BD9-81ED-4DB2-BD59-A6C34878D82A}">
                    <a16:rowId xmlns:a16="http://schemas.microsoft.com/office/drawing/2014/main" val="1853366018"/>
                  </a:ext>
                </a:extLst>
              </a:tr>
            </a:tbl>
          </a:graphicData>
        </a:graphic>
      </p:graphicFrame>
      <p:graphicFrame>
        <p:nvGraphicFramePr>
          <p:cNvPr id="3" name="Table 2">
            <a:extLst>
              <a:ext uri="{FF2B5EF4-FFF2-40B4-BE49-F238E27FC236}">
                <a16:creationId xmlns:a16="http://schemas.microsoft.com/office/drawing/2014/main" id="{A664E876-CDED-2064-9189-C35C33E169FB}"/>
              </a:ext>
            </a:extLst>
          </p:cNvPr>
          <p:cNvGraphicFramePr>
            <a:graphicFrameLocks noGrp="1"/>
          </p:cNvGraphicFramePr>
          <p:nvPr>
            <p:extLst>
              <p:ext uri="{D42A27DB-BD31-4B8C-83A1-F6EECF244321}">
                <p14:modId xmlns:p14="http://schemas.microsoft.com/office/powerpoint/2010/main" val="3290804652"/>
              </p:ext>
            </p:extLst>
          </p:nvPr>
        </p:nvGraphicFramePr>
        <p:xfrm>
          <a:off x="2143872" y="7048500"/>
          <a:ext cx="7000128" cy="1097280"/>
        </p:xfrm>
        <a:graphic>
          <a:graphicData uri="http://schemas.openxmlformats.org/drawingml/2006/table">
            <a:tbl>
              <a:tblPr>
                <a:tableStyleId>{FABFCF23-3B69-468F-B69F-88F6DE6A72F2}</a:tableStyleId>
              </a:tblPr>
              <a:tblGrid>
                <a:gridCol w="1750032">
                  <a:extLst>
                    <a:ext uri="{9D8B030D-6E8A-4147-A177-3AD203B41FA5}">
                      <a16:colId xmlns:a16="http://schemas.microsoft.com/office/drawing/2014/main" val="2713651955"/>
                    </a:ext>
                  </a:extLst>
                </a:gridCol>
                <a:gridCol w="1750032">
                  <a:extLst>
                    <a:ext uri="{9D8B030D-6E8A-4147-A177-3AD203B41FA5}">
                      <a16:colId xmlns:a16="http://schemas.microsoft.com/office/drawing/2014/main" val="1972506587"/>
                    </a:ext>
                  </a:extLst>
                </a:gridCol>
                <a:gridCol w="1750032">
                  <a:extLst>
                    <a:ext uri="{9D8B030D-6E8A-4147-A177-3AD203B41FA5}">
                      <a16:colId xmlns:a16="http://schemas.microsoft.com/office/drawing/2014/main" val="4095972792"/>
                    </a:ext>
                  </a:extLst>
                </a:gridCol>
                <a:gridCol w="1750032">
                  <a:extLst>
                    <a:ext uri="{9D8B030D-6E8A-4147-A177-3AD203B41FA5}">
                      <a16:colId xmlns:a16="http://schemas.microsoft.com/office/drawing/2014/main" val="1458445091"/>
                    </a:ext>
                  </a:extLst>
                </a:gridCol>
              </a:tblGrid>
              <a:tr h="0">
                <a:tc>
                  <a:txBody>
                    <a:bodyPr/>
                    <a:lstStyle/>
                    <a:p>
                      <a:pPr>
                        <a:buNone/>
                      </a:pPr>
                      <a:r>
                        <a:rPr lang="en-IN" b="0" dirty="0">
                          <a:solidFill>
                            <a:schemeClr val="tx1"/>
                          </a:solidFill>
                        </a:rPr>
                        <a:t>fixed acidity</a:t>
                      </a:r>
                    </a:p>
                  </a:txBody>
                  <a:tcPr anchor="ctr"/>
                </a:tc>
                <a:tc>
                  <a:txBody>
                    <a:bodyPr/>
                    <a:lstStyle/>
                    <a:p>
                      <a:pPr>
                        <a:buNone/>
                      </a:pPr>
                      <a:r>
                        <a:rPr lang="en-IN" b="0" dirty="0">
                          <a:solidFill>
                            <a:schemeClr val="tx1"/>
                          </a:solidFill>
                        </a:rPr>
                        <a:t>citric acid</a:t>
                      </a:r>
                    </a:p>
                  </a:txBody>
                  <a:tcPr anchor="ctr"/>
                </a:tc>
                <a:tc>
                  <a:txBody>
                    <a:bodyPr/>
                    <a:lstStyle/>
                    <a:p>
                      <a:pPr>
                        <a:buNone/>
                      </a:pPr>
                      <a:r>
                        <a:rPr lang="en-IN" b="0">
                          <a:solidFill>
                            <a:schemeClr val="tx1"/>
                          </a:solidFill>
                        </a:rPr>
                        <a:t>alcohol</a:t>
                      </a:r>
                    </a:p>
                  </a:txBody>
                  <a:tcPr anchor="ctr"/>
                </a:tc>
                <a:tc>
                  <a:txBody>
                    <a:bodyPr/>
                    <a:lstStyle/>
                    <a:p>
                      <a:pPr>
                        <a:buNone/>
                      </a:pPr>
                      <a:r>
                        <a:rPr lang="en-IN" b="0">
                          <a:solidFill>
                            <a:schemeClr val="tx1"/>
                          </a:solidFill>
                        </a:rPr>
                        <a:t>type</a:t>
                      </a:r>
                    </a:p>
                  </a:txBody>
                  <a:tcPr anchor="ctr"/>
                </a:tc>
                <a:extLst>
                  <a:ext uri="{0D108BD9-81ED-4DB2-BD59-A6C34878D82A}">
                    <a16:rowId xmlns:a16="http://schemas.microsoft.com/office/drawing/2014/main" val="2654973152"/>
                  </a:ext>
                </a:extLst>
              </a:tr>
              <a:tr h="0">
                <a:tc>
                  <a:txBody>
                    <a:bodyPr/>
                    <a:lstStyle/>
                    <a:p>
                      <a:pPr>
                        <a:buNone/>
                      </a:pPr>
                      <a:r>
                        <a:rPr lang="en-IN" b="0">
                          <a:solidFill>
                            <a:schemeClr val="tx1"/>
                          </a:solidFill>
                        </a:rPr>
                        <a:t>7.4</a:t>
                      </a:r>
                    </a:p>
                  </a:txBody>
                  <a:tcPr anchor="ctr"/>
                </a:tc>
                <a:tc>
                  <a:txBody>
                    <a:bodyPr/>
                    <a:lstStyle/>
                    <a:p>
                      <a:pPr>
                        <a:buNone/>
                      </a:pPr>
                      <a:r>
                        <a:rPr lang="en-IN" b="0">
                          <a:solidFill>
                            <a:schemeClr val="tx1"/>
                          </a:solidFill>
                        </a:rPr>
                        <a:t>0.00</a:t>
                      </a:r>
                    </a:p>
                  </a:txBody>
                  <a:tcPr anchor="ctr"/>
                </a:tc>
                <a:tc>
                  <a:txBody>
                    <a:bodyPr/>
                    <a:lstStyle/>
                    <a:p>
                      <a:pPr>
                        <a:buNone/>
                      </a:pPr>
                      <a:r>
                        <a:rPr lang="en-IN" b="0">
                          <a:solidFill>
                            <a:schemeClr val="tx1"/>
                          </a:solidFill>
                        </a:rPr>
                        <a:t>9.4</a:t>
                      </a:r>
                    </a:p>
                  </a:txBody>
                  <a:tcPr anchor="ctr"/>
                </a:tc>
                <a:tc>
                  <a:txBody>
                    <a:bodyPr/>
                    <a:lstStyle/>
                    <a:p>
                      <a:pPr>
                        <a:buNone/>
                      </a:pPr>
                      <a:r>
                        <a:rPr lang="en-IN" b="0" dirty="0">
                          <a:solidFill>
                            <a:schemeClr val="tx1"/>
                          </a:solidFill>
                        </a:rPr>
                        <a:t>0</a:t>
                      </a:r>
                    </a:p>
                  </a:txBody>
                  <a:tcPr anchor="ctr"/>
                </a:tc>
                <a:extLst>
                  <a:ext uri="{0D108BD9-81ED-4DB2-BD59-A6C34878D82A}">
                    <a16:rowId xmlns:a16="http://schemas.microsoft.com/office/drawing/2014/main" val="2893483151"/>
                  </a:ext>
                </a:extLst>
              </a:tr>
              <a:tr h="0">
                <a:tc>
                  <a:txBody>
                    <a:bodyPr/>
                    <a:lstStyle/>
                    <a:p>
                      <a:pPr>
                        <a:buNone/>
                      </a:pPr>
                      <a:r>
                        <a:rPr lang="en-IN" b="0">
                          <a:solidFill>
                            <a:schemeClr val="tx1"/>
                          </a:solidFill>
                        </a:rPr>
                        <a:t>7.8</a:t>
                      </a:r>
                    </a:p>
                  </a:txBody>
                  <a:tcPr anchor="ctr"/>
                </a:tc>
                <a:tc>
                  <a:txBody>
                    <a:bodyPr/>
                    <a:lstStyle/>
                    <a:p>
                      <a:pPr>
                        <a:buNone/>
                      </a:pPr>
                      <a:r>
                        <a:rPr lang="en-IN" b="0" dirty="0">
                          <a:solidFill>
                            <a:schemeClr val="tx1"/>
                          </a:solidFill>
                        </a:rPr>
                        <a:t>0.04</a:t>
                      </a:r>
                    </a:p>
                  </a:txBody>
                  <a:tcPr anchor="ctr"/>
                </a:tc>
                <a:tc>
                  <a:txBody>
                    <a:bodyPr/>
                    <a:lstStyle/>
                    <a:p>
                      <a:pPr>
                        <a:buNone/>
                      </a:pPr>
                      <a:r>
                        <a:rPr lang="en-IN" b="0">
                          <a:solidFill>
                            <a:schemeClr val="tx1"/>
                          </a:solidFill>
                        </a:rPr>
                        <a:t>10.0</a:t>
                      </a:r>
                    </a:p>
                  </a:txBody>
                  <a:tcPr anchor="ctr"/>
                </a:tc>
                <a:tc>
                  <a:txBody>
                    <a:bodyPr/>
                    <a:lstStyle/>
                    <a:p>
                      <a:pPr>
                        <a:buNone/>
                      </a:pPr>
                      <a:r>
                        <a:rPr lang="en-IN" b="0" dirty="0">
                          <a:solidFill>
                            <a:schemeClr val="tx1"/>
                          </a:solidFill>
                        </a:rPr>
                        <a:t>1</a:t>
                      </a:r>
                    </a:p>
                  </a:txBody>
                  <a:tcPr anchor="ctr"/>
                </a:tc>
                <a:extLst>
                  <a:ext uri="{0D108BD9-81ED-4DB2-BD59-A6C34878D82A}">
                    <a16:rowId xmlns:a16="http://schemas.microsoft.com/office/drawing/2014/main" val="3546288956"/>
                  </a:ext>
                </a:extLst>
              </a:tr>
            </a:tbl>
          </a:graphicData>
        </a:graphic>
      </p:graphicFrame>
      <p:sp>
        <p:nvSpPr>
          <p:cNvPr id="7" name="TextBox 6">
            <a:extLst>
              <a:ext uri="{FF2B5EF4-FFF2-40B4-BE49-F238E27FC236}">
                <a16:creationId xmlns:a16="http://schemas.microsoft.com/office/drawing/2014/main" id="{865A5343-0756-8B8B-0252-CFC6617331F7}"/>
              </a:ext>
            </a:extLst>
          </p:cNvPr>
          <p:cNvSpPr txBox="1"/>
          <p:nvPr/>
        </p:nvSpPr>
        <p:spPr>
          <a:xfrm>
            <a:off x="2143872" y="6189887"/>
            <a:ext cx="7291073" cy="523220"/>
          </a:xfrm>
          <a:prstGeom prst="rect">
            <a:avLst/>
          </a:prstGeom>
          <a:noFill/>
        </p:spPr>
        <p:txBody>
          <a:bodyPr wrap="square">
            <a:spAutoFit/>
          </a:bodyPr>
          <a:lstStyle/>
          <a:p>
            <a:r>
              <a:rPr lang="en-US" sz="2800" dirty="0">
                <a:solidFill>
                  <a:schemeClr val="bg1"/>
                </a:solidFill>
              </a:rPr>
              <a:t>After Label encoding:</a:t>
            </a:r>
            <a:endParaRPr lang="en-IN" sz="2800" dirty="0">
              <a:solidFill>
                <a:schemeClr val="bg1"/>
              </a:solidFill>
            </a:endParaRPr>
          </a:p>
        </p:txBody>
      </p:sp>
    </p:spTree>
    <p:extLst>
      <p:ext uri="{BB962C8B-B14F-4D97-AF65-F5344CB8AC3E}">
        <p14:creationId xmlns:p14="http://schemas.microsoft.com/office/powerpoint/2010/main" val="1534776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95580068-5DFC-334A-F3B9-1D103226FE25}"/>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3B3E52F8-CF3E-2D4C-61FB-208A2272951C}"/>
              </a:ext>
            </a:extLst>
          </p:cNvPr>
          <p:cNvSpPr txBox="1"/>
          <p:nvPr/>
        </p:nvSpPr>
        <p:spPr>
          <a:xfrm>
            <a:off x="3429000" y="65109"/>
            <a:ext cx="12420600" cy="927946"/>
          </a:xfrm>
          <a:prstGeom prst="rect">
            <a:avLst/>
          </a:prstGeom>
        </p:spPr>
        <p:txBody>
          <a:bodyPr wrap="square" lIns="0" tIns="0" rIns="0" bIns="0" rtlCol="0" anchor="t">
            <a:spAutoFit/>
          </a:bodyPr>
          <a:lstStyle/>
          <a:p>
            <a:pPr defTabSz="914400">
              <a:lnSpc>
                <a:spcPts val="8143"/>
              </a:lnSpc>
              <a:defRPr/>
            </a:pPr>
            <a:r>
              <a:rPr lang="en-US" sz="4700" b="1" dirty="0">
                <a:solidFill>
                  <a:srgbClr val="36E9FD"/>
                </a:solidFill>
                <a:latin typeface="Montserrat Semi-Bold" panose="020B0604020202020204" charset="0"/>
                <a:ea typeface="Montserrat Semi-Bold"/>
                <a:cs typeface="Montserrat Semi-Bold"/>
                <a:sym typeface="Montserrat Semi-Bold"/>
              </a:rPr>
              <a:t>DATA ENCODING FOR PREPROCESSING</a:t>
            </a:r>
          </a:p>
        </p:txBody>
      </p:sp>
      <p:sp>
        <p:nvSpPr>
          <p:cNvPr id="25" name="TextBox 25">
            <a:extLst>
              <a:ext uri="{FF2B5EF4-FFF2-40B4-BE49-F238E27FC236}">
                <a16:creationId xmlns:a16="http://schemas.microsoft.com/office/drawing/2014/main" id="{79B85D25-5561-2119-E5C2-19035F521D03}"/>
              </a:ext>
            </a:extLst>
          </p:cNvPr>
          <p:cNvSpPr txBox="1"/>
          <p:nvPr/>
        </p:nvSpPr>
        <p:spPr>
          <a:xfrm>
            <a:off x="483809" y="96282"/>
            <a:ext cx="1154372" cy="394339"/>
          </a:xfrm>
          <a:prstGeom prst="rect">
            <a:avLst/>
          </a:prstGeom>
        </p:spPr>
        <p:txBody>
          <a:bodyPr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16</a:t>
            </a:r>
          </a:p>
        </p:txBody>
      </p:sp>
      <p:sp>
        <p:nvSpPr>
          <p:cNvPr id="5" name="TextBox 4">
            <a:extLst>
              <a:ext uri="{FF2B5EF4-FFF2-40B4-BE49-F238E27FC236}">
                <a16:creationId xmlns:a16="http://schemas.microsoft.com/office/drawing/2014/main" id="{2642E7EA-04B2-516B-D0D8-8DE216837657}"/>
              </a:ext>
            </a:extLst>
          </p:cNvPr>
          <p:cNvSpPr txBox="1"/>
          <p:nvPr/>
        </p:nvSpPr>
        <p:spPr>
          <a:xfrm>
            <a:off x="1635723" y="1813324"/>
            <a:ext cx="12645632" cy="3108543"/>
          </a:xfrm>
          <a:prstGeom prst="rect">
            <a:avLst/>
          </a:prstGeom>
          <a:noFill/>
        </p:spPr>
        <p:txBody>
          <a:bodyPr wrap="square" rtlCol="0">
            <a:spAutoFit/>
          </a:bodyPr>
          <a:lstStyle/>
          <a:p>
            <a:pPr defTabSz="914400">
              <a:defRPr/>
            </a:pPr>
            <a:r>
              <a:rPr lang="en-IN" sz="2800" b="1" dirty="0">
                <a:solidFill>
                  <a:schemeClr val="bg1"/>
                </a:solidFill>
                <a:latin typeface="Calibri"/>
              </a:rPr>
              <a:t>2. Ordinal Encoding</a:t>
            </a:r>
          </a:p>
          <a:p>
            <a:pPr defTabSz="914400">
              <a:defRPr/>
            </a:pPr>
            <a:endParaRPr lang="en-IN" sz="2800" b="1" dirty="0">
              <a:solidFill>
                <a:schemeClr val="bg1"/>
              </a:solidFill>
              <a:latin typeface="Calibri"/>
            </a:endParaRPr>
          </a:p>
          <a:p>
            <a:pPr defTabSz="914400">
              <a:defRPr/>
            </a:pPr>
            <a:r>
              <a:rPr lang="en-IN" sz="2800" dirty="0">
                <a:solidFill>
                  <a:schemeClr val="bg1"/>
                </a:solidFill>
                <a:latin typeface="Calibri"/>
              </a:rPr>
              <a:t>Ordinal Encoding translates text or labels into unique integers based on an inherent, meaningful order or rank.</a:t>
            </a:r>
          </a:p>
          <a:p>
            <a:pPr defTabSz="914400">
              <a:defRPr/>
            </a:pPr>
            <a:endParaRPr lang="en-IN" sz="2800" dirty="0">
              <a:solidFill>
                <a:schemeClr val="bg1"/>
              </a:solidFill>
              <a:latin typeface="Calibri"/>
            </a:endParaRPr>
          </a:p>
          <a:p>
            <a:pPr defTabSz="914400">
              <a:defRPr/>
            </a:pPr>
            <a:endParaRPr lang="en-IN" sz="2800" dirty="0">
              <a:solidFill>
                <a:schemeClr val="bg1"/>
              </a:solidFill>
              <a:latin typeface="Calibri"/>
            </a:endParaRPr>
          </a:p>
          <a:p>
            <a:pPr defTabSz="914400">
              <a:defRPr/>
            </a:pPr>
            <a:endParaRPr lang="en-IN" sz="2800" dirty="0">
              <a:solidFill>
                <a:schemeClr val="bg1"/>
              </a:solidFill>
              <a:latin typeface="Calibri"/>
            </a:endParaRPr>
          </a:p>
        </p:txBody>
      </p:sp>
      <p:graphicFrame>
        <p:nvGraphicFramePr>
          <p:cNvPr id="4" name="Table 3">
            <a:extLst>
              <a:ext uri="{FF2B5EF4-FFF2-40B4-BE49-F238E27FC236}">
                <a16:creationId xmlns:a16="http://schemas.microsoft.com/office/drawing/2014/main" id="{AEDE298F-47F3-0A91-DB76-A4536E07D077}"/>
              </a:ext>
            </a:extLst>
          </p:cNvPr>
          <p:cNvGraphicFramePr>
            <a:graphicFrameLocks noGrp="1"/>
          </p:cNvGraphicFramePr>
          <p:nvPr>
            <p:extLst>
              <p:ext uri="{D42A27DB-BD31-4B8C-83A1-F6EECF244321}">
                <p14:modId xmlns:p14="http://schemas.microsoft.com/office/powerpoint/2010/main" val="476017866"/>
              </p:ext>
            </p:extLst>
          </p:nvPr>
        </p:nvGraphicFramePr>
        <p:xfrm>
          <a:off x="1752600" y="3824587"/>
          <a:ext cx="8229600" cy="1828800"/>
        </p:xfrm>
        <a:graphic>
          <a:graphicData uri="http://schemas.openxmlformats.org/drawingml/2006/table">
            <a:tbl>
              <a:tblPr>
                <a:tableStyleId>{FABFCF23-3B69-468F-B69F-88F6DE6A72F2}</a:tableStyleId>
              </a:tblPr>
              <a:tblGrid>
                <a:gridCol w="2743200">
                  <a:extLst>
                    <a:ext uri="{9D8B030D-6E8A-4147-A177-3AD203B41FA5}">
                      <a16:colId xmlns:a16="http://schemas.microsoft.com/office/drawing/2014/main" val="3367771180"/>
                    </a:ext>
                  </a:extLst>
                </a:gridCol>
                <a:gridCol w="2743200">
                  <a:extLst>
                    <a:ext uri="{9D8B030D-6E8A-4147-A177-3AD203B41FA5}">
                      <a16:colId xmlns:a16="http://schemas.microsoft.com/office/drawing/2014/main" val="1567794669"/>
                    </a:ext>
                  </a:extLst>
                </a:gridCol>
                <a:gridCol w="2743200">
                  <a:extLst>
                    <a:ext uri="{9D8B030D-6E8A-4147-A177-3AD203B41FA5}">
                      <a16:colId xmlns:a16="http://schemas.microsoft.com/office/drawing/2014/main" val="4008721254"/>
                    </a:ext>
                  </a:extLst>
                </a:gridCol>
              </a:tblGrid>
              <a:tr h="0">
                <a:tc>
                  <a:txBody>
                    <a:bodyPr/>
                    <a:lstStyle/>
                    <a:p>
                      <a:pPr>
                        <a:buNone/>
                      </a:pPr>
                      <a:r>
                        <a:rPr lang="en-IN">
                          <a:solidFill>
                            <a:schemeClr val="tx1"/>
                          </a:solidFill>
                        </a:rPr>
                        <a:t>fixed acidity</a:t>
                      </a:r>
                    </a:p>
                  </a:txBody>
                  <a:tcPr anchor="ctr"/>
                </a:tc>
                <a:tc>
                  <a:txBody>
                    <a:bodyPr/>
                    <a:lstStyle/>
                    <a:p>
                      <a:pPr>
                        <a:buNone/>
                      </a:pPr>
                      <a:r>
                        <a:rPr lang="en-IN">
                          <a:solidFill>
                            <a:schemeClr val="tx1"/>
                          </a:solidFill>
                        </a:rPr>
                        <a:t>alcohol</a:t>
                      </a:r>
                    </a:p>
                  </a:txBody>
                  <a:tcPr anchor="ctr"/>
                </a:tc>
                <a:tc>
                  <a:txBody>
                    <a:bodyPr/>
                    <a:lstStyle/>
                    <a:p>
                      <a:pPr>
                        <a:buNone/>
                      </a:pPr>
                      <a:r>
                        <a:rPr lang="en-IN">
                          <a:solidFill>
                            <a:schemeClr val="tx1"/>
                          </a:solidFill>
                        </a:rPr>
                        <a:t>quality_label</a:t>
                      </a:r>
                    </a:p>
                  </a:txBody>
                  <a:tcPr anchor="ctr"/>
                </a:tc>
                <a:extLst>
                  <a:ext uri="{0D108BD9-81ED-4DB2-BD59-A6C34878D82A}">
                    <a16:rowId xmlns:a16="http://schemas.microsoft.com/office/drawing/2014/main" val="1599587305"/>
                  </a:ext>
                </a:extLst>
              </a:tr>
              <a:tr h="0">
                <a:tc>
                  <a:txBody>
                    <a:bodyPr/>
                    <a:lstStyle/>
                    <a:p>
                      <a:pPr>
                        <a:buNone/>
                      </a:pPr>
                      <a:r>
                        <a:rPr lang="en-IN">
                          <a:solidFill>
                            <a:schemeClr val="tx1"/>
                          </a:solidFill>
                        </a:rPr>
                        <a:t>7.4</a:t>
                      </a:r>
                    </a:p>
                  </a:txBody>
                  <a:tcPr anchor="ctr"/>
                </a:tc>
                <a:tc>
                  <a:txBody>
                    <a:bodyPr/>
                    <a:lstStyle/>
                    <a:p>
                      <a:pPr>
                        <a:buNone/>
                      </a:pPr>
                      <a:r>
                        <a:rPr lang="en-IN">
                          <a:solidFill>
                            <a:schemeClr val="tx1"/>
                          </a:solidFill>
                        </a:rPr>
                        <a:t>9.4</a:t>
                      </a:r>
                    </a:p>
                  </a:txBody>
                  <a:tcPr anchor="ctr"/>
                </a:tc>
                <a:tc>
                  <a:txBody>
                    <a:bodyPr/>
                    <a:lstStyle/>
                    <a:p>
                      <a:pPr>
                        <a:buNone/>
                      </a:pPr>
                      <a:r>
                        <a:rPr lang="en-IN">
                          <a:solidFill>
                            <a:schemeClr val="tx1"/>
                          </a:solidFill>
                        </a:rPr>
                        <a:t>low</a:t>
                      </a:r>
                    </a:p>
                  </a:txBody>
                  <a:tcPr anchor="ctr"/>
                </a:tc>
                <a:extLst>
                  <a:ext uri="{0D108BD9-81ED-4DB2-BD59-A6C34878D82A}">
                    <a16:rowId xmlns:a16="http://schemas.microsoft.com/office/drawing/2014/main" val="1802698253"/>
                  </a:ext>
                </a:extLst>
              </a:tr>
              <a:tr h="0">
                <a:tc>
                  <a:txBody>
                    <a:bodyPr/>
                    <a:lstStyle/>
                    <a:p>
                      <a:pPr>
                        <a:buNone/>
                      </a:pPr>
                      <a:r>
                        <a:rPr lang="en-IN">
                          <a:solidFill>
                            <a:schemeClr val="tx1"/>
                          </a:solidFill>
                        </a:rPr>
                        <a:t>7.8</a:t>
                      </a:r>
                    </a:p>
                  </a:txBody>
                  <a:tcPr anchor="ctr"/>
                </a:tc>
                <a:tc>
                  <a:txBody>
                    <a:bodyPr/>
                    <a:lstStyle/>
                    <a:p>
                      <a:pPr>
                        <a:buNone/>
                      </a:pPr>
                      <a:r>
                        <a:rPr lang="en-IN">
                          <a:solidFill>
                            <a:schemeClr val="tx1"/>
                          </a:solidFill>
                        </a:rPr>
                        <a:t>10.5</a:t>
                      </a:r>
                    </a:p>
                  </a:txBody>
                  <a:tcPr anchor="ctr"/>
                </a:tc>
                <a:tc>
                  <a:txBody>
                    <a:bodyPr/>
                    <a:lstStyle/>
                    <a:p>
                      <a:pPr>
                        <a:buNone/>
                      </a:pPr>
                      <a:r>
                        <a:rPr lang="en-IN">
                          <a:solidFill>
                            <a:schemeClr val="tx1"/>
                          </a:solidFill>
                        </a:rPr>
                        <a:t>medium</a:t>
                      </a:r>
                    </a:p>
                  </a:txBody>
                  <a:tcPr anchor="ctr"/>
                </a:tc>
                <a:extLst>
                  <a:ext uri="{0D108BD9-81ED-4DB2-BD59-A6C34878D82A}">
                    <a16:rowId xmlns:a16="http://schemas.microsoft.com/office/drawing/2014/main" val="1393912288"/>
                  </a:ext>
                </a:extLst>
              </a:tr>
              <a:tr h="0">
                <a:tc>
                  <a:txBody>
                    <a:bodyPr/>
                    <a:lstStyle/>
                    <a:p>
                      <a:pPr>
                        <a:buNone/>
                      </a:pPr>
                      <a:r>
                        <a:rPr lang="en-IN">
                          <a:solidFill>
                            <a:schemeClr val="tx1"/>
                          </a:solidFill>
                        </a:rPr>
                        <a:t>7.3</a:t>
                      </a:r>
                    </a:p>
                  </a:txBody>
                  <a:tcPr anchor="ctr"/>
                </a:tc>
                <a:tc>
                  <a:txBody>
                    <a:bodyPr/>
                    <a:lstStyle/>
                    <a:p>
                      <a:pPr>
                        <a:buNone/>
                      </a:pPr>
                      <a:r>
                        <a:rPr lang="en-IN">
                          <a:solidFill>
                            <a:schemeClr val="tx1"/>
                          </a:solidFill>
                        </a:rPr>
                        <a:t>9.9</a:t>
                      </a:r>
                    </a:p>
                  </a:txBody>
                  <a:tcPr anchor="ctr"/>
                </a:tc>
                <a:tc>
                  <a:txBody>
                    <a:bodyPr/>
                    <a:lstStyle/>
                    <a:p>
                      <a:pPr>
                        <a:buNone/>
                      </a:pPr>
                      <a:r>
                        <a:rPr lang="en-IN">
                          <a:solidFill>
                            <a:schemeClr val="tx1"/>
                          </a:solidFill>
                        </a:rPr>
                        <a:t>low</a:t>
                      </a:r>
                    </a:p>
                  </a:txBody>
                  <a:tcPr anchor="ctr"/>
                </a:tc>
                <a:extLst>
                  <a:ext uri="{0D108BD9-81ED-4DB2-BD59-A6C34878D82A}">
                    <a16:rowId xmlns:a16="http://schemas.microsoft.com/office/drawing/2014/main" val="3504764884"/>
                  </a:ext>
                </a:extLst>
              </a:tr>
              <a:tr h="0">
                <a:tc>
                  <a:txBody>
                    <a:bodyPr/>
                    <a:lstStyle/>
                    <a:p>
                      <a:pPr>
                        <a:buNone/>
                      </a:pPr>
                      <a:r>
                        <a:rPr lang="en-IN" dirty="0">
                          <a:solidFill>
                            <a:schemeClr val="tx1"/>
                          </a:solidFill>
                        </a:rPr>
                        <a:t>6.9</a:t>
                      </a:r>
                    </a:p>
                  </a:txBody>
                  <a:tcPr anchor="ctr"/>
                </a:tc>
                <a:tc>
                  <a:txBody>
                    <a:bodyPr/>
                    <a:lstStyle/>
                    <a:p>
                      <a:pPr>
                        <a:buNone/>
                      </a:pPr>
                      <a:r>
                        <a:rPr lang="en-IN">
                          <a:solidFill>
                            <a:schemeClr val="tx1"/>
                          </a:solidFill>
                        </a:rPr>
                        <a:t>11.0</a:t>
                      </a:r>
                    </a:p>
                  </a:txBody>
                  <a:tcPr anchor="ctr"/>
                </a:tc>
                <a:tc>
                  <a:txBody>
                    <a:bodyPr/>
                    <a:lstStyle/>
                    <a:p>
                      <a:pPr>
                        <a:buNone/>
                      </a:pPr>
                      <a:r>
                        <a:rPr lang="en-IN" dirty="0">
                          <a:solidFill>
                            <a:schemeClr val="tx1"/>
                          </a:solidFill>
                        </a:rPr>
                        <a:t>high</a:t>
                      </a:r>
                    </a:p>
                  </a:txBody>
                  <a:tcPr anchor="ctr"/>
                </a:tc>
                <a:extLst>
                  <a:ext uri="{0D108BD9-81ED-4DB2-BD59-A6C34878D82A}">
                    <a16:rowId xmlns:a16="http://schemas.microsoft.com/office/drawing/2014/main" val="1810553934"/>
                  </a:ext>
                </a:extLst>
              </a:tr>
            </a:tbl>
          </a:graphicData>
        </a:graphic>
      </p:graphicFrame>
      <p:sp>
        <p:nvSpPr>
          <p:cNvPr id="6" name="TextBox 5">
            <a:extLst>
              <a:ext uri="{FF2B5EF4-FFF2-40B4-BE49-F238E27FC236}">
                <a16:creationId xmlns:a16="http://schemas.microsoft.com/office/drawing/2014/main" id="{AC8F50C0-E3B1-763B-56E7-082E169B79C3}"/>
              </a:ext>
            </a:extLst>
          </p:cNvPr>
          <p:cNvSpPr txBox="1"/>
          <p:nvPr/>
        </p:nvSpPr>
        <p:spPr>
          <a:xfrm>
            <a:off x="1637740" y="5759454"/>
            <a:ext cx="3582519" cy="523220"/>
          </a:xfrm>
          <a:prstGeom prst="rect">
            <a:avLst/>
          </a:prstGeom>
          <a:noFill/>
        </p:spPr>
        <p:txBody>
          <a:bodyPr wrap="none" rtlCol="0">
            <a:spAutoFit/>
          </a:bodyPr>
          <a:lstStyle/>
          <a:p>
            <a:r>
              <a:rPr lang="en-IN" sz="2800" dirty="0">
                <a:solidFill>
                  <a:schemeClr val="bg1"/>
                </a:solidFill>
              </a:rPr>
              <a:t>After Ordinal Encoding:</a:t>
            </a:r>
          </a:p>
        </p:txBody>
      </p:sp>
      <p:graphicFrame>
        <p:nvGraphicFramePr>
          <p:cNvPr id="7" name="Table 6">
            <a:extLst>
              <a:ext uri="{FF2B5EF4-FFF2-40B4-BE49-F238E27FC236}">
                <a16:creationId xmlns:a16="http://schemas.microsoft.com/office/drawing/2014/main" id="{DB69EA10-347D-2AF6-616B-CB8D6A5E9763}"/>
              </a:ext>
            </a:extLst>
          </p:cNvPr>
          <p:cNvGraphicFramePr>
            <a:graphicFrameLocks noGrp="1"/>
          </p:cNvGraphicFramePr>
          <p:nvPr>
            <p:extLst>
              <p:ext uri="{D42A27DB-BD31-4B8C-83A1-F6EECF244321}">
                <p14:modId xmlns:p14="http://schemas.microsoft.com/office/powerpoint/2010/main" val="942821087"/>
              </p:ext>
            </p:extLst>
          </p:nvPr>
        </p:nvGraphicFramePr>
        <p:xfrm>
          <a:off x="1780309" y="6501365"/>
          <a:ext cx="8229600" cy="1828800"/>
        </p:xfrm>
        <a:graphic>
          <a:graphicData uri="http://schemas.openxmlformats.org/drawingml/2006/table">
            <a:tbl>
              <a:tblPr>
                <a:tableStyleId>{FABFCF23-3B69-468F-B69F-88F6DE6A72F2}</a:tableStyleId>
              </a:tblPr>
              <a:tblGrid>
                <a:gridCol w="2743200">
                  <a:extLst>
                    <a:ext uri="{9D8B030D-6E8A-4147-A177-3AD203B41FA5}">
                      <a16:colId xmlns:a16="http://schemas.microsoft.com/office/drawing/2014/main" val="3197011079"/>
                    </a:ext>
                  </a:extLst>
                </a:gridCol>
                <a:gridCol w="2743200">
                  <a:extLst>
                    <a:ext uri="{9D8B030D-6E8A-4147-A177-3AD203B41FA5}">
                      <a16:colId xmlns:a16="http://schemas.microsoft.com/office/drawing/2014/main" val="1226697031"/>
                    </a:ext>
                  </a:extLst>
                </a:gridCol>
                <a:gridCol w="2743200">
                  <a:extLst>
                    <a:ext uri="{9D8B030D-6E8A-4147-A177-3AD203B41FA5}">
                      <a16:colId xmlns:a16="http://schemas.microsoft.com/office/drawing/2014/main" val="1034742527"/>
                    </a:ext>
                  </a:extLst>
                </a:gridCol>
              </a:tblGrid>
              <a:tr h="0">
                <a:tc>
                  <a:txBody>
                    <a:bodyPr/>
                    <a:lstStyle/>
                    <a:p>
                      <a:pPr>
                        <a:buNone/>
                      </a:pPr>
                      <a:r>
                        <a:rPr lang="en-IN"/>
                        <a:t>fixed acidity</a:t>
                      </a:r>
                    </a:p>
                  </a:txBody>
                  <a:tcPr anchor="ctr"/>
                </a:tc>
                <a:tc>
                  <a:txBody>
                    <a:bodyPr/>
                    <a:lstStyle/>
                    <a:p>
                      <a:pPr>
                        <a:buNone/>
                      </a:pPr>
                      <a:r>
                        <a:rPr lang="en-IN"/>
                        <a:t>alcohol</a:t>
                      </a:r>
                    </a:p>
                  </a:txBody>
                  <a:tcPr anchor="ctr"/>
                </a:tc>
                <a:tc>
                  <a:txBody>
                    <a:bodyPr/>
                    <a:lstStyle/>
                    <a:p>
                      <a:pPr>
                        <a:buNone/>
                      </a:pPr>
                      <a:r>
                        <a:rPr lang="en-IN"/>
                        <a:t>quality_label</a:t>
                      </a:r>
                    </a:p>
                  </a:txBody>
                  <a:tcPr anchor="ctr"/>
                </a:tc>
                <a:extLst>
                  <a:ext uri="{0D108BD9-81ED-4DB2-BD59-A6C34878D82A}">
                    <a16:rowId xmlns:a16="http://schemas.microsoft.com/office/drawing/2014/main" val="920096905"/>
                  </a:ext>
                </a:extLst>
              </a:tr>
              <a:tr h="0">
                <a:tc>
                  <a:txBody>
                    <a:bodyPr/>
                    <a:lstStyle/>
                    <a:p>
                      <a:pPr>
                        <a:buNone/>
                      </a:pPr>
                      <a:r>
                        <a:rPr lang="en-IN" b="0"/>
                        <a:t>7.4</a:t>
                      </a:r>
                    </a:p>
                  </a:txBody>
                  <a:tcPr anchor="ctr"/>
                </a:tc>
                <a:tc>
                  <a:txBody>
                    <a:bodyPr/>
                    <a:lstStyle/>
                    <a:p>
                      <a:pPr>
                        <a:buNone/>
                      </a:pPr>
                      <a:r>
                        <a:rPr lang="en-IN" b="0"/>
                        <a:t>9.4</a:t>
                      </a:r>
                    </a:p>
                  </a:txBody>
                  <a:tcPr anchor="ctr"/>
                </a:tc>
                <a:tc>
                  <a:txBody>
                    <a:bodyPr/>
                    <a:lstStyle/>
                    <a:p>
                      <a:pPr>
                        <a:buNone/>
                      </a:pPr>
                      <a:r>
                        <a:rPr lang="en-IN" b="0" dirty="0"/>
                        <a:t>0</a:t>
                      </a:r>
                    </a:p>
                  </a:txBody>
                  <a:tcPr anchor="ctr"/>
                </a:tc>
                <a:extLst>
                  <a:ext uri="{0D108BD9-81ED-4DB2-BD59-A6C34878D82A}">
                    <a16:rowId xmlns:a16="http://schemas.microsoft.com/office/drawing/2014/main" val="2696441600"/>
                  </a:ext>
                </a:extLst>
              </a:tr>
              <a:tr h="0">
                <a:tc>
                  <a:txBody>
                    <a:bodyPr/>
                    <a:lstStyle/>
                    <a:p>
                      <a:pPr>
                        <a:buNone/>
                      </a:pPr>
                      <a:r>
                        <a:rPr lang="en-IN" b="0"/>
                        <a:t>7.8</a:t>
                      </a:r>
                    </a:p>
                  </a:txBody>
                  <a:tcPr anchor="ctr"/>
                </a:tc>
                <a:tc>
                  <a:txBody>
                    <a:bodyPr/>
                    <a:lstStyle/>
                    <a:p>
                      <a:pPr>
                        <a:buNone/>
                      </a:pPr>
                      <a:r>
                        <a:rPr lang="en-IN" b="0"/>
                        <a:t>10.5</a:t>
                      </a:r>
                    </a:p>
                  </a:txBody>
                  <a:tcPr anchor="ctr"/>
                </a:tc>
                <a:tc>
                  <a:txBody>
                    <a:bodyPr/>
                    <a:lstStyle/>
                    <a:p>
                      <a:pPr>
                        <a:buNone/>
                      </a:pPr>
                      <a:r>
                        <a:rPr lang="en-IN" b="0"/>
                        <a:t>1</a:t>
                      </a:r>
                    </a:p>
                  </a:txBody>
                  <a:tcPr anchor="ctr"/>
                </a:tc>
                <a:extLst>
                  <a:ext uri="{0D108BD9-81ED-4DB2-BD59-A6C34878D82A}">
                    <a16:rowId xmlns:a16="http://schemas.microsoft.com/office/drawing/2014/main" val="1212494583"/>
                  </a:ext>
                </a:extLst>
              </a:tr>
              <a:tr h="0">
                <a:tc>
                  <a:txBody>
                    <a:bodyPr/>
                    <a:lstStyle/>
                    <a:p>
                      <a:pPr>
                        <a:buNone/>
                      </a:pPr>
                      <a:r>
                        <a:rPr lang="en-IN" b="0"/>
                        <a:t>7.3</a:t>
                      </a:r>
                    </a:p>
                  </a:txBody>
                  <a:tcPr anchor="ctr"/>
                </a:tc>
                <a:tc>
                  <a:txBody>
                    <a:bodyPr/>
                    <a:lstStyle/>
                    <a:p>
                      <a:pPr>
                        <a:buNone/>
                      </a:pPr>
                      <a:r>
                        <a:rPr lang="en-IN" b="0"/>
                        <a:t>9.9</a:t>
                      </a:r>
                    </a:p>
                  </a:txBody>
                  <a:tcPr anchor="ctr"/>
                </a:tc>
                <a:tc>
                  <a:txBody>
                    <a:bodyPr/>
                    <a:lstStyle/>
                    <a:p>
                      <a:pPr>
                        <a:buNone/>
                      </a:pPr>
                      <a:r>
                        <a:rPr lang="en-IN" b="0"/>
                        <a:t>0</a:t>
                      </a:r>
                    </a:p>
                  </a:txBody>
                  <a:tcPr anchor="ctr"/>
                </a:tc>
                <a:extLst>
                  <a:ext uri="{0D108BD9-81ED-4DB2-BD59-A6C34878D82A}">
                    <a16:rowId xmlns:a16="http://schemas.microsoft.com/office/drawing/2014/main" val="3244422399"/>
                  </a:ext>
                </a:extLst>
              </a:tr>
              <a:tr h="0">
                <a:tc>
                  <a:txBody>
                    <a:bodyPr/>
                    <a:lstStyle/>
                    <a:p>
                      <a:pPr>
                        <a:buNone/>
                      </a:pPr>
                      <a:r>
                        <a:rPr lang="en-IN" b="0"/>
                        <a:t>6.9</a:t>
                      </a:r>
                    </a:p>
                  </a:txBody>
                  <a:tcPr anchor="ctr"/>
                </a:tc>
                <a:tc>
                  <a:txBody>
                    <a:bodyPr/>
                    <a:lstStyle/>
                    <a:p>
                      <a:pPr>
                        <a:buNone/>
                      </a:pPr>
                      <a:r>
                        <a:rPr lang="en-IN" b="0"/>
                        <a:t>11.0</a:t>
                      </a:r>
                    </a:p>
                  </a:txBody>
                  <a:tcPr anchor="ctr"/>
                </a:tc>
                <a:tc>
                  <a:txBody>
                    <a:bodyPr/>
                    <a:lstStyle/>
                    <a:p>
                      <a:pPr>
                        <a:buNone/>
                      </a:pPr>
                      <a:r>
                        <a:rPr lang="en-IN" b="0" dirty="0"/>
                        <a:t>2</a:t>
                      </a:r>
                    </a:p>
                  </a:txBody>
                  <a:tcPr anchor="ctr"/>
                </a:tc>
                <a:extLst>
                  <a:ext uri="{0D108BD9-81ED-4DB2-BD59-A6C34878D82A}">
                    <a16:rowId xmlns:a16="http://schemas.microsoft.com/office/drawing/2014/main" val="3993879062"/>
                  </a:ext>
                </a:extLst>
              </a:tr>
            </a:tbl>
          </a:graphicData>
        </a:graphic>
      </p:graphicFrame>
    </p:spTree>
    <p:extLst>
      <p:ext uri="{BB962C8B-B14F-4D97-AF65-F5344CB8AC3E}">
        <p14:creationId xmlns:p14="http://schemas.microsoft.com/office/powerpoint/2010/main" val="2936444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03C08FA8-1A71-F155-D939-21CDC8394C0C}"/>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24CA2A7F-2C9E-05E2-90FB-E047AC3C69CF}"/>
              </a:ext>
            </a:extLst>
          </p:cNvPr>
          <p:cNvSpPr txBox="1"/>
          <p:nvPr/>
        </p:nvSpPr>
        <p:spPr>
          <a:xfrm>
            <a:off x="1638183" y="239496"/>
            <a:ext cx="16497419" cy="905825"/>
          </a:xfrm>
          <a:prstGeom prst="rect">
            <a:avLst/>
          </a:prstGeom>
        </p:spPr>
        <p:txBody>
          <a:bodyPr wrap="square" lIns="0" tIns="0" rIns="0" bIns="0" rtlCol="0" anchor="t">
            <a:spAutoFit/>
          </a:bodyPr>
          <a:lstStyle/>
          <a:p>
            <a:pPr defTabSz="914400">
              <a:lnSpc>
                <a:spcPts val="8143"/>
              </a:lnSpc>
              <a:defRPr/>
            </a:pPr>
            <a:r>
              <a:rPr lang="en-US" sz="4000" b="1" dirty="0">
                <a:solidFill>
                  <a:srgbClr val="36E9FD"/>
                </a:solidFill>
                <a:latin typeface="Montserrat Semi-Bold" panose="020B0604020202020204" charset="0"/>
                <a:ea typeface="Montserrat Semi-Bold"/>
                <a:cs typeface="Montserrat Semi-Bold"/>
                <a:sym typeface="Montserrat Semi-Bold"/>
              </a:rPr>
              <a:t>STANDARDIZATION METHODS FOR DATA PREPROCESSING</a:t>
            </a:r>
          </a:p>
        </p:txBody>
      </p:sp>
      <p:sp>
        <p:nvSpPr>
          <p:cNvPr id="25" name="TextBox 25">
            <a:extLst>
              <a:ext uri="{FF2B5EF4-FFF2-40B4-BE49-F238E27FC236}">
                <a16:creationId xmlns:a16="http://schemas.microsoft.com/office/drawing/2014/main" id="{3FC38BEB-ED9A-D754-905A-7F9C87B56873}"/>
              </a:ext>
            </a:extLst>
          </p:cNvPr>
          <p:cNvSpPr txBox="1"/>
          <p:nvPr/>
        </p:nvSpPr>
        <p:spPr>
          <a:xfrm>
            <a:off x="483809" y="96282"/>
            <a:ext cx="1154372" cy="394339"/>
          </a:xfrm>
          <a:prstGeom prst="rect">
            <a:avLst/>
          </a:prstGeom>
        </p:spPr>
        <p:txBody>
          <a:bodyPr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17</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68FA9FE-EB32-0C36-7967-9CDB9E32D174}"/>
                  </a:ext>
                </a:extLst>
              </p:cNvPr>
              <p:cNvSpPr txBox="1"/>
              <p:nvPr/>
            </p:nvSpPr>
            <p:spPr>
              <a:xfrm>
                <a:off x="1524000" y="1346755"/>
                <a:ext cx="13258800" cy="9140964"/>
              </a:xfrm>
              <a:prstGeom prst="rect">
                <a:avLst/>
              </a:prstGeom>
              <a:noFill/>
            </p:spPr>
            <p:txBody>
              <a:bodyPr wrap="square" rtlCol="0">
                <a:spAutoFit/>
              </a:bodyPr>
              <a:lstStyle/>
              <a:p>
                <a:pPr marL="514350" indent="-514350" defTabSz="914400">
                  <a:buAutoNum type="arabicPeriod"/>
                  <a:defRPr/>
                </a:pPr>
                <a:r>
                  <a:rPr lang="en-IN" sz="2800" b="1" dirty="0">
                    <a:solidFill>
                      <a:schemeClr val="bg1"/>
                    </a:solidFill>
                    <a:latin typeface="Calibri"/>
                  </a:rPr>
                  <a:t>Z-Score Standardization</a:t>
                </a:r>
              </a:p>
              <a:p>
                <a:pPr lvl="0">
                  <a:defRPr/>
                </a:pPr>
                <a:r>
                  <a:rPr lang="en-US" sz="2800" dirty="0">
                    <a:solidFill>
                      <a:schemeClr val="bg1"/>
                    </a:solidFill>
                  </a:rPr>
                  <a:t>A z-score gives you an idea of how far from the mean a data point is. More technically, it’s a measure of how many standard deviation</a:t>
                </a:r>
                <a:r>
                  <a:rPr lang="en-US" sz="2800" u="sng" dirty="0">
                    <a:solidFill>
                      <a:schemeClr val="bg1"/>
                    </a:solidFill>
                  </a:rPr>
                  <a:t> </a:t>
                </a:r>
                <a:r>
                  <a:rPr lang="en-US" sz="2800" dirty="0">
                    <a:solidFill>
                      <a:schemeClr val="bg1"/>
                    </a:solidFill>
                  </a:rPr>
                  <a:t>below or above the population mean a raw score is.</a:t>
                </a:r>
                <a:endParaRPr lang="en-IN" sz="2800" b="1" dirty="0">
                  <a:solidFill>
                    <a:schemeClr val="bg1"/>
                  </a:solidFill>
                  <a:latin typeface="Calibri"/>
                </a:endParaRPr>
              </a:p>
              <a:p>
                <a:pPr defTabSz="914400">
                  <a:defRPr/>
                </a:pPr>
                <a:r>
                  <a:rPr lang="en-IN" sz="2800" b="1" dirty="0">
                    <a:solidFill>
                      <a:schemeClr val="bg1"/>
                    </a:solidFill>
                    <a:latin typeface="Calibri"/>
                  </a:rPr>
                  <a:t>Formula: </a:t>
                </a:r>
              </a:p>
              <a:p>
                <a:r>
                  <a:rPr lang="en-IN" sz="2800" b="1" dirty="0">
                    <a:solidFill>
                      <a:schemeClr val="bg1"/>
                    </a:solidFill>
                    <a:latin typeface="Calibri"/>
                  </a:rPr>
                  <a:t>			</a:t>
                </a:r>
                <a:r>
                  <a:rPr lang="en-IN" sz="2800" b="1" dirty="0">
                    <a:solidFill>
                      <a:schemeClr val="bg1"/>
                    </a:solidFill>
                  </a:rPr>
                  <a:t>z = (x – </a:t>
                </a:r>
                <a:r>
                  <a:rPr lang="el-GR" sz="2800" b="1" dirty="0">
                    <a:solidFill>
                      <a:schemeClr val="bg1"/>
                    </a:solidFill>
                  </a:rPr>
                  <a:t>μ) / σ</a:t>
                </a:r>
                <a:endParaRPr lang="en-IN" sz="2800" b="1" dirty="0">
                  <a:solidFill>
                    <a:schemeClr val="bg1"/>
                  </a:solidFill>
                  <a:latin typeface="Calibri"/>
                </a:endParaRPr>
              </a:p>
              <a:p>
                <a:r>
                  <a:rPr lang="en-US" sz="2800" dirty="0">
                    <a:solidFill>
                      <a:schemeClr val="bg1"/>
                    </a:solidFill>
                  </a:rPr>
                  <a:t>Where:</a:t>
                </a:r>
              </a:p>
              <a:p>
                <a14:m>
                  <m:oMath xmlns:m="http://schemas.openxmlformats.org/officeDocument/2006/math">
                    <m:r>
                      <a:rPr lang="en-US" sz="2800" i="1">
                        <a:solidFill>
                          <a:schemeClr val="bg1"/>
                        </a:solidFill>
                        <a:latin typeface="Cambria Math" panose="02040503050406030204" pitchFamily="18" charset="0"/>
                      </a:rPr>
                      <m:t>𝜇</m:t>
                    </m:r>
                  </m:oMath>
                </a14:m>
                <a:r>
                  <a:rPr lang="en-US" sz="2800" dirty="0">
                    <a:solidFill>
                      <a:schemeClr val="bg1"/>
                    </a:solidFill>
                  </a:rPr>
                  <a:t>= mean </a:t>
                </a:r>
              </a:p>
              <a:p>
                <a14:m>
                  <m:oMath xmlns:m="http://schemas.openxmlformats.org/officeDocument/2006/math">
                    <m:r>
                      <a:rPr lang="en-US" sz="2800" i="1">
                        <a:solidFill>
                          <a:schemeClr val="bg1"/>
                        </a:solidFill>
                        <a:latin typeface="Cambria Math" panose="02040503050406030204" pitchFamily="18" charset="0"/>
                      </a:rPr>
                      <m:t>𝜎</m:t>
                    </m:r>
                  </m:oMath>
                </a14:m>
                <a:r>
                  <a:rPr lang="en-US" sz="2800" dirty="0">
                    <a:solidFill>
                      <a:schemeClr val="bg1"/>
                    </a:solidFill>
                  </a:rPr>
                  <a:t>= standard deviation </a:t>
                </a:r>
              </a:p>
              <a:p>
                <a:r>
                  <a:rPr lang="en-US" sz="2800" b="1" dirty="0">
                    <a:solidFill>
                      <a:schemeClr val="bg1"/>
                    </a:solidFill>
                  </a:rPr>
                  <a:t>Properties</a:t>
                </a:r>
              </a:p>
              <a:p>
                <a:r>
                  <a:rPr lang="en-US" sz="2800" dirty="0">
                    <a:solidFill>
                      <a:schemeClr val="bg1"/>
                    </a:solidFill>
                  </a:rPr>
                  <a:t>Mean becomes 0 </a:t>
                </a:r>
              </a:p>
              <a:p>
                <a:r>
                  <a:rPr lang="en-US" sz="2800" dirty="0">
                    <a:solidFill>
                      <a:schemeClr val="bg1"/>
                    </a:solidFill>
                  </a:rPr>
                  <a:t>Standard deviation becomes 1 </a:t>
                </a:r>
              </a:p>
              <a:p>
                <a:r>
                  <a:rPr lang="en-US" sz="2800" b="1" dirty="0">
                    <a:solidFill>
                      <a:schemeClr val="bg1"/>
                    </a:solidFill>
                  </a:rPr>
                  <a:t>Importance</a:t>
                </a:r>
              </a:p>
              <a:p>
                <a:r>
                  <a:rPr lang="en-US" sz="2800" dirty="0">
                    <a:solidFill>
                      <a:schemeClr val="bg1"/>
                    </a:solidFill>
                  </a:rPr>
                  <a:t>Prevents dominance of large-scale features.</a:t>
                </a:r>
              </a:p>
              <a:p>
                <a:endParaRPr lang="en-US" sz="2800" dirty="0">
                  <a:solidFill>
                    <a:schemeClr val="bg1"/>
                  </a:solidFill>
                </a:endParaRPr>
              </a:p>
              <a:p>
                <a:r>
                  <a:rPr lang="en-IN" sz="2800" b="1" dirty="0">
                    <a:solidFill>
                      <a:schemeClr val="bg1"/>
                    </a:solidFill>
                  </a:rPr>
                  <a:t>Model Impact</a:t>
                </a:r>
              </a:p>
              <a:p>
                <a:r>
                  <a:rPr lang="en-IN" sz="2800" b="1" dirty="0">
                    <a:solidFill>
                      <a:schemeClr val="bg1"/>
                    </a:solidFill>
                  </a:rPr>
                  <a:t>k-NN: </a:t>
                </a:r>
                <a:r>
                  <a:rPr lang="en-IN" sz="2800" dirty="0">
                    <a:solidFill>
                      <a:schemeClr val="bg1"/>
                    </a:solidFill>
                  </a:rPr>
                  <a:t>Strong improvement due to balanced distances.</a:t>
                </a:r>
              </a:p>
              <a:p>
                <a:r>
                  <a:rPr lang="en-IN" sz="2800" b="1" dirty="0">
                    <a:solidFill>
                      <a:schemeClr val="bg1"/>
                    </a:solidFill>
                  </a:rPr>
                  <a:t>Logistic Regression: </a:t>
                </a:r>
                <a:r>
                  <a:rPr lang="en-IN" sz="2800" dirty="0">
                    <a:solidFill>
                      <a:schemeClr val="bg1"/>
                    </a:solidFill>
                  </a:rPr>
                  <a:t>Improves optimization convergence.</a:t>
                </a:r>
              </a:p>
              <a:p>
                <a:r>
                  <a:rPr lang="en-IN" sz="2800" b="1" dirty="0">
                    <a:solidFill>
                      <a:schemeClr val="bg1"/>
                    </a:solidFill>
                  </a:rPr>
                  <a:t>Decision Tree: </a:t>
                </a:r>
                <a:r>
                  <a:rPr lang="en-IN" sz="2800" dirty="0">
                    <a:solidFill>
                      <a:schemeClr val="bg1"/>
                    </a:solidFill>
                  </a:rPr>
                  <a:t>Minimal effect.</a:t>
                </a:r>
              </a:p>
              <a:p>
                <a:endParaRPr lang="en-US" sz="2800" dirty="0">
                  <a:solidFill>
                    <a:schemeClr val="bg1"/>
                  </a:solidFill>
                </a:endParaRPr>
              </a:p>
              <a:p>
                <a:pPr defTabSz="914400">
                  <a:defRPr/>
                </a:pPr>
                <a:endParaRPr lang="en-IN" sz="2800" b="1" dirty="0">
                  <a:solidFill>
                    <a:schemeClr val="bg1"/>
                  </a:solidFill>
                  <a:latin typeface="Calibri"/>
                </a:endParaRPr>
              </a:p>
            </p:txBody>
          </p:sp>
        </mc:Choice>
        <mc:Fallback xmlns="">
          <p:sp>
            <p:nvSpPr>
              <p:cNvPr id="5" name="TextBox 4">
                <a:extLst>
                  <a:ext uri="{FF2B5EF4-FFF2-40B4-BE49-F238E27FC236}">
                    <a16:creationId xmlns:a16="http://schemas.microsoft.com/office/drawing/2014/main" id="{D68FA9FE-EB32-0C36-7967-9CDB9E32D174}"/>
                  </a:ext>
                </a:extLst>
              </p:cNvPr>
              <p:cNvSpPr txBox="1">
                <a:spLocks noRot="1" noChangeAspect="1" noMove="1" noResize="1" noEditPoints="1" noAdjustHandles="1" noChangeArrowheads="1" noChangeShapeType="1" noTextEdit="1"/>
              </p:cNvSpPr>
              <p:nvPr/>
            </p:nvSpPr>
            <p:spPr>
              <a:xfrm>
                <a:off x="1524000" y="1346755"/>
                <a:ext cx="13258800" cy="9140964"/>
              </a:xfrm>
              <a:prstGeom prst="rect">
                <a:avLst/>
              </a:prstGeom>
              <a:blipFill>
                <a:blip r:embed="rId2"/>
                <a:stretch>
                  <a:fillRect l="-966" t="-734" r="-276"/>
                </a:stretch>
              </a:blipFill>
            </p:spPr>
            <p:txBody>
              <a:bodyPr/>
              <a:lstStyle/>
              <a:p>
                <a:r>
                  <a:rPr lang="en-IN">
                    <a:noFill/>
                  </a:rPr>
                  <a:t> </a:t>
                </a:r>
              </a:p>
            </p:txBody>
          </p:sp>
        </mc:Fallback>
      </mc:AlternateContent>
    </p:spTree>
    <p:extLst>
      <p:ext uri="{BB962C8B-B14F-4D97-AF65-F5344CB8AC3E}">
        <p14:creationId xmlns:p14="http://schemas.microsoft.com/office/powerpoint/2010/main" val="3619946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E489D80D-2C3E-9A97-4145-8BE8ADE98F9B}"/>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244B2241-D66F-FD96-0804-1AD326F4D9A5}"/>
              </a:ext>
            </a:extLst>
          </p:cNvPr>
          <p:cNvSpPr txBox="1"/>
          <p:nvPr/>
        </p:nvSpPr>
        <p:spPr>
          <a:xfrm>
            <a:off x="1334481" y="-159462"/>
            <a:ext cx="16497419" cy="905825"/>
          </a:xfrm>
          <a:prstGeom prst="rect">
            <a:avLst/>
          </a:prstGeom>
        </p:spPr>
        <p:txBody>
          <a:bodyPr wrap="square" lIns="0" tIns="0" rIns="0" bIns="0" rtlCol="0" anchor="t">
            <a:spAutoFit/>
          </a:bodyPr>
          <a:lstStyle/>
          <a:p>
            <a:pPr marL="0" marR="0" lvl="0" indent="0" algn="l" defTabSz="914400" rtl="0" eaLnBrk="1" fontAlgn="auto" latinLnBrk="0" hangingPunct="1">
              <a:lnSpc>
                <a:spcPts val="8143"/>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36E9FD"/>
                </a:solidFill>
                <a:effectLst/>
                <a:uLnTx/>
                <a:uFillTx/>
                <a:latin typeface="Montserrat Semi-Bold" panose="020B0604020202020204" charset="0"/>
                <a:ea typeface="Montserrat Semi-Bold"/>
                <a:cs typeface="Montserrat Semi-Bold"/>
                <a:sym typeface="Montserrat Semi-Bold"/>
              </a:rPr>
              <a:t>STANDARDIZATION METHODS FOR DATA PREPROCESSING</a:t>
            </a:r>
          </a:p>
        </p:txBody>
      </p:sp>
      <p:sp>
        <p:nvSpPr>
          <p:cNvPr id="25" name="TextBox 25">
            <a:extLst>
              <a:ext uri="{FF2B5EF4-FFF2-40B4-BE49-F238E27FC236}">
                <a16:creationId xmlns:a16="http://schemas.microsoft.com/office/drawing/2014/main" id="{8E7C605D-E65E-79E5-5871-346AD4130638}"/>
              </a:ext>
            </a:extLst>
          </p:cNvPr>
          <p:cNvSpPr txBox="1"/>
          <p:nvPr/>
        </p:nvSpPr>
        <p:spPr>
          <a:xfrm>
            <a:off x="483809" y="96282"/>
            <a:ext cx="1154372" cy="394339"/>
          </a:xfrm>
          <a:prstGeom prst="rect">
            <a:avLst/>
          </a:prstGeom>
        </p:spPr>
        <p:txBody>
          <a:bodyPr lIns="0" tIns="0" rIns="0" bIns="0" rtlCol="0" anchor="t">
            <a:spAutoFit/>
          </a:bodyPr>
          <a:lstStyle/>
          <a:p>
            <a:pPr marL="0" marR="0" lvl="0" indent="0" algn="l" defTabSz="914400" rtl="0" eaLnBrk="1" fontAlgn="auto" latinLnBrk="0" hangingPunct="1">
              <a:lnSpc>
                <a:spcPts val="4057"/>
              </a:lnSpc>
              <a:spcBef>
                <a:spcPts val="0"/>
              </a:spcBef>
              <a:spcAft>
                <a:spcPts val="0"/>
              </a:spcAft>
              <a:buClrTx/>
              <a:buSzTx/>
              <a:buFontTx/>
              <a:buNone/>
              <a:tabLst/>
              <a:defRPr/>
            </a:pPr>
            <a:r>
              <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rPr>
              <a:t>18</a:t>
            </a:r>
          </a:p>
        </p:txBody>
      </p:sp>
      <p:pic>
        <p:nvPicPr>
          <p:cNvPr id="3" name="Picture 2">
            <a:extLst>
              <a:ext uri="{FF2B5EF4-FFF2-40B4-BE49-F238E27FC236}">
                <a16:creationId xmlns:a16="http://schemas.microsoft.com/office/drawing/2014/main" id="{EFCE81C9-8BAE-F284-2E97-D6AEBB5406F6}"/>
              </a:ext>
            </a:extLst>
          </p:cNvPr>
          <p:cNvPicPr>
            <a:picLocks noChangeAspect="1"/>
          </p:cNvPicPr>
          <p:nvPr/>
        </p:nvPicPr>
        <p:blipFill>
          <a:blip r:embed="rId2"/>
          <a:stretch>
            <a:fillRect/>
          </a:stretch>
        </p:blipFill>
        <p:spPr>
          <a:xfrm>
            <a:off x="449173" y="1328410"/>
            <a:ext cx="6256427" cy="7630180"/>
          </a:xfrm>
          <a:prstGeom prst="rect">
            <a:avLst/>
          </a:prstGeom>
        </p:spPr>
      </p:pic>
      <p:sp>
        <p:nvSpPr>
          <p:cNvPr id="6" name="TextBox 5">
            <a:extLst>
              <a:ext uri="{FF2B5EF4-FFF2-40B4-BE49-F238E27FC236}">
                <a16:creationId xmlns:a16="http://schemas.microsoft.com/office/drawing/2014/main" id="{126D17FB-CCE4-D9C3-B421-042E36302F95}"/>
              </a:ext>
            </a:extLst>
          </p:cNvPr>
          <p:cNvSpPr txBox="1"/>
          <p:nvPr/>
        </p:nvSpPr>
        <p:spPr>
          <a:xfrm>
            <a:off x="762000" y="830277"/>
            <a:ext cx="9144000" cy="523220"/>
          </a:xfrm>
          <a:prstGeom prst="rect">
            <a:avLst/>
          </a:prstGeom>
          <a:noFill/>
        </p:spPr>
        <p:txBody>
          <a:bodyPr wrap="square">
            <a:spAutoFit/>
          </a:bodyPr>
          <a:lstStyle/>
          <a:p>
            <a:pPr marL="514350" indent="-514350" defTabSz="914400">
              <a:buAutoNum type="arabicPeriod"/>
              <a:defRPr/>
            </a:pPr>
            <a:r>
              <a:rPr lang="en-IN" sz="2800" b="1" dirty="0">
                <a:solidFill>
                  <a:schemeClr val="bg1"/>
                </a:solidFill>
                <a:latin typeface="Calibri"/>
              </a:rPr>
              <a:t>Z-Score Standardization</a:t>
            </a:r>
          </a:p>
        </p:txBody>
      </p:sp>
      <p:pic>
        <p:nvPicPr>
          <p:cNvPr id="8" name="Picture 7">
            <a:extLst>
              <a:ext uri="{FF2B5EF4-FFF2-40B4-BE49-F238E27FC236}">
                <a16:creationId xmlns:a16="http://schemas.microsoft.com/office/drawing/2014/main" id="{FC2940C1-4F31-6947-EDC4-E441035FFBAA}"/>
              </a:ext>
            </a:extLst>
          </p:cNvPr>
          <p:cNvPicPr>
            <a:picLocks noChangeAspect="1"/>
          </p:cNvPicPr>
          <p:nvPr/>
        </p:nvPicPr>
        <p:blipFill>
          <a:blip r:embed="rId3"/>
          <a:stretch>
            <a:fillRect/>
          </a:stretch>
        </p:blipFill>
        <p:spPr>
          <a:xfrm>
            <a:off x="6934200" y="1340954"/>
            <a:ext cx="5777345" cy="7630180"/>
          </a:xfrm>
          <a:prstGeom prst="rect">
            <a:avLst/>
          </a:prstGeom>
        </p:spPr>
      </p:pic>
      <p:pic>
        <p:nvPicPr>
          <p:cNvPr id="10" name="Picture 9">
            <a:extLst>
              <a:ext uri="{FF2B5EF4-FFF2-40B4-BE49-F238E27FC236}">
                <a16:creationId xmlns:a16="http://schemas.microsoft.com/office/drawing/2014/main" id="{3B52EE3C-3806-586F-A591-C77D22F5D425}"/>
              </a:ext>
            </a:extLst>
          </p:cNvPr>
          <p:cNvPicPr>
            <a:picLocks noChangeAspect="1"/>
          </p:cNvPicPr>
          <p:nvPr/>
        </p:nvPicPr>
        <p:blipFill>
          <a:blip r:embed="rId4"/>
          <a:stretch>
            <a:fillRect/>
          </a:stretch>
        </p:blipFill>
        <p:spPr>
          <a:xfrm>
            <a:off x="12801600" y="3695700"/>
            <a:ext cx="5410200" cy="4358952"/>
          </a:xfrm>
          <a:prstGeom prst="rect">
            <a:avLst/>
          </a:prstGeom>
        </p:spPr>
      </p:pic>
      <p:pic>
        <p:nvPicPr>
          <p:cNvPr id="12" name="Picture 11">
            <a:extLst>
              <a:ext uri="{FF2B5EF4-FFF2-40B4-BE49-F238E27FC236}">
                <a16:creationId xmlns:a16="http://schemas.microsoft.com/office/drawing/2014/main" id="{E36D6A51-7EC0-9B0C-6AA4-75992A4C3D3D}"/>
              </a:ext>
            </a:extLst>
          </p:cNvPr>
          <p:cNvPicPr>
            <a:picLocks noChangeAspect="1"/>
          </p:cNvPicPr>
          <p:nvPr/>
        </p:nvPicPr>
        <p:blipFill>
          <a:blip r:embed="rId5"/>
          <a:stretch>
            <a:fillRect/>
          </a:stretch>
        </p:blipFill>
        <p:spPr>
          <a:xfrm>
            <a:off x="449173" y="9127652"/>
            <a:ext cx="3894227" cy="892648"/>
          </a:xfrm>
          <a:prstGeom prst="rect">
            <a:avLst/>
          </a:prstGeom>
        </p:spPr>
      </p:pic>
      <p:pic>
        <p:nvPicPr>
          <p:cNvPr id="14" name="Picture 13">
            <a:extLst>
              <a:ext uri="{FF2B5EF4-FFF2-40B4-BE49-F238E27FC236}">
                <a16:creationId xmlns:a16="http://schemas.microsoft.com/office/drawing/2014/main" id="{FA851A2B-3C2F-3776-7E04-DBFD1CF80DE6}"/>
              </a:ext>
            </a:extLst>
          </p:cNvPr>
          <p:cNvPicPr>
            <a:picLocks noChangeAspect="1"/>
          </p:cNvPicPr>
          <p:nvPr/>
        </p:nvPicPr>
        <p:blipFill>
          <a:blip r:embed="rId6"/>
          <a:stretch>
            <a:fillRect/>
          </a:stretch>
        </p:blipFill>
        <p:spPr>
          <a:xfrm>
            <a:off x="4572000" y="9115169"/>
            <a:ext cx="3657600" cy="876024"/>
          </a:xfrm>
          <a:prstGeom prst="rect">
            <a:avLst/>
          </a:prstGeom>
        </p:spPr>
      </p:pic>
      <p:pic>
        <p:nvPicPr>
          <p:cNvPr id="16" name="Picture 15">
            <a:extLst>
              <a:ext uri="{FF2B5EF4-FFF2-40B4-BE49-F238E27FC236}">
                <a16:creationId xmlns:a16="http://schemas.microsoft.com/office/drawing/2014/main" id="{32587E34-92DB-8838-6190-1E3CB7F208CF}"/>
              </a:ext>
            </a:extLst>
          </p:cNvPr>
          <p:cNvPicPr>
            <a:picLocks noChangeAspect="1"/>
          </p:cNvPicPr>
          <p:nvPr/>
        </p:nvPicPr>
        <p:blipFill>
          <a:blip r:embed="rId7"/>
          <a:stretch>
            <a:fillRect/>
          </a:stretch>
        </p:blipFill>
        <p:spPr>
          <a:xfrm>
            <a:off x="8458200" y="9127651"/>
            <a:ext cx="3657600" cy="876023"/>
          </a:xfrm>
          <a:prstGeom prst="rect">
            <a:avLst/>
          </a:prstGeom>
        </p:spPr>
      </p:pic>
    </p:spTree>
    <p:extLst>
      <p:ext uri="{BB962C8B-B14F-4D97-AF65-F5344CB8AC3E}">
        <p14:creationId xmlns:p14="http://schemas.microsoft.com/office/powerpoint/2010/main" val="1402962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EB6A2B23-1EFA-2556-F24B-80277E7593D6}"/>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F1C6EB79-63EC-49DF-067C-842D4DFC87B5}"/>
              </a:ext>
            </a:extLst>
          </p:cNvPr>
          <p:cNvSpPr txBox="1"/>
          <p:nvPr/>
        </p:nvSpPr>
        <p:spPr>
          <a:xfrm>
            <a:off x="1638183" y="239496"/>
            <a:ext cx="16497419" cy="905825"/>
          </a:xfrm>
          <a:prstGeom prst="rect">
            <a:avLst/>
          </a:prstGeom>
        </p:spPr>
        <p:txBody>
          <a:bodyPr wrap="square" lIns="0" tIns="0" rIns="0" bIns="0" rtlCol="0" anchor="t">
            <a:spAutoFit/>
          </a:bodyPr>
          <a:lstStyle/>
          <a:p>
            <a:pPr defTabSz="914400">
              <a:lnSpc>
                <a:spcPts val="8143"/>
              </a:lnSpc>
              <a:defRPr/>
            </a:pPr>
            <a:r>
              <a:rPr lang="en-US" sz="4000" b="1" dirty="0">
                <a:solidFill>
                  <a:srgbClr val="36E9FD"/>
                </a:solidFill>
                <a:latin typeface="Montserrat Semi-Bold" panose="020B0604020202020204" charset="0"/>
                <a:ea typeface="Montserrat Semi-Bold"/>
                <a:cs typeface="Montserrat Semi-Bold"/>
                <a:sym typeface="Montserrat Semi-Bold"/>
              </a:rPr>
              <a:t>STANDARDIZATION METHODS FOR DATA PREPROCESSING</a:t>
            </a:r>
          </a:p>
        </p:txBody>
      </p:sp>
      <p:sp>
        <p:nvSpPr>
          <p:cNvPr id="25" name="TextBox 25">
            <a:extLst>
              <a:ext uri="{FF2B5EF4-FFF2-40B4-BE49-F238E27FC236}">
                <a16:creationId xmlns:a16="http://schemas.microsoft.com/office/drawing/2014/main" id="{1914ED72-0E04-5536-E9E0-2D64C55E4F6A}"/>
              </a:ext>
            </a:extLst>
          </p:cNvPr>
          <p:cNvSpPr txBox="1"/>
          <p:nvPr/>
        </p:nvSpPr>
        <p:spPr>
          <a:xfrm>
            <a:off x="483809" y="96282"/>
            <a:ext cx="1154372" cy="394339"/>
          </a:xfrm>
          <a:prstGeom prst="rect">
            <a:avLst/>
          </a:prstGeom>
        </p:spPr>
        <p:txBody>
          <a:bodyPr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19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19EA944-D4E4-858F-103F-6CD61274DC81}"/>
                  </a:ext>
                </a:extLst>
              </p:cNvPr>
              <p:cNvSpPr txBox="1"/>
              <p:nvPr/>
            </p:nvSpPr>
            <p:spPr>
              <a:xfrm>
                <a:off x="1524000" y="1346755"/>
                <a:ext cx="12645632" cy="8730532"/>
              </a:xfrm>
              <a:prstGeom prst="rect">
                <a:avLst/>
              </a:prstGeom>
              <a:noFill/>
            </p:spPr>
            <p:txBody>
              <a:bodyPr wrap="square" rtlCol="0">
                <a:spAutoFit/>
              </a:bodyPr>
              <a:lstStyle/>
              <a:p>
                <a:pPr defTabSz="914400">
                  <a:defRPr/>
                </a:pPr>
                <a:r>
                  <a:rPr lang="en-IN" sz="2800" b="1" dirty="0">
                    <a:solidFill>
                      <a:schemeClr val="bg1"/>
                    </a:solidFill>
                    <a:latin typeface="Calibri"/>
                  </a:rPr>
                  <a:t>2. Robust Scaler Standardization</a:t>
                </a:r>
              </a:p>
              <a:p>
                <a:pPr defTabSz="914400">
                  <a:defRPr/>
                </a:pPr>
                <a:endParaRPr lang="en-IN" sz="2800" b="1" dirty="0">
                  <a:solidFill>
                    <a:schemeClr val="bg1"/>
                  </a:solidFill>
                  <a:latin typeface="Calibri"/>
                </a:endParaRPr>
              </a:p>
              <a:p>
                <a:pPr defTabSz="914400">
                  <a:defRPr/>
                </a:pPr>
                <a:r>
                  <a:rPr lang="en-IN" sz="2800" dirty="0">
                    <a:solidFill>
                      <a:schemeClr val="bg1"/>
                    </a:solidFill>
                    <a:latin typeface="Calibri"/>
                  </a:rPr>
                  <a:t>Is used to scale features so that they are </a:t>
                </a:r>
                <a:r>
                  <a:rPr lang="en-IN" sz="2800" dirty="0" err="1">
                    <a:solidFill>
                      <a:schemeClr val="bg1"/>
                    </a:solidFill>
                    <a:latin typeface="Calibri"/>
                  </a:rPr>
                  <a:t>centered</a:t>
                </a:r>
                <a:r>
                  <a:rPr lang="en-IN" sz="2800" dirty="0">
                    <a:solidFill>
                      <a:schemeClr val="bg1"/>
                    </a:solidFill>
                    <a:latin typeface="Calibri"/>
                  </a:rPr>
                  <a:t> around 0 and have uniform spread. It uses median and IQR , making it highly resilient to extreme outliers.</a:t>
                </a:r>
              </a:p>
              <a:p>
                <a:pPr defTabSz="914400">
                  <a:defRPr/>
                </a:pPr>
                <a:endParaRPr lang="en-IN" sz="2800" b="1" dirty="0">
                  <a:solidFill>
                    <a:schemeClr val="bg1"/>
                  </a:solidFill>
                  <a:latin typeface="Calibri"/>
                </a:endParaRPr>
              </a:p>
              <a:p>
                <a:r>
                  <a:rPr lang="en-IN" sz="2800" b="1" dirty="0">
                    <a:solidFill>
                      <a:schemeClr val="bg1"/>
                    </a:solidFill>
                  </a:rPr>
                  <a:t>Formula</a:t>
                </a:r>
              </a:p>
              <a:p>
                <a:pPr/>
                <a14:m>
                  <m:oMathPara xmlns:m="http://schemas.openxmlformats.org/officeDocument/2006/math">
                    <m:oMathParaPr>
                      <m:jc m:val="centerGroup"/>
                    </m:oMathParaPr>
                    <m:oMath xmlns:m="http://schemas.openxmlformats.org/officeDocument/2006/math">
                      <m:sSup>
                        <m:sSupPr>
                          <m:ctrlPr>
                            <a:rPr lang="ar-AE" sz="2800" i="1">
                              <a:solidFill>
                                <a:schemeClr val="bg1"/>
                              </a:solidFill>
                              <a:latin typeface="Cambria Math" panose="02040503050406030204" pitchFamily="18" charset="0"/>
                            </a:rPr>
                          </m:ctrlPr>
                        </m:sSupPr>
                        <m:e>
                          <m:r>
                            <a:rPr lang="ar-AE" sz="2800" i="1">
                              <a:solidFill>
                                <a:schemeClr val="bg1"/>
                              </a:solidFill>
                              <a:latin typeface="Cambria Math" panose="02040503050406030204" pitchFamily="18" charset="0"/>
                            </a:rPr>
                            <m:t>𝑥</m:t>
                          </m:r>
                        </m:e>
                        <m:sup>
                          <m:r>
                            <a:rPr lang="ar-AE" sz="2800">
                              <a:solidFill>
                                <a:schemeClr val="bg1"/>
                              </a:solidFill>
                              <a:latin typeface="Cambria Math" panose="02040503050406030204" pitchFamily="18" charset="0"/>
                            </a:rPr>
                            <m:t>′</m:t>
                          </m:r>
                        </m:sup>
                      </m:sSup>
                      <m:r>
                        <a:rPr lang="ar-AE" sz="2800">
                          <a:solidFill>
                            <a:schemeClr val="bg1"/>
                          </a:solidFill>
                          <a:latin typeface="Cambria Math" panose="02040503050406030204" pitchFamily="18" charset="0"/>
                        </a:rPr>
                        <m:t>=</m:t>
                      </m:r>
                      <m:f>
                        <m:fPr>
                          <m:ctrlPr>
                            <a:rPr lang="ar-AE" sz="2800" i="1">
                              <a:solidFill>
                                <a:schemeClr val="bg1"/>
                              </a:solidFill>
                              <a:latin typeface="Cambria Math" panose="02040503050406030204" pitchFamily="18" charset="0"/>
                            </a:rPr>
                          </m:ctrlPr>
                        </m:fPr>
                        <m:num>
                          <m:r>
                            <a:rPr lang="ar-AE" sz="2800" i="1">
                              <a:solidFill>
                                <a:schemeClr val="bg1"/>
                              </a:solidFill>
                              <a:latin typeface="Cambria Math" panose="02040503050406030204" pitchFamily="18" charset="0"/>
                            </a:rPr>
                            <m:t>𝑥</m:t>
                          </m:r>
                          <m:r>
                            <a:rPr lang="ar-AE" sz="2800">
                              <a:solidFill>
                                <a:schemeClr val="bg1"/>
                              </a:solidFill>
                              <a:latin typeface="Cambria Math" panose="02040503050406030204" pitchFamily="18" charset="0"/>
                            </a:rPr>
                            <m:t>−</m:t>
                          </m:r>
                          <m:r>
                            <a:rPr lang="ar-AE" sz="2800" i="1">
                              <a:solidFill>
                                <a:schemeClr val="bg1"/>
                              </a:solidFill>
                              <a:latin typeface="Cambria Math" panose="02040503050406030204" pitchFamily="18" charset="0"/>
                            </a:rPr>
                            <m:t>𝑀𝑒𝑑𝑖𝑎𝑛</m:t>
                          </m:r>
                        </m:num>
                        <m:den>
                          <m:r>
                            <a:rPr lang="ar-AE" sz="2800" i="1">
                              <a:solidFill>
                                <a:schemeClr val="bg1"/>
                              </a:solidFill>
                              <a:latin typeface="Cambria Math" panose="02040503050406030204" pitchFamily="18" charset="0"/>
                            </a:rPr>
                            <m:t>𝐼𝑄𝑅</m:t>
                          </m:r>
                        </m:den>
                      </m:f>
                    </m:oMath>
                  </m:oMathPara>
                </a14:m>
                <a:endParaRPr lang="ar-AE" sz="2800" dirty="0">
                  <a:solidFill>
                    <a:schemeClr val="bg1"/>
                  </a:solidFill>
                </a:endParaRPr>
              </a:p>
              <a:p>
                <a:r>
                  <a:rPr lang="en-IN" sz="2800" dirty="0">
                    <a:solidFill>
                      <a:schemeClr val="bg1"/>
                    </a:solidFill>
                  </a:rPr>
                  <a:t>Where:</a:t>
                </a:r>
              </a:p>
              <a:p>
                <a:pPr/>
                <a14:m>
                  <m:oMathPara xmlns:m="http://schemas.openxmlformats.org/officeDocument/2006/math">
                    <m:oMathParaPr>
                      <m:jc m:val="centerGroup"/>
                    </m:oMathParaPr>
                    <m:oMath xmlns:m="http://schemas.openxmlformats.org/officeDocument/2006/math">
                      <m:r>
                        <a:rPr lang="en-IN" sz="2800" i="1">
                          <a:solidFill>
                            <a:schemeClr val="bg1"/>
                          </a:solidFill>
                          <a:latin typeface="Cambria Math" panose="02040503050406030204" pitchFamily="18" charset="0"/>
                        </a:rPr>
                        <m:t>𝐼𝑄𝑅</m:t>
                      </m:r>
                      <m:r>
                        <a:rPr lang="en-IN" sz="2800">
                          <a:solidFill>
                            <a:schemeClr val="bg1"/>
                          </a:solidFill>
                          <a:latin typeface="Cambria Math" panose="02040503050406030204" pitchFamily="18" charset="0"/>
                        </a:rPr>
                        <m:t>=</m:t>
                      </m:r>
                      <m:sSub>
                        <m:sSubPr>
                          <m:ctrlPr>
                            <a:rPr lang="ar-AE" sz="2800" i="1">
                              <a:solidFill>
                                <a:schemeClr val="bg1"/>
                              </a:solidFill>
                              <a:latin typeface="Cambria Math" panose="02040503050406030204" pitchFamily="18" charset="0"/>
                            </a:rPr>
                          </m:ctrlPr>
                        </m:sSubPr>
                        <m:e>
                          <m:r>
                            <a:rPr lang="ar-AE" sz="2800" i="1">
                              <a:solidFill>
                                <a:schemeClr val="bg1"/>
                              </a:solidFill>
                              <a:latin typeface="Cambria Math" panose="02040503050406030204" pitchFamily="18" charset="0"/>
                            </a:rPr>
                            <m:t>𝑄</m:t>
                          </m:r>
                        </m:e>
                        <m:sub>
                          <m:r>
                            <a:rPr lang="ar-AE" sz="2800">
                              <a:solidFill>
                                <a:schemeClr val="bg1"/>
                              </a:solidFill>
                              <a:latin typeface="Cambria Math" panose="02040503050406030204" pitchFamily="18" charset="0"/>
                            </a:rPr>
                            <m:t>3</m:t>
                          </m:r>
                        </m:sub>
                      </m:sSub>
                      <m:r>
                        <a:rPr lang="ar-AE" sz="2800">
                          <a:solidFill>
                            <a:schemeClr val="bg1"/>
                          </a:solidFill>
                          <a:latin typeface="Cambria Math" panose="02040503050406030204" pitchFamily="18" charset="0"/>
                        </a:rPr>
                        <m:t>−</m:t>
                      </m:r>
                      <m:sSub>
                        <m:sSubPr>
                          <m:ctrlPr>
                            <a:rPr lang="ar-AE" sz="2800" i="1">
                              <a:solidFill>
                                <a:schemeClr val="bg1"/>
                              </a:solidFill>
                              <a:latin typeface="Cambria Math" panose="02040503050406030204" pitchFamily="18" charset="0"/>
                            </a:rPr>
                          </m:ctrlPr>
                        </m:sSubPr>
                        <m:e>
                          <m:r>
                            <a:rPr lang="ar-AE" sz="2800" i="1">
                              <a:solidFill>
                                <a:schemeClr val="bg1"/>
                              </a:solidFill>
                              <a:latin typeface="Cambria Math" panose="02040503050406030204" pitchFamily="18" charset="0"/>
                            </a:rPr>
                            <m:t>𝑄</m:t>
                          </m:r>
                        </m:e>
                        <m:sub>
                          <m:r>
                            <a:rPr lang="ar-AE" sz="2800">
                              <a:solidFill>
                                <a:schemeClr val="bg1"/>
                              </a:solidFill>
                              <a:latin typeface="Cambria Math" panose="02040503050406030204" pitchFamily="18" charset="0"/>
                            </a:rPr>
                            <m:t>1</m:t>
                          </m:r>
                        </m:sub>
                      </m:sSub>
                    </m:oMath>
                  </m:oMathPara>
                </a14:m>
                <a:endParaRPr lang="ar-AE" sz="2800" dirty="0">
                  <a:solidFill>
                    <a:schemeClr val="bg1"/>
                  </a:solidFill>
                </a:endParaRPr>
              </a:p>
              <a:p>
                <a:r>
                  <a:rPr lang="en-IN" sz="2800" b="1" dirty="0">
                    <a:solidFill>
                      <a:schemeClr val="bg1"/>
                    </a:solidFill>
                  </a:rPr>
                  <a:t>Importance</a:t>
                </a:r>
              </a:p>
              <a:p>
                <a:r>
                  <a:rPr lang="en-IN" sz="2800" dirty="0">
                    <a:solidFill>
                      <a:schemeClr val="bg1"/>
                    </a:solidFill>
                  </a:rPr>
                  <a:t>Robust against outliers.</a:t>
                </a:r>
              </a:p>
              <a:p>
                <a:endParaRPr lang="en-IN" sz="2800" dirty="0">
                  <a:solidFill>
                    <a:schemeClr val="bg1"/>
                  </a:solidFill>
                </a:endParaRPr>
              </a:p>
              <a:p>
                <a:r>
                  <a:rPr lang="en-US" sz="2800" b="1" dirty="0">
                    <a:solidFill>
                      <a:schemeClr val="bg1"/>
                    </a:solidFill>
                  </a:rPr>
                  <a:t>Model Impact</a:t>
                </a:r>
              </a:p>
              <a:p>
                <a:r>
                  <a:rPr lang="en-US" sz="2800" b="1" dirty="0">
                    <a:solidFill>
                      <a:schemeClr val="bg1"/>
                    </a:solidFill>
                  </a:rPr>
                  <a:t>k-NN: </a:t>
                </a:r>
                <a:r>
                  <a:rPr lang="en-US" sz="2800" dirty="0">
                    <a:solidFill>
                      <a:schemeClr val="bg1"/>
                    </a:solidFill>
                  </a:rPr>
                  <a:t>Useful when dataset contains extreme values.</a:t>
                </a:r>
              </a:p>
              <a:p>
                <a:r>
                  <a:rPr lang="en-US" sz="2800" b="1" dirty="0">
                    <a:solidFill>
                      <a:schemeClr val="bg1"/>
                    </a:solidFill>
                  </a:rPr>
                  <a:t>Logistic Regression: </a:t>
                </a:r>
                <a:r>
                  <a:rPr lang="en-US" sz="2800" dirty="0">
                    <a:solidFill>
                      <a:schemeClr val="bg1"/>
                    </a:solidFill>
                  </a:rPr>
                  <a:t>Improves stability under skewed distributions.</a:t>
                </a:r>
              </a:p>
              <a:p>
                <a:r>
                  <a:rPr lang="en-US" sz="2800" b="1" dirty="0">
                    <a:solidFill>
                      <a:schemeClr val="bg1"/>
                    </a:solidFill>
                  </a:rPr>
                  <a:t>Decision Tree: </a:t>
                </a:r>
                <a:r>
                  <a:rPr lang="en-US" sz="2800" dirty="0">
                    <a:solidFill>
                      <a:schemeClr val="bg1"/>
                    </a:solidFill>
                  </a:rPr>
                  <a:t>Minor improvement only.</a:t>
                </a:r>
              </a:p>
              <a:p>
                <a:endParaRPr lang="en-US" sz="2800" dirty="0">
                  <a:solidFill>
                    <a:schemeClr val="bg1"/>
                  </a:solidFill>
                </a:endParaRPr>
              </a:p>
              <a:p>
                <a:endParaRPr lang="en-IN" sz="2800" dirty="0">
                  <a:solidFill>
                    <a:schemeClr val="bg1"/>
                  </a:solidFill>
                </a:endParaRPr>
              </a:p>
              <a:p>
                <a:pPr defTabSz="914400">
                  <a:defRPr/>
                </a:pPr>
                <a:endParaRPr lang="en-IN" sz="2800" b="1" dirty="0">
                  <a:solidFill>
                    <a:schemeClr val="bg1"/>
                  </a:solidFill>
                  <a:latin typeface="Calibri"/>
                </a:endParaRPr>
              </a:p>
            </p:txBody>
          </p:sp>
        </mc:Choice>
        <mc:Fallback xmlns="">
          <p:sp>
            <p:nvSpPr>
              <p:cNvPr id="5" name="TextBox 4">
                <a:extLst>
                  <a:ext uri="{FF2B5EF4-FFF2-40B4-BE49-F238E27FC236}">
                    <a16:creationId xmlns:a16="http://schemas.microsoft.com/office/drawing/2014/main" id="{A19EA944-D4E4-858F-103F-6CD61274DC81}"/>
                  </a:ext>
                </a:extLst>
              </p:cNvPr>
              <p:cNvSpPr txBox="1">
                <a:spLocks noRot="1" noChangeAspect="1" noMove="1" noResize="1" noEditPoints="1" noAdjustHandles="1" noChangeArrowheads="1" noChangeShapeType="1" noTextEdit="1"/>
              </p:cNvSpPr>
              <p:nvPr/>
            </p:nvSpPr>
            <p:spPr>
              <a:xfrm>
                <a:off x="1524000" y="1346755"/>
                <a:ext cx="12645632" cy="8730532"/>
              </a:xfrm>
              <a:prstGeom prst="rect">
                <a:avLst/>
              </a:prstGeom>
              <a:blipFill>
                <a:blip r:embed="rId2"/>
                <a:stretch>
                  <a:fillRect l="-964" t="-698" r="-434"/>
                </a:stretch>
              </a:blipFill>
            </p:spPr>
            <p:txBody>
              <a:bodyPr/>
              <a:lstStyle/>
              <a:p>
                <a:r>
                  <a:rPr lang="en-IN">
                    <a:noFill/>
                  </a:rPr>
                  <a:t> </a:t>
                </a:r>
              </a:p>
            </p:txBody>
          </p:sp>
        </mc:Fallback>
      </mc:AlternateContent>
    </p:spTree>
    <p:extLst>
      <p:ext uri="{BB962C8B-B14F-4D97-AF65-F5344CB8AC3E}">
        <p14:creationId xmlns:p14="http://schemas.microsoft.com/office/powerpoint/2010/main" val="638882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E0F10DB4-FF8A-EB45-0DC9-82F955CB4E20}"/>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808693BD-B2E2-3202-4278-1CDD3A1BC2F5}"/>
              </a:ext>
            </a:extLst>
          </p:cNvPr>
          <p:cNvSpPr txBox="1"/>
          <p:nvPr/>
        </p:nvSpPr>
        <p:spPr>
          <a:xfrm>
            <a:off x="1638183" y="239496"/>
            <a:ext cx="16497419" cy="905825"/>
          </a:xfrm>
          <a:prstGeom prst="rect">
            <a:avLst/>
          </a:prstGeom>
        </p:spPr>
        <p:txBody>
          <a:bodyPr wrap="square" lIns="0" tIns="0" rIns="0" bIns="0" rtlCol="0" anchor="t">
            <a:spAutoFit/>
          </a:bodyPr>
          <a:lstStyle/>
          <a:p>
            <a:pPr marL="0" marR="0" lvl="0" indent="0" algn="l" defTabSz="914400" rtl="0" eaLnBrk="1" fontAlgn="auto" latinLnBrk="0" hangingPunct="1">
              <a:lnSpc>
                <a:spcPts val="8143"/>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36E9FD"/>
                </a:solidFill>
                <a:effectLst/>
                <a:uLnTx/>
                <a:uFillTx/>
                <a:latin typeface="Montserrat Semi-Bold" panose="020B0604020202020204" charset="0"/>
                <a:ea typeface="Montserrat Semi-Bold"/>
                <a:cs typeface="Montserrat Semi-Bold"/>
                <a:sym typeface="Montserrat Semi-Bold"/>
              </a:rPr>
              <a:t>STANDARDIZATION METHODS FOR DATA PREPROCESSING</a:t>
            </a:r>
          </a:p>
        </p:txBody>
      </p:sp>
      <p:sp>
        <p:nvSpPr>
          <p:cNvPr id="25" name="TextBox 25">
            <a:extLst>
              <a:ext uri="{FF2B5EF4-FFF2-40B4-BE49-F238E27FC236}">
                <a16:creationId xmlns:a16="http://schemas.microsoft.com/office/drawing/2014/main" id="{978A4FA7-9251-1719-B637-8814037D2F88}"/>
              </a:ext>
            </a:extLst>
          </p:cNvPr>
          <p:cNvSpPr txBox="1"/>
          <p:nvPr/>
        </p:nvSpPr>
        <p:spPr>
          <a:xfrm>
            <a:off x="483809" y="96282"/>
            <a:ext cx="1154372" cy="394339"/>
          </a:xfrm>
          <a:prstGeom prst="rect">
            <a:avLst/>
          </a:prstGeom>
        </p:spPr>
        <p:txBody>
          <a:bodyPr lIns="0" tIns="0" rIns="0" bIns="0" rtlCol="0" anchor="t">
            <a:spAutoFit/>
          </a:bodyPr>
          <a:lstStyle/>
          <a:p>
            <a:pPr marL="0" marR="0" lvl="0" indent="0" algn="l" defTabSz="914400" rtl="0" eaLnBrk="1" fontAlgn="auto" latinLnBrk="0" hangingPunct="1">
              <a:lnSpc>
                <a:spcPts val="4057"/>
              </a:lnSpc>
              <a:spcBef>
                <a:spcPts val="0"/>
              </a:spcBef>
              <a:spcAft>
                <a:spcPts val="0"/>
              </a:spcAft>
              <a:buClrTx/>
              <a:buSzTx/>
              <a:buFontTx/>
              <a:buNone/>
              <a:tabLst/>
              <a:defRPr/>
            </a:pPr>
            <a:r>
              <a:rPr lang="en-US" sz="3145" dirty="0">
                <a:solidFill>
                  <a:srgbClr val="FFFFFF"/>
                </a:solidFill>
                <a:latin typeface="Mokoto"/>
                <a:ea typeface="Mokoto"/>
                <a:cs typeface="Mokoto"/>
                <a:sym typeface="Mokoto"/>
              </a:rPr>
              <a:t>20</a:t>
            </a:r>
            <a:endPar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endParaRPr>
          </a:p>
        </p:txBody>
      </p:sp>
      <p:sp>
        <p:nvSpPr>
          <p:cNvPr id="5" name="TextBox 4">
            <a:extLst>
              <a:ext uri="{FF2B5EF4-FFF2-40B4-BE49-F238E27FC236}">
                <a16:creationId xmlns:a16="http://schemas.microsoft.com/office/drawing/2014/main" id="{E26CDF54-E6DA-DE57-9301-1B0CA849BB90}"/>
              </a:ext>
            </a:extLst>
          </p:cNvPr>
          <p:cNvSpPr txBox="1"/>
          <p:nvPr/>
        </p:nvSpPr>
        <p:spPr>
          <a:xfrm>
            <a:off x="1524000" y="1288535"/>
            <a:ext cx="525780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prstClr val="white"/>
                </a:solidFill>
                <a:effectLst/>
                <a:uLnTx/>
                <a:uFillTx/>
                <a:latin typeface="Calibri"/>
                <a:ea typeface="+mn-ea"/>
                <a:cs typeface="+mn-cs"/>
              </a:rPr>
              <a:t>2. Robust Scaler Standardization</a:t>
            </a:r>
          </a:p>
        </p:txBody>
      </p:sp>
      <p:pic>
        <p:nvPicPr>
          <p:cNvPr id="3" name="Picture 2">
            <a:extLst>
              <a:ext uri="{FF2B5EF4-FFF2-40B4-BE49-F238E27FC236}">
                <a16:creationId xmlns:a16="http://schemas.microsoft.com/office/drawing/2014/main" id="{F9F68094-1045-E4AD-FF3D-4A94C0695215}"/>
              </a:ext>
            </a:extLst>
          </p:cNvPr>
          <p:cNvPicPr>
            <a:picLocks noChangeAspect="1"/>
          </p:cNvPicPr>
          <p:nvPr/>
        </p:nvPicPr>
        <p:blipFill>
          <a:blip r:embed="rId2"/>
          <a:stretch>
            <a:fillRect/>
          </a:stretch>
        </p:blipFill>
        <p:spPr>
          <a:xfrm>
            <a:off x="762000" y="1958432"/>
            <a:ext cx="5867400" cy="7299867"/>
          </a:xfrm>
          <a:prstGeom prst="rect">
            <a:avLst/>
          </a:prstGeom>
        </p:spPr>
      </p:pic>
      <p:pic>
        <p:nvPicPr>
          <p:cNvPr id="6" name="Picture 5">
            <a:extLst>
              <a:ext uri="{FF2B5EF4-FFF2-40B4-BE49-F238E27FC236}">
                <a16:creationId xmlns:a16="http://schemas.microsoft.com/office/drawing/2014/main" id="{6FF2FF07-6F91-23C6-76B2-0AFDC6A9BDAC}"/>
              </a:ext>
            </a:extLst>
          </p:cNvPr>
          <p:cNvPicPr>
            <a:picLocks noChangeAspect="1"/>
          </p:cNvPicPr>
          <p:nvPr/>
        </p:nvPicPr>
        <p:blipFill>
          <a:blip r:embed="rId3"/>
          <a:stretch>
            <a:fillRect/>
          </a:stretch>
        </p:blipFill>
        <p:spPr>
          <a:xfrm>
            <a:off x="6781800" y="3459334"/>
            <a:ext cx="9982200" cy="3970166"/>
          </a:xfrm>
          <a:prstGeom prst="rect">
            <a:avLst/>
          </a:prstGeom>
        </p:spPr>
      </p:pic>
      <p:pic>
        <p:nvPicPr>
          <p:cNvPr id="8" name="Picture 7">
            <a:extLst>
              <a:ext uri="{FF2B5EF4-FFF2-40B4-BE49-F238E27FC236}">
                <a16:creationId xmlns:a16="http://schemas.microsoft.com/office/drawing/2014/main" id="{6002DCFC-E2DC-D67F-9068-E9D4A9B1AF1E}"/>
              </a:ext>
            </a:extLst>
          </p:cNvPr>
          <p:cNvPicPr>
            <a:picLocks noChangeAspect="1"/>
          </p:cNvPicPr>
          <p:nvPr/>
        </p:nvPicPr>
        <p:blipFill>
          <a:blip r:embed="rId4"/>
          <a:stretch>
            <a:fillRect/>
          </a:stretch>
        </p:blipFill>
        <p:spPr>
          <a:xfrm>
            <a:off x="6781800" y="8115300"/>
            <a:ext cx="2819400" cy="961779"/>
          </a:xfrm>
          <a:prstGeom prst="rect">
            <a:avLst/>
          </a:prstGeom>
        </p:spPr>
      </p:pic>
      <p:pic>
        <p:nvPicPr>
          <p:cNvPr id="10" name="Picture 9">
            <a:extLst>
              <a:ext uri="{FF2B5EF4-FFF2-40B4-BE49-F238E27FC236}">
                <a16:creationId xmlns:a16="http://schemas.microsoft.com/office/drawing/2014/main" id="{2CCD9744-7DC9-A9CE-6977-E328118C2BF3}"/>
              </a:ext>
            </a:extLst>
          </p:cNvPr>
          <p:cNvPicPr>
            <a:picLocks noChangeAspect="1"/>
          </p:cNvPicPr>
          <p:nvPr/>
        </p:nvPicPr>
        <p:blipFill>
          <a:blip r:embed="rId5"/>
          <a:stretch>
            <a:fillRect/>
          </a:stretch>
        </p:blipFill>
        <p:spPr>
          <a:xfrm>
            <a:off x="9906000" y="8104909"/>
            <a:ext cx="3429000" cy="972170"/>
          </a:xfrm>
          <a:prstGeom prst="rect">
            <a:avLst/>
          </a:prstGeom>
        </p:spPr>
      </p:pic>
      <p:pic>
        <p:nvPicPr>
          <p:cNvPr id="12" name="Picture 11">
            <a:extLst>
              <a:ext uri="{FF2B5EF4-FFF2-40B4-BE49-F238E27FC236}">
                <a16:creationId xmlns:a16="http://schemas.microsoft.com/office/drawing/2014/main" id="{633CD620-9DE1-26F1-5562-364A3735234D}"/>
              </a:ext>
            </a:extLst>
          </p:cNvPr>
          <p:cNvPicPr>
            <a:picLocks noChangeAspect="1"/>
          </p:cNvPicPr>
          <p:nvPr/>
        </p:nvPicPr>
        <p:blipFill>
          <a:blip r:embed="rId6"/>
          <a:stretch>
            <a:fillRect/>
          </a:stretch>
        </p:blipFill>
        <p:spPr>
          <a:xfrm>
            <a:off x="13792200" y="8104909"/>
            <a:ext cx="3124200" cy="972170"/>
          </a:xfrm>
          <a:prstGeom prst="rect">
            <a:avLst/>
          </a:prstGeom>
        </p:spPr>
      </p:pic>
    </p:spTree>
    <p:extLst>
      <p:ext uri="{BB962C8B-B14F-4D97-AF65-F5344CB8AC3E}">
        <p14:creationId xmlns:p14="http://schemas.microsoft.com/office/powerpoint/2010/main" val="4222701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D7B6A998-99A1-ECCD-65D8-084B23F8785E}"/>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BEA5E2F1-68D5-C7FD-D9F7-ECBCC988D6C5}"/>
              </a:ext>
            </a:extLst>
          </p:cNvPr>
          <p:cNvSpPr txBox="1"/>
          <p:nvPr/>
        </p:nvSpPr>
        <p:spPr>
          <a:xfrm>
            <a:off x="1638183" y="239496"/>
            <a:ext cx="15583019" cy="905825"/>
          </a:xfrm>
          <a:prstGeom prst="rect">
            <a:avLst/>
          </a:prstGeom>
        </p:spPr>
        <p:txBody>
          <a:bodyPr wrap="square" lIns="0" tIns="0" rIns="0" bIns="0" rtlCol="0" anchor="t">
            <a:spAutoFit/>
          </a:bodyPr>
          <a:lstStyle/>
          <a:p>
            <a:pPr defTabSz="914400">
              <a:lnSpc>
                <a:spcPts val="8143"/>
              </a:lnSpc>
              <a:defRPr/>
            </a:pPr>
            <a:r>
              <a:rPr lang="en-US" sz="4000" b="1" dirty="0">
                <a:solidFill>
                  <a:srgbClr val="36E9FD"/>
                </a:solidFill>
                <a:latin typeface="Montserrat Semi-Bold" panose="020B0604020202020204" charset="0"/>
                <a:ea typeface="Montserrat Semi-Bold"/>
                <a:cs typeface="Montserrat Semi-Bold"/>
                <a:sym typeface="Montserrat Semi-Bold"/>
              </a:rPr>
              <a:t>NORMALIZATION METHODS FOR DATA PREPROCESSING </a:t>
            </a:r>
          </a:p>
        </p:txBody>
      </p:sp>
      <p:sp>
        <p:nvSpPr>
          <p:cNvPr id="25" name="TextBox 25">
            <a:extLst>
              <a:ext uri="{FF2B5EF4-FFF2-40B4-BE49-F238E27FC236}">
                <a16:creationId xmlns:a16="http://schemas.microsoft.com/office/drawing/2014/main" id="{EE867259-295E-C11A-D06B-1D70D98452BE}"/>
              </a:ext>
            </a:extLst>
          </p:cNvPr>
          <p:cNvSpPr txBox="1"/>
          <p:nvPr/>
        </p:nvSpPr>
        <p:spPr>
          <a:xfrm>
            <a:off x="483809" y="96282"/>
            <a:ext cx="1154372" cy="394339"/>
          </a:xfrm>
          <a:prstGeom prst="rect">
            <a:avLst/>
          </a:prstGeom>
        </p:spPr>
        <p:txBody>
          <a:bodyPr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21</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083C4F6-8C71-71B8-8E8F-C989E9322CAC}"/>
                  </a:ext>
                </a:extLst>
              </p:cNvPr>
              <p:cNvSpPr txBox="1"/>
              <p:nvPr/>
            </p:nvSpPr>
            <p:spPr>
              <a:xfrm>
                <a:off x="1524000" y="1714502"/>
                <a:ext cx="12645632" cy="7797263"/>
              </a:xfrm>
              <a:prstGeom prst="rect">
                <a:avLst/>
              </a:prstGeom>
              <a:noFill/>
            </p:spPr>
            <p:txBody>
              <a:bodyPr wrap="square" rtlCol="0">
                <a:spAutoFit/>
              </a:bodyPr>
              <a:lstStyle/>
              <a:p>
                <a:pPr marL="514350" indent="-514350" defTabSz="914400">
                  <a:buFontTx/>
                  <a:buAutoNum type="arabicPeriod"/>
                  <a:defRPr/>
                </a:pPr>
                <a:r>
                  <a:rPr lang="en-IN" sz="2800" b="1" dirty="0">
                    <a:solidFill>
                      <a:schemeClr val="bg1"/>
                    </a:solidFill>
                    <a:latin typeface="Calibri"/>
                  </a:rPr>
                  <a:t>Min-Max Normalization</a:t>
                </a:r>
              </a:p>
              <a:p>
                <a:endParaRPr lang="en-IN" sz="2800" dirty="0">
                  <a:solidFill>
                    <a:schemeClr val="bg1"/>
                  </a:solidFill>
                </a:endParaRPr>
              </a:p>
              <a:p>
                <a:r>
                  <a:rPr lang="en-IN" sz="2800" dirty="0">
                    <a:solidFill>
                      <a:schemeClr val="bg1"/>
                    </a:solidFill>
                  </a:rPr>
                  <a:t>Normalization rescales data into bounded ranges.</a:t>
                </a:r>
              </a:p>
              <a:p>
                <a:br>
                  <a:rPr lang="en-IN" sz="2800" dirty="0">
                    <a:solidFill>
                      <a:schemeClr val="bg1"/>
                    </a:solidFill>
                  </a:rPr>
                </a:br>
                <a:r>
                  <a:rPr lang="en-IN" sz="2800" b="1" dirty="0">
                    <a:solidFill>
                      <a:schemeClr val="bg1"/>
                    </a:solidFill>
                  </a:rPr>
                  <a:t>Formula</a:t>
                </a:r>
              </a:p>
              <a:p>
                <a:pPr/>
                <a14:m>
                  <m:oMathPara xmlns:m="http://schemas.openxmlformats.org/officeDocument/2006/math">
                    <m:oMathParaPr>
                      <m:jc m:val="centerGroup"/>
                    </m:oMathParaPr>
                    <m:oMath xmlns:m="http://schemas.openxmlformats.org/officeDocument/2006/math">
                      <m:sSup>
                        <m:sSupPr>
                          <m:ctrlPr>
                            <a:rPr lang="ar-AE" sz="2800" i="1">
                              <a:solidFill>
                                <a:schemeClr val="bg1"/>
                              </a:solidFill>
                              <a:latin typeface="Cambria Math" panose="02040503050406030204" pitchFamily="18" charset="0"/>
                            </a:rPr>
                          </m:ctrlPr>
                        </m:sSupPr>
                        <m:e>
                          <m:r>
                            <a:rPr lang="ar-AE" sz="2800" i="1">
                              <a:solidFill>
                                <a:schemeClr val="bg1"/>
                              </a:solidFill>
                              <a:latin typeface="Cambria Math" panose="02040503050406030204" pitchFamily="18" charset="0"/>
                            </a:rPr>
                            <m:t>𝑥</m:t>
                          </m:r>
                        </m:e>
                        <m:sup>
                          <m:r>
                            <a:rPr lang="ar-AE" sz="2800">
                              <a:solidFill>
                                <a:schemeClr val="bg1"/>
                              </a:solidFill>
                              <a:latin typeface="Cambria Math" panose="02040503050406030204" pitchFamily="18" charset="0"/>
                            </a:rPr>
                            <m:t>′</m:t>
                          </m:r>
                        </m:sup>
                      </m:sSup>
                      <m:r>
                        <a:rPr lang="ar-AE" sz="2800">
                          <a:solidFill>
                            <a:schemeClr val="bg1"/>
                          </a:solidFill>
                          <a:latin typeface="Cambria Math" panose="02040503050406030204" pitchFamily="18" charset="0"/>
                        </a:rPr>
                        <m:t>=</m:t>
                      </m:r>
                      <m:f>
                        <m:fPr>
                          <m:ctrlPr>
                            <a:rPr lang="ar-AE" sz="2800" i="1">
                              <a:solidFill>
                                <a:schemeClr val="bg1"/>
                              </a:solidFill>
                              <a:latin typeface="Cambria Math" panose="02040503050406030204" pitchFamily="18" charset="0"/>
                            </a:rPr>
                          </m:ctrlPr>
                        </m:fPr>
                        <m:num>
                          <m:r>
                            <a:rPr lang="ar-AE" sz="2800" i="1">
                              <a:solidFill>
                                <a:schemeClr val="bg1"/>
                              </a:solidFill>
                              <a:latin typeface="Cambria Math" panose="02040503050406030204" pitchFamily="18" charset="0"/>
                            </a:rPr>
                            <m:t>𝑥</m:t>
                          </m:r>
                          <m:r>
                            <a:rPr lang="ar-AE" sz="2800">
                              <a:solidFill>
                                <a:schemeClr val="bg1"/>
                              </a:solidFill>
                              <a:latin typeface="Cambria Math" panose="02040503050406030204" pitchFamily="18" charset="0"/>
                            </a:rPr>
                            <m:t>−</m:t>
                          </m:r>
                          <m:sSub>
                            <m:sSubPr>
                              <m:ctrlPr>
                                <a:rPr lang="ar-AE" sz="2800" i="1">
                                  <a:solidFill>
                                    <a:schemeClr val="bg1"/>
                                  </a:solidFill>
                                  <a:latin typeface="Cambria Math" panose="02040503050406030204" pitchFamily="18" charset="0"/>
                                </a:rPr>
                              </m:ctrlPr>
                            </m:sSubPr>
                            <m:e>
                              <m:r>
                                <a:rPr lang="ar-AE" sz="2800" i="1">
                                  <a:solidFill>
                                    <a:schemeClr val="bg1"/>
                                  </a:solidFill>
                                  <a:latin typeface="Cambria Math" panose="02040503050406030204" pitchFamily="18" charset="0"/>
                                </a:rPr>
                                <m:t>𝑥</m:t>
                              </m:r>
                            </m:e>
                            <m:sub>
                              <m:r>
                                <a:rPr lang="ar-AE" sz="2800" i="1">
                                  <a:solidFill>
                                    <a:schemeClr val="bg1"/>
                                  </a:solidFill>
                                  <a:latin typeface="Cambria Math" panose="02040503050406030204" pitchFamily="18" charset="0"/>
                                </a:rPr>
                                <m:t>𝑚𝑖𝑛</m:t>
                              </m:r>
                            </m:sub>
                          </m:sSub>
                        </m:num>
                        <m:den>
                          <m:sSub>
                            <m:sSubPr>
                              <m:ctrlPr>
                                <a:rPr lang="ar-AE" sz="2800" i="1">
                                  <a:solidFill>
                                    <a:schemeClr val="bg1"/>
                                  </a:solidFill>
                                  <a:latin typeface="Cambria Math" panose="02040503050406030204" pitchFamily="18" charset="0"/>
                                </a:rPr>
                              </m:ctrlPr>
                            </m:sSubPr>
                            <m:e>
                              <m:r>
                                <a:rPr lang="ar-AE" sz="2800" i="1">
                                  <a:solidFill>
                                    <a:schemeClr val="bg1"/>
                                  </a:solidFill>
                                  <a:latin typeface="Cambria Math" panose="02040503050406030204" pitchFamily="18" charset="0"/>
                                </a:rPr>
                                <m:t>𝑥</m:t>
                              </m:r>
                            </m:e>
                            <m:sub>
                              <m:r>
                                <a:rPr lang="ar-AE" sz="2800" i="1">
                                  <a:solidFill>
                                    <a:schemeClr val="bg1"/>
                                  </a:solidFill>
                                  <a:latin typeface="Cambria Math" panose="02040503050406030204" pitchFamily="18" charset="0"/>
                                </a:rPr>
                                <m:t>𝑚𝑎𝑥</m:t>
                              </m:r>
                            </m:sub>
                          </m:sSub>
                          <m:r>
                            <a:rPr lang="ar-AE" sz="2800">
                              <a:solidFill>
                                <a:schemeClr val="bg1"/>
                              </a:solidFill>
                              <a:latin typeface="Cambria Math" panose="02040503050406030204" pitchFamily="18" charset="0"/>
                            </a:rPr>
                            <m:t>−</m:t>
                          </m:r>
                          <m:sSub>
                            <m:sSubPr>
                              <m:ctrlPr>
                                <a:rPr lang="ar-AE" sz="2800" i="1">
                                  <a:solidFill>
                                    <a:schemeClr val="bg1"/>
                                  </a:solidFill>
                                  <a:latin typeface="Cambria Math" panose="02040503050406030204" pitchFamily="18" charset="0"/>
                                </a:rPr>
                              </m:ctrlPr>
                            </m:sSubPr>
                            <m:e>
                              <m:r>
                                <a:rPr lang="ar-AE" sz="2800" i="1">
                                  <a:solidFill>
                                    <a:schemeClr val="bg1"/>
                                  </a:solidFill>
                                  <a:latin typeface="Cambria Math" panose="02040503050406030204" pitchFamily="18" charset="0"/>
                                </a:rPr>
                                <m:t>𝑥</m:t>
                              </m:r>
                            </m:e>
                            <m:sub>
                              <m:r>
                                <a:rPr lang="ar-AE" sz="2800" i="1">
                                  <a:solidFill>
                                    <a:schemeClr val="bg1"/>
                                  </a:solidFill>
                                  <a:latin typeface="Cambria Math" panose="02040503050406030204" pitchFamily="18" charset="0"/>
                                </a:rPr>
                                <m:t>𝑚𝑖𝑛</m:t>
                              </m:r>
                            </m:sub>
                          </m:sSub>
                        </m:den>
                      </m:f>
                    </m:oMath>
                  </m:oMathPara>
                </a14:m>
                <a:endParaRPr lang="ar-AE" sz="2800" dirty="0">
                  <a:solidFill>
                    <a:schemeClr val="bg1"/>
                  </a:solidFill>
                </a:endParaRPr>
              </a:p>
              <a:p>
                <a:r>
                  <a:rPr lang="en-IN" sz="2800" b="1" dirty="0">
                    <a:solidFill>
                      <a:schemeClr val="bg1"/>
                    </a:solidFill>
                  </a:rPr>
                  <a:t>Output Range</a:t>
                </a:r>
              </a:p>
              <a:p>
                <a:pPr/>
                <a14:m>
                  <m:oMathPara xmlns:m="http://schemas.openxmlformats.org/officeDocument/2006/math">
                    <m:oMathParaPr>
                      <m:jc m:val="centerGroup"/>
                    </m:oMathParaPr>
                    <m:oMath xmlns:m="http://schemas.openxmlformats.org/officeDocument/2006/math">
                      <m:r>
                        <a:rPr lang="en-IN" sz="2800">
                          <a:solidFill>
                            <a:schemeClr val="bg1"/>
                          </a:solidFill>
                          <a:latin typeface="Cambria Math" panose="02040503050406030204" pitchFamily="18" charset="0"/>
                        </a:rPr>
                        <m:t>0</m:t>
                      </m:r>
                      <m:r>
                        <a:rPr lang="en-IN" sz="2800">
                          <a:solidFill>
                            <a:schemeClr val="bg1"/>
                          </a:solidFill>
                          <a:latin typeface="Cambria Math" panose="02040503050406030204" pitchFamily="18" charset="0"/>
                        </a:rPr>
                        <m:t>≤</m:t>
                      </m:r>
                      <m:sSup>
                        <m:sSupPr>
                          <m:ctrlPr>
                            <a:rPr lang="ar-AE" sz="2800" i="1">
                              <a:solidFill>
                                <a:schemeClr val="bg1"/>
                              </a:solidFill>
                              <a:latin typeface="Cambria Math" panose="02040503050406030204" pitchFamily="18" charset="0"/>
                            </a:rPr>
                          </m:ctrlPr>
                        </m:sSupPr>
                        <m:e>
                          <m:r>
                            <a:rPr lang="ar-AE" sz="2800" i="1">
                              <a:solidFill>
                                <a:schemeClr val="bg1"/>
                              </a:solidFill>
                              <a:latin typeface="Cambria Math" panose="02040503050406030204" pitchFamily="18" charset="0"/>
                            </a:rPr>
                            <m:t>𝑥</m:t>
                          </m:r>
                        </m:e>
                        <m:sup>
                          <m:r>
                            <a:rPr lang="ar-AE" sz="2800">
                              <a:solidFill>
                                <a:schemeClr val="bg1"/>
                              </a:solidFill>
                              <a:latin typeface="Cambria Math" panose="02040503050406030204" pitchFamily="18" charset="0"/>
                            </a:rPr>
                            <m:t>′</m:t>
                          </m:r>
                        </m:sup>
                      </m:sSup>
                      <m:r>
                        <a:rPr lang="ar-AE" sz="2800">
                          <a:solidFill>
                            <a:schemeClr val="bg1"/>
                          </a:solidFill>
                          <a:latin typeface="Cambria Math" panose="02040503050406030204" pitchFamily="18" charset="0"/>
                        </a:rPr>
                        <m:t>≤</m:t>
                      </m:r>
                      <m:r>
                        <a:rPr lang="ar-AE" sz="2800">
                          <a:solidFill>
                            <a:schemeClr val="bg1"/>
                          </a:solidFill>
                          <a:latin typeface="Cambria Math" panose="02040503050406030204" pitchFamily="18" charset="0"/>
                        </a:rPr>
                        <m:t>1</m:t>
                      </m:r>
                    </m:oMath>
                  </m:oMathPara>
                </a14:m>
                <a:endParaRPr lang="ar-AE" sz="2800" dirty="0">
                  <a:solidFill>
                    <a:schemeClr val="bg1"/>
                  </a:solidFill>
                </a:endParaRPr>
              </a:p>
              <a:p>
                <a:pPr defTabSz="914400">
                  <a:defRPr/>
                </a:pPr>
                <a:endParaRPr lang="en-IN" sz="2800" b="1" dirty="0">
                  <a:solidFill>
                    <a:schemeClr val="bg1"/>
                  </a:solidFill>
                  <a:latin typeface="Calibri"/>
                </a:endParaRPr>
              </a:p>
              <a:p>
                <a:r>
                  <a:rPr lang="en-US" sz="2800" b="1" dirty="0">
                    <a:solidFill>
                      <a:schemeClr val="bg1"/>
                    </a:solidFill>
                  </a:rPr>
                  <a:t>Model Impact</a:t>
                </a:r>
              </a:p>
              <a:p>
                <a:r>
                  <a:rPr lang="en-US" sz="2800" b="1" dirty="0">
                    <a:solidFill>
                      <a:schemeClr val="bg1"/>
                    </a:solidFill>
                  </a:rPr>
                  <a:t>k-NN</a:t>
                </a:r>
              </a:p>
              <a:p>
                <a:r>
                  <a:rPr lang="en-US" sz="2800" dirty="0">
                    <a:solidFill>
                      <a:schemeClr val="bg1"/>
                    </a:solidFill>
                  </a:rPr>
                  <a:t>Highly beneficial because distances become balanced.</a:t>
                </a:r>
              </a:p>
              <a:p>
                <a:r>
                  <a:rPr lang="en-US" sz="2800" b="1" dirty="0">
                    <a:solidFill>
                      <a:schemeClr val="bg1"/>
                    </a:solidFill>
                  </a:rPr>
                  <a:t>Logistic Regression</a:t>
                </a:r>
              </a:p>
              <a:p>
                <a:r>
                  <a:rPr lang="en-US" sz="2800" dirty="0">
                    <a:solidFill>
                      <a:schemeClr val="bg1"/>
                    </a:solidFill>
                  </a:rPr>
                  <a:t>Improves gradient descent performance.</a:t>
                </a:r>
              </a:p>
              <a:p>
                <a:r>
                  <a:rPr lang="en-US" sz="2800" b="1" dirty="0">
                    <a:solidFill>
                      <a:schemeClr val="bg1"/>
                    </a:solidFill>
                  </a:rPr>
                  <a:t>Decision Tree</a:t>
                </a:r>
              </a:p>
              <a:p>
                <a:r>
                  <a:rPr lang="en-US" sz="2800" dirty="0">
                    <a:solidFill>
                      <a:schemeClr val="bg1"/>
                    </a:solidFill>
                  </a:rPr>
                  <a:t>Usually unnecessary.</a:t>
                </a:r>
              </a:p>
              <a:p>
                <a:pPr defTabSz="914400">
                  <a:defRPr/>
                </a:pPr>
                <a:endParaRPr lang="en-IN" sz="2800" b="1" dirty="0">
                  <a:solidFill>
                    <a:schemeClr val="bg1"/>
                  </a:solidFill>
                  <a:latin typeface="Calibri"/>
                </a:endParaRPr>
              </a:p>
            </p:txBody>
          </p:sp>
        </mc:Choice>
        <mc:Fallback xmlns="">
          <p:sp>
            <p:nvSpPr>
              <p:cNvPr id="5" name="TextBox 4">
                <a:extLst>
                  <a:ext uri="{FF2B5EF4-FFF2-40B4-BE49-F238E27FC236}">
                    <a16:creationId xmlns:a16="http://schemas.microsoft.com/office/drawing/2014/main" id="{9083C4F6-8C71-71B8-8E8F-C989E9322CAC}"/>
                  </a:ext>
                </a:extLst>
              </p:cNvPr>
              <p:cNvSpPr txBox="1">
                <a:spLocks noRot="1" noChangeAspect="1" noMove="1" noResize="1" noEditPoints="1" noAdjustHandles="1" noChangeArrowheads="1" noChangeShapeType="1" noTextEdit="1"/>
              </p:cNvSpPr>
              <p:nvPr/>
            </p:nvSpPr>
            <p:spPr>
              <a:xfrm>
                <a:off x="1524000" y="1714502"/>
                <a:ext cx="12645632" cy="7797263"/>
              </a:xfrm>
              <a:prstGeom prst="rect">
                <a:avLst/>
              </a:prstGeom>
              <a:blipFill>
                <a:blip r:embed="rId2"/>
                <a:stretch>
                  <a:fillRect l="-1013" t="-782"/>
                </a:stretch>
              </a:blipFill>
            </p:spPr>
            <p:txBody>
              <a:bodyPr/>
              <a:lstStyle/>
              <a:p>
                <a:r>
                  <a:rPr lang="en-IN">
                    <a:noFill/>
                  </a:rPr>
                  <a:t> </a:t>
                </a:r>
              </a:p>
            </p:txBody>
          </p:sp>
        </mc:Fallback>
      </mc:AlternateContent>
    </p:spTree>
    <p:extLst>
      <p:ext uri="{BB962C8B-B14F-4D97-AF65-F5344CB8AC3E}">
        <p14:creationId xmlns:p14="http://schemas.microsoft.com/office/powerpoint/2010/main" val="2740265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A08A1991-B46C-1DF9-296C-D15AE10A866B}"/>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F9E1016F-9DB9-6392-3C50-27F38039386B}"/>
              </a:ext>
            </a:extLst>
          </p:cNvPr>
          <p:cNvSpPr txBox="1"/>
          <p:nvPr/>
        </p:nvSpPr>
        <p:spPr>
          <a:xfrm>
            <a:off x="1638183" y="239496"/>
            <a:ext cx="15583019" cy="905825"/>
          </a:xfrm>
          <a:prstGeom prst="rect">
            <a:avLst/>
          </a:prstGeom>
        </p:spPr>
        <p:txBody>
          <a:bodyPr wrap="square" lIns="0" tIns="0" rIns="0" bIns="0" rtlCol="0" anchor="t">
            <a:spAutoFit/>
          </a:bodyPr>
          <a:lstStyle/>
          <a:p>
            <a:pPr marL="0" marR="0" lvl="0" indent="0" algn="l" defTabSz="914400" rtl="0" eaLnBrk="1" fontAlgn="auto" latinLnBrk="0" hangingPunct="1">
              <a:lnSpc>
                <a:spcPts val="8143"/>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36E9FD"/>
                </a:solidFill>
                <a:effectLst/>
                <a:uLnTx/>
                <a:uFillTx/>
                <a:latin typeface="Montserrat Semi-Bold" panose="020B0604020202020204" charset="0"/>
                <a:ea typeface="Montserrat Semi-Bold"/>
                <a:cs typeface="Montserrat Semi-Bold"/>
                <a:sym typeface="Montserrat Semi-Bold"/>
              </a:rPr>
              <a:t>NORMALIZATION METHODS FOR DATA PREPROCESSING </a:t>
            </a:r>
          </a:p>
        </p:txBody>
      </p:sp>
      <p:sp>
        <p:nvSpPr>
          <p:cNvPr id="25" name="TextBox 25">
            <a:extLst>
              <a:ext uri="{FF2B5EF4-FFF2-40B4-BE49-F238E27FC236}">
                <a16:creationId xmlns:a16="http://schemas.microsoft.com/office/drawing/2014/main" id="{543100D2-CA46-3498-4EC8-9238E9C68EA3}"/>
              </a:ext>
            </a:extLst>
          </p:cNvPr>
          <p:cNvSpPr txBox="1"/>
          <p:nvPr/>
        </p:nvSpPr>
        <p:spPr>
          <a:xfrm>
            <a:off x="483809" y="96282"/>
            <a:ext cx="1154372" cy="394339"/>
          </a:xfrm>
          <a:prstGeom prst="rect">
            <a:avLst/>
          </a:prstGeom>
        </p:spPr>
        <p:txBody>
          <a:bodyPr lIns="0" tIns="0" rIns="0" bIns="0" rtlCol="0" anchor="t">
            <a:spAutoFit/>
          </a:bodyPr>
          <a:lstStyle/>
          <a:p>
            <a:pPr marL="0" marR="0" lvl="0" indent="0" algn="l" defTabSz="914400" rtl="0" eaLnBrk="1" fontAlgn="auto" latinLnBrk="0" hangingPunct="1">
              <a:lnSpc>
                <a:spcPts val="4057"/>
              </a:lnSpc>
              <a:spcBef>
                <a:spcPts val="0"/>
              </a:spcBef>
              <a:spcAft>
                <a:spcPts val="0"/>
              </a:spcAft>
              <a:buClrTx/>
              <a:buSzTx/>
              <a:buFontTx/>
              <a:buNone/>
              <a:tabLst/>
              <a:defRPr/>
            </a:pPr>
            <a:r>
              <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rPr>
              <a:t>22</a:t>
            </a:r>
          </a:p>
        </p:txBody>
      </p:sp>
      <p:sp>
        <p:nvSpPr>
          <p:cNvPr id="5" name="TextBox 4">
            <a:extLst>
              <a:ext uri="{FF2B5EF4-FFF2-40B4-BE49-F238E27FC236}">
                <a16:creationId xmlns:a16="http://schemas.microsoft.com/office/drawing/2014/main" id="{9C41FAE8-CB93-57AA-9F8C-BBBF1E270BE3}"/>
              </a:ext>
            </a:extLst>
          </p:cNvPr>
          <p:cNvSpPr txBox="1"/>
          <p:nvPr/>
        </p:nvSpPr>
        <p:spPr>
          <a:xfrm>
            <a:off x="685800" y="1176494"/>
            <a:ext cx="4648200" cy="523220"/>
          </a:xfrm>
          <a:prstGeom prst="rect">
            <a:avLst/>
          </a:prstGeom>
          <a:noFill/>
        </p:spPr>
        <p:txBody>
          <a:bodyPr wrap="square" rtlCol="0">
            <a:spAutoFit/>
          </a:bodyPr>
          <a:lstStyle/>
          <a:p>
            <a:pPr marL="514350" marR="0" lvl="0" indent="-514350" algn="l" defTabSz="914400" rtl="0" eaLnBrk="1" fontAlgn="auto" latinLnBrk="0" hangingPunct="1">
              <a:lnSpc>
                <a:spcPct val="100000"/>
              </a:lnSpc>
              <a:spcBef>
                <a:spcPts val="0"/>
              </a:spcBef>
              <a:spcAft>
                <a:spcPts val="0"/>
              </a:spcAft>
              <a:buClrTx/>
              <a:buSzTx/>
              <a:buFontTx/>
              <a:buAutoNum type="arabicPeriod"/>
              <a:tabLst/>
              <a:defRPr/>
            </a:pPr>
            <a:r>
              <a:rPr kumimoji="0" lang="en-IN" sz="2800" b="1" i="0" u="none" strike="noStrike" kern="1200" cap="none" spc="0" normalizeH="0" baseline="0" noProof="0" dirty="0">
                <a:ln>
                  <a:noFill/>
                </a:ln>
                <a:solidFill>
                  <a:prstClr val="white"/>
                </a:solidFill>
                <a:effectLst/>
                <a:uLnTx/>
                <a:uFillTx/>
                <a:latin typeface="Calibri"/>
                <a:ea typeface="+mn-ea"/>
                <a:cs typeface="+mn-cs"/>
              </a:rPr>
              <a:t>Min-Max Normalization</a:t>
            </a:r>
          </a:p>
        </p:txBody>
      </p:sp>
      <p:pic>
        <p:nvPicPr>
          <p:cNvPr id="3" name="Picture 2">
            <a:extLst>
              <a:ext uri="{FF2B5EF4-FFF2-40B4-BE49-F238E27FC236}">
                <a16:creationId xmlns:a16="http://schemas.microsoft.com/office/drawing/2014/main" id="{BC9C96DB-A47D-5F36-2BA9-5F5A2625B4CC}"/>
              </a:ext>
            </a:extLst>
          </p:cNvPr>
          <p:cNvPicPr>
            <a:picLocks noChangeAspect="1"/>
          </p:cNvPicPr>
          <p:nvPr/>
        </p:nvPicPr>
        <p:blipFill>
          <a:blip r:embed="rId2"/>
          <a:stretch>
            <a:fillRect/>
          </a:stretch>
        </p:blipFill>
        <p:spPr>
          <a:xfrm>
            <a:off x="685800" y="1948041"/>
            <a:ext cx="5688391" cy="7691259"/>
          </a:xfrm>
          <a:prstGeom prst="rect">
            <a:avLst/>
          </a:prstGeom>
        </p:spPr>
      </p:pic>
      <p:pic>
        <p:nvPicPr>
          <p:cNvPr id="6" name="Picture 5">
            <a:extLst>
              <a:ext uri="{FF2B5EF4-FFF2-40B4-BE49-F238E27FC236}">
                <a16:creationId xmlns:a16="http://schemas.microsoft.com/office/drawing/2014/main" id="{4BA63255-4D9F-2119-F650-6814029B5E47}"/>
              </a:ext>
            </a:extLst>
          </p:cNvPr>
          <p:cNvPicPr>
            <a:picLocks noChangeAspect="1"/>
          </p:cNvPicPr>
          <p:nvPr/>
        </p:nvPicPr>
        <p:blipFill>
          <a:blip r:embed="rId3"/>
          <a:stretch>
            <a:fillRect/>
          </a:stretch>
        </p:blipFill>
        <p:spPr>
          <a:xfrm>
            <a:off x="6629400" y="4128555"/>
            <a:ext cx="10134600" cy="3834345"/>
          </a:xfrm>
          <a:prstGeom prst="rect">
            <a:avLst/>
          </a:prstGeom>
        </p:spPr>
      </p:pic>
      <p:pic>
        <p:nvPicPr>
          <p:cNvPr id="8" name="Picture 7">
            <a:extLst>
              <a:ext uri="{FF2B5EF4-FFF2-40B4-BE49-F238E27FC236}">
                <a16:creationId xmlns:a16="http://schemas.microsoft.com/office/drawing/2014/main" id="{637E2FC0-C300-A6E0-C5FD-37CF473B13F0}"/>
              </a:ext>
            </a:extLst>
          </p:cNvPr>
          <p:cNvPicPr>
            <a:picLocks noChangeAspect="1"/>
          </p:cNvPicPr>
          <p:nvPr/>
        </p:nvPicPr>
        <p:blipFill>
          <a:blip r:embed="rId4"/>
          <a:stretch>
            <a:fillRect/>
          </a:stretch>
        </p:blipFill>
        <p:spPr>
          <a:xfrm>
            <a:off x="6629400" y="8267700"/>
            <a:ext cx="2895600" cy="990600"/>
          </a:xfrm>
          <a:prstGeom prst="rect">
            <a:avLst/>
          </a:prstGeom>
        </p:spPr>
      </p:pic>
      <p:pic>
        <p:nvPicPr>
          <p:cNvPr id="10" name="Picture 9">
            <a:extLst>
              <a:ext uri="{FF2B5EF4-FFF2-40B4-BE49-F238E27FC236}">
                <a16:creationId xmlns:a16="http://schemas.microsoft.com/office/drawing/2014/main" id="{DB983FB2-E0C4-9476-4373-0217D0864EA2}"/>
              </a:ext>
            </a:extLst>
          </p:cNvPr>
          <p:cNvPicPr>
            <a:picLocks noChangeAspect="1"/>
          </p:cNvPicPr>
          <p:nvPr/>
        </p:nvPicPr>
        <p:blipFill>
          <a:blip r:embed="rId5"/>
          <a:stretch>
            <a:fillRect/>
          </a:stretch>
        </p:blipFill>
        <p:spPr>
          <a:xfrm>
            <a:off x="9780208" y="8285018"/>
            <a:ext cx="3478591" cy="990600"/>
          </a:xfrm>
          <a:prstGeom prst="rect">
            <a:avLst/>
          </a:prstGeom>
        </p:spPr>
      </p:pic>
      <p:pic>
        <p:nvPicPr>
          <p:cNvPr id="12" name="Picture 11">
            <a:extLst>
              <a:ext uri="{FF2B5EF4-FFF2-40B4-BE49-F238E27FC236}">
                <a16:creationId xmlns:a16="http://schemas.microsoft.com/office/drawing/2014/main" id="{5A76C58E-B196-D3A7-7AC3-75538876B9AC}"/>
              </a:ext>
            </a:extLst>
          </p:cNvPr>
          <p:cNvPicPr>
            <a:picLocks noChangeAspect="1"/>
          </p:cNvPicPr>
          <p:nvPr/>
        </p:nvPicPr>
        <p:blipFill>
          <a:blip r:embed="rId6"/>
          <a:stretch>
            <a:fillRect/>
          </a:stretch>
        </p:blipFill>
        <p:spPr>
          <a:xfrm>
            <a:off x="13457488" y="8267700"/>
            <a:ext cx="3001712" cy="990600"/>
          </a:xfrm>
          <a:prstGeom prst="rect">
            <a:avLst/>
          </a:prstGeom>
        </p:spPr>
      </p:pic>
    </p:spTree>
    <p:extLst>
      <p:ext uri="{BB962C8B-B14F-4D97-AF65-F5344CB8AC3E}">
        <p14:creationId xmlns:p14="http://schemas.microsoft.com/office/powerpoint/2010/main" val="2021160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D0D0F0A5-849C-8FF7-C3EC-C9B0269B8F30}"/>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9761C98E-3B34-0B62-30A8-EC00C08709AB}"/>
              </a:ext>
            </a:extLst>
          </p:cNvPr>
          <p:cNvSpPr txBox="1"/>
          <p:nvPr/>
        </p:nvSpPr>
        <p:spPr>
          <a:xfrm>
            <a:off x="1638183" y="239496"/>
            <a:ext cx="15583019" cy="905825"/>
          </a:xfrm>
          <a:prstGeom prst="rect">
            <a:avLst/>
          </a:prstGeom>
        </p:spPr>
        <p:txBody>
          <a:bodyPr wrap="square" lIns="0" tIns="0" rIns="0" bIns="0" rtlCol="0" anchor="t">
            <a:spAutoFit/>
          </a:bodyPr>
          <a:lstStyle/>
          <a:p>
            <a:pPr defTabSz="914400">
              <a:lnSpc>
                <a:spcPts val="8143"/>
              </a:lnSpc>
              <a:defRPr/>
            </a:pPr>
            <a:r>
              <a:rPr lang="en-US" sz="4000" b="1" dirty="0">
                <a:solidFill>
                  <a:srgbClr val="36E9FD"/>
                </a:solidFill>
                <a:latin typeface="Montserrat Semi-Bold" panose="020B0604020202020204" charset="0"/>
                <a:ea typeface="Montserrat Semi-Bold"/>
                <a:cs typeface="Montserrat Semi-Bold"/>
                <a:sym typeface="Montserrat Semi-Bold"/>
              </a:rPr>
              <a:t>NORMALIZATION METHODS FOR DATA PREPROCESSING </a:t>
            </a:r>
          </a:p>
        </p:txBody>
      </p:sp>
      <p:sp>
        <p:nvSpPr>
          <p:cNvPr id="25" name="TextBox 25">
            <a:extLst>
              <a:ext uri="{FF2B5EF4-FFF2-40B4-BE49-F238E27FC236}">
                <a16:creationId xmlns:a16="http://schemas.microsoft.com/office/drawing/2014/main" id="{E30EBF0C-F73C-4E8B-2D98-3CAFE589CA37}"/>
              </a:ext>
            </a:extLst>
          </p:cNvPr>
          <p:cNvSpPr txBox="1"/>
          <p:nvPr/>
        </p:nvSpPr>
        <p:spPr>
          <a:xfrm>
            <a:off x="483809" y="96282"/>
            <a:ext cx="1154372" cy="394339"/>
          </a:xfrm>
          <a:prstGeom prst="rect">
            <a:avLst/>
          </a:prstGeom>
        </p:spPr>
        <p:txBody>
          <a:bodyPr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23</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8D2B330-46DD-6A46-DC4F-0E89B902C725}"/>
                  </a:ext>
                </a:extLst>
              </p:cNvPr>
              <p:cNvSpPr txBox="1"/>
              <p:nvPr/>
            </p:nvSpPr>
            <p:spPr>
              <a:xfrm>
                <a:off x="1603768" y="1310654"/>
                <a:ext cx="12645632" cy="8279190"/>
              </a:xfrm>
              <a:prstGeom prst="rect">
                <a:avLst/>
              </a:prstGeom>
              <a:noFill/>
            </p:spPr>
            <p:txBody>
              <a:bodyPr wrap="square" rtlCol="0">
                <a:spAutoFit/>
              </a:bodyPr>
              <a:lstStyle/>
              <a:p>
                <a:pPr defTabSz="914400">
                  <a:defRPr/>
                </a:pPr>
                <a:r>
                  <a:rPr lang="en-IN" sz="2800" b="1" dirty="0">
                    <a:solidFill>
                      <a:schemeClr val="bg1"/>
                    </a:solidFill>
                    <a:latin typeface="Calibri"/>
                  </a:rPr>
                  <a:t>2. Log Normalization</a:t>
                </a:r>
              </a:p>
              <a:p>
                <a:pPr defTabSz="914400">
                  <a:defRPr/>
                </a:pPr>
                <a:endParaRPr lang="en-IN" sz="2800" b="1" dirty="0">
                  <a:solidFill>
                    <a:schemeClr val="bg1"/>
                  </a:solidFill>
                  <a:latin typeface="Calibri"/>
                </a:endParaRPr>
              </a:p>
              <a:p>
                <a:r>
                  <a:rPr lang="en-IN" sz="2800" b="1" dirty="0">
                    <a:solidFill>
                      <a:schemeClr val="bg1"/>
                    </a:solidFill>
                  </a:rPr>
                  <a:t>Formula</a:t>
                </a:r>
              </a:p>
              <a:p>
                <a:pPr/>
                <a14:m>
                  <m:oMathPara xmlns:m="http://schemas.openxmlformats.org/officeDocument/2006/math">
                    <m:oMathParaPr>
                      <m:jc m:val="centerGroup"/>
                    </m:oMathParaPr>
                    <m:oMath xmlns:m="http://schemas.openxmlformats.org/officeDocument/2006/math">
                      <m:sSup>
                        <m:sSupPr>
                          <m:ctrlPr>
                            <a:rPr lang="ar-AE" sz="2800" i="1">
                              <a:solidFill>
                                <a:schemeClr val="bg1"/>
                              </a:solidFill>
                              <a:latin typeface="Cambria Math" panose="02040503050406030204" pitchFamily="18" charset="0"/>
                            </a:rPr>
                          </m:ctrlPr>
                        </m:sSupPr>
                        <m:e>
                          <m:r>
                            <a:rPr lang="ar-AE" sz="2800" i="1">
                              <a:solidFill>
                                <a:schemeClr val="bg1"/>
                              </a:solidFill>
                              <a:latin typeface="Cambria Math" panose="02040503050406030204" pitchFamily="18" charset="0"/>
                            </a:rPr>
                            <m:t>𝑥</m:t>
                          </m:r>
                        </m:e>
                        <m:sup>
                          <m:r>
                            <a:rPr lang="ar-AE" sz="2800">
                              <a:solidFill>
                                <a:schemeClr val="bg1"/>
                              </a:solidFill>
                              <a:latin typeface="Cambria Math" panose="02040503050406030204" pitchFamily="18" charset="0"/>
                            </a:rPr>
                            <m:t>′</m:t>
                          </m:r>
                        </m:sup>
                      </m:sSup>
                      <m:r>
                        <a:rPr lang="ar-AE" sz="2800">
                          <a:solidFill>
                            <a:schemeClr val="bg1"/>
                          </a:solidFill>
                          <a:latin typeface="Cambria Math" panose="02040503050406030204" pitchFamily="18" charset="0"/>
                        </a:rPr>
                        <m:t>=</m:t>
                      </m:r>
                      <m:r>
                        <m:rPr>
                          <m:sty m:val="p"/>
                        </m:rPr>
                        <a:rPr lang="en-IN" sz="2800">
                          <a:solidFill>
                            <a:schemeClr val="bg1"/>
                          </a:solidFill>
                          <a:latin typeface="Cambria Math" panose="02040503050406030204" pitchFamily="18" charset="0"/>
                        </a:rPr>
                        <m:t>log</m:t>
                      </m:r>
                      <m:r>
                        <a:rPr lang="en-IN" sz="2800">
                          <a:solidFill>
                            <a:schemeClr val="bg1"/>
                          </a:solidFill>
                          <a:latin typeface="Cambria Math" panose="02040503050406030204" pitchFamily="18" charset="0"/>
                        </a:rPr>
                        <m:t>⁡</m:t>
                      </m:r>
                      <m:d>
                        <m:dPr>
                          <m:ctrlPr>
                            <a:rPr lang="ar-AE" sz="2800" i="1">
                              <a:solidFill>
                                <a:schemeClr val="bg1"/>
                              </a:solidFill>
                              <a:latin typeface="Cambria Math" panose="02040503050406030204" pitchFamily="18" charset="0"/>
                            </a:rPr>
                          </m:ctrlPr>
                        </m:dPr>
                        <m:e>
                          <m:r>
                            <a:rPr lang="ar-AE" sz="2800" i="1">
                              <a:solidFill>
                                <a:schemeClr val="bg1"/>
                              </a:solidFill>
                              <a:latin typeface="Cambria Math" panose="02040503050406030204" pitchFamily="18" charset="0"/>
                            </a:rPr>
                            <m:t>𝑥</m:t>
                          </m:r>
                          <m:r>
                            <a:rPr lang="ar-AE" sz="2800">
                              <a:solidFill>
                                <a:schemeClr val="bg1"/>
                              </a:solidFill>
                              <a:latin typeface="Cambria Math" panose="02040503050406030204" pitchFamily="18" charset="0"/>
                            </a:rPr>
                            <m:t>+</m:t>
                          </m:r>
                          <m:r>
                            <a:rPr lang="ar-AE" sz="2800">
                              <a:solidFill>
                                <a:schemeClr val="bg1"/>
                              </a:solidFill>
                              <a:latin typeface="Cambria Math" panose="02040503050406030204" pitchFamily="18" charset="0"/>
                            </a:rPr>
                            <m:t>1</m:t>
                          </m:r>
                        </m:e>
                      </m:d>
                    </m:oMath>
                  </m:oMathPara>
                </a14:m>
                <a:endParaRPr lang="ar-AE" sz="2800" dirty="0">
                  <a:solidFill>
                    <a:schemeClr val="bg1"/>
                  </a:solidFill>
                </a:endParaRPr>
              </a:p>
              <a:p>
                <a:r>
                  <a:rPr lang="en-IN" sz="2800" b="1" dirty="0">
                    <a:solidFill>
                      <a:schemeClr val="bg1"/>
                    </a:solidFill>
                  </a:rPr>
                  <a:t>Purpose</a:t>
                </a:r>
              </a:p>
              <a:p>
                <a:r>
                  <a:rPr lang="en-IN" sz="2800" dirty="0">
                    <a:solidFill>
                      <a:schemeClr val="bg1"/>
                    </a:solidFill>
                  </a:rPr>
                  <a:t>Reduces skewness.</a:t>
                </a:r>
              </a:p>
              <a:p>
                <a:r>
                  <a:rPr lang="en-IN" sz="2800" b="1" dirty="0">
                    <a:solidFill>
                      <a:schemeClr val="bg1"/>
                    </a:solidFill>
                  </a:rPr>
                  <a:t>Advantages</a:t>
                </a:r>
              </a:p>
              <a:p>
                <a:r>
                  <a:rPr lang="en-IN" sz="2800" dirty="0">
                    <a:solidFill>
                      <a:schemeClr val="bg1"/>
                    </a:solidFill>
                  </a:rPr>
                  <a:t>Compresses large values </a:t>
                </a:r>
              </a:p>
              <a:p>
                <a:r>
                  <a:rPr lang="en-IN" sz="2800" dirty="0">
                    <a:solidFill>
                      <a:schemeClr val="bg1"/>
                    </a:solidFill>
                  </a:rPr>
                  <a:t>Stabilizes variance </a:t>
                </a:r>
              </a:p>
              <a:p>
                <a:r>
                  <a:rPr lang="en-IN" sz="2800" b="1" dirty="0">
                    <a:solidFill>
                      <a:schemeClr val="bg1"/>
                    </a:solidFill>
                  </a:rPr>
                  <a:t>Disadvantages</a:t>
                </a:r>
              </a:p>
              <a:p>
                <a:r>
                  <a:rPr lang="en-IN" sz="2800" dirty="0">
                    <a:solidFill>
                      <a:schemeClr val="bg1"/>
                    </a:solidFill>
                  </a:rPr>
                  <a:t>Cannot directly process negative values.</a:t>
                </a:r>
              </a:p>
              <a:p>
                <a:r>
                  <a:rPr lang="en-IN" sz="2800" b="1" dirty="0">
                    <a:solidFill>
                      <a:schemeClr val="bg1"/>
                    </a:solidFill>
                  </a:rPr>
                  <a:t>Model Impact</a:t>
                </a:r>
              </a:p>
              <a:p>
                <a:r>
                  <a:rPr lang="en-IN" sz="2800" b="1" dirty="0">
                    <a:solidFill>
                      <a:schemeClr val="bg1"/>
                    </a:solidFill>
                  </a:rPr>
                  <a:t>Logistic Regression</a:t>
                </a:r>
              </a:p>
              <a:p>
                <a:r>
                  <a:rPr lang="en-IN" sz="2800" dirty="0">
                    <a:solidFill>
                      <a:schemeClr val="bg1"/>
                    </a:solidFill>
                  </a:rPr>
                  <a:t>Improves linear separability.</a:t>
                </a:r>
              </a:p>
              <a:p>
                <a:r>
                  <a:rPr lang="en-IN" sz="2800" b="1" dirty="0">
                    <a:solidFill>
                      <a:schemeClr val="bg1"/>
                    </a:solidFill>
                  </a:rPr>
                  <a:t>k-NN</a:t>
                </a:r>
              </a:p>
              <a:p>
                <a:r>
                  <a:rPr lang="en-IN" sz="2800" dirty="0">
                    <a:solidFill>
                      <a:schemeClr val="bg1"/>
                    </a:solidFill>
                  </a:rPr>
                  <a:t>Improves </a:t>
                </a:r>
                <a:r>
                  <a:rPr lang="en-IN" sz="2800" dirty="0" err="1">
                    <a:solidFill>
                      <a:schemeClr val="bg1"/>
                    </a:solidFill>
                  </a:rPr>
                  <a:t>neighborhood</a:t>
                </a:r>
                <a:r>
                  <a:rPr lang="en-IN" sz="2800" dirty="0">
                    <a:solidFill>
                      <a:schemeClr val="bg1"/>
                    </a:solidFill>
                  </a:rPr>
                  <a:t> structure for skewed data.</a:t>
                </a:r>
              </a:p>
              <a:p>
                <a:r>
                  <a:rPr lang="en-IN" sz="2800" b="1" dirty="0">
                    <a:solidFill>
                      <a:schemeClr val="bg1"/>
                    </a:solidFill>
                  </a:rPr>
                  <a:t>Decision Tree</a:t>
                </a:r>
              </a:p>
              <a:p>
                <a:r>
                  <a:rPr lang="en-IN" sz="2800" dirty="0">
                    <a:solidFill>
                      <a:schemeClr val="bg1"/>
                    </a:solidFill>
                  </a:rPr>
                  <a:t>Sometimes improves split quality.</a:t>
                </a:r>
              </a:p>
              <a:p>
                <a:pPr defTabSz="914400">
                  <a:defRPr/>
                </a:pPr>
                <a:endParaRPr lang="en-IN" sz="2800" b="1" dirty="0">
                  <a:solidFill>
                    <a:schemeClr val="bg1"/>
                  </a:solidFill>
                  <a:latin typeface="Calibri"/>
                </a:endParaRPr>
              </a:p>
            </p:txBody>
          </p:sp>
        </mc:Choice>
        <mc:Fallback xmlns="">
          <p:sp>
            <p:nvSpPr>
              <p:cNvPr id="5" name="TextBox 4">
                <a:extLst>
                  <a:ext uri="{FF2B5EF4-FFF2-40B4-BE49-F238E27FC236}">
                    <a16:creationId xmlns:a16="http://schemas.microsoft.com/office/drawing/2014/main" id="{E8D2B330-46DD-6A46-DC4F-0E89B902C725}"/>
                  </a:ext>
                </a:extLst>
              </p:cNvPr>
              <p:cNvSpPr txBox="1">
                <a:spLocks noRot="1" noChangeAspect="1" noMove="1" noResize="1" noEditPoints="1" noAdjustHandles="1" noChangeArrowheads="1" noChangeShapeType="1" noTextEdit="1"/>
              </p:cNvSpPr>
              <p:nvPr/>
            </p:nvSpPr>
            <p:spPr>
              <a:xfrm>
                <a:off x="1603768" y="1310654"/>
                <a:ext cx="12645632" cy="8279190"/>
              </a:xfrm>
              <a:prstGeom prst="rect">
                <a:avLst/>
              </a:prstGeom>
              <a:blipFill>
                <a:blip r:embed="rId2"/>
                <a:stretch>
                  <a:fillRect l="-964" t="-663"/>
                </a:stretch>
              </a:blipFill>
            </p:spPr>
            <p:txBody>
              <a:bodyPr/>
              <a:lstStyle/>
              <a:p>
                <a:r>
                  <a:rPr lang="en-IN">
                    <a:noFill/>
                  </a:rPr>
                  <a:t> </a:t>
                </a:r>
              </a:p>
            </p:txBody>
          </p:sp>
        </mc:Fallback>
      </mc:AlternateContent>
    </p:spTree>
    <p:extLst>
      <p:ext uri="{BB962C8B-B14F-4D97-AF65-F5344CB8AC3E}">
        <p14:creationId xmlns:p14="http://schemas.microsoft.com/office/powerpoint/2010/main" val="1806039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A9543300-CBA1-C280-4AA7-46D9C2FCA634}"/>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9798190B-3907-09AD-CDB5-59080F4677DE}"/>
              </a:ext>
            </a:extLst>
          </p:cNvPr>
          <p:cNvSpPr txBox="1"/>
          <p:nvPr/>
        </p:nvSpPr>
        <p:spPr>
          <a:xfrm>
            <a:off x="1658963" y="-215539"/>
            <a:ext cx="15583019" cy="905825"/>
          </a:xfrm>
          <a:prstGeom prst="rect">
            <a:avLst/>
          </a:prstGeom>
        </p:spPr>
        <p:txBody>
          <a:bodyPr wrap="square" lIns="0" tIns="0" rIns="0" bIns="0" rtlCol="0" anchor="t">
            <a:spAutoFit/>
          </a:bodyPr>
          <a:lstStyle/>
          <a:p>
            <a:pPr marL="0" marR="0" lvl="0" indent="0" algn="l" defTabSz="914400" rtl="0" eaLnBrk="1" fontAlgn="auto" latinLnBrk="0" hangingPunct="1">
              <a:lnSpc>
                <a:spcPts val="8143"/>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36E9FD"/>
                </a:solidFill>
                <a:effectLst/>
                <a:uLnTx/>
                <a:uFillTx/>
                <a:latin typeface="Montserrat Semi-Bold" panose="020B0604020202020204" charset="0"/>
                <a:ea typeface="Montserrat Semi-Bold"/>
                <a:cs typeface="Montserrat Semi-Bold"/>
                <a:sym typeface="Montserrat Semi-Bold"/>
              </a:rPr>
              <a:t>NORMALIZATION METHODS FOR DATA PREPROCESSING </a:t>
            </a:r>
          </a:p>
        </p:txBody>
      </p:sp>
      <p:sp>
        <p:nvSpPr>
          <p:cNvPr id="25" name="TextBox 25">
            <a:extLst>
              <a:ext uri="{FF2B5EF4-FFF2-40B4-BE49-F238E27FC236}">
                <a16:creationId xmlns:a16="http://schemas.microsoft.com/office/drawing/2014/main" id="{CC432C8A-0E7C-573B-DB48-C38EAB49C665}"/>
              </a:ext>
            </a:extLst>
          </p:cNvPr>
          <p:cNvSpPr txBox="1"/>
          <p:nvPr/>
        </p:nvSpPr>
        <p:spPr>
          <a:xfrm>
            <a:off x="483809" y="96282"/>
            <a:ext cx="1154372" cy="394339"/>
          </a:xfrm>
          <a:prstGeom prst="rect">
            <a:avLst/>
          </a:prstGeom>
        </p:spPr>
        <p:txBody>
          <a:bodyPr lIns="0" tIns="0" rIns="0" bIns="0" rtlCol="0" anchor="t">
            <a:spAutoFit/>
          </a:bodyPr>
          <a:lstStyle/>
          <a:p>
            <a:pPr marL="0" marR="0" lvl="0" indent="0" algn="l" defTabSz="914400" rtl="0" eaLnBrk="1" fontAlgn="auto" latinLnBrk="0" hangingPunct="1">
              <a:lnSpc>
                <a:spcPts val="4057"/>
              </a:lnSpc>
              <a:spcBef>
                <a:spcPts val="0"/>
              </a:spcBef>
              <a:spcAft>
                <a:spcPts val="0"/>
              </a:spcAft>
              <a:buClrTx/>
              <a:buSzTx/>
              <a:buFontTx/>
              <a:buNone/>
              <a:tabLst/>
              <a:defRPr/>
            </a:pPr>
            <a:r>
              <a:rPr lang="en-US" sz="3145" dirty="0">
                <a:solidFill>
                  <a:srgbClr val="FFFFFF"/>
                </a:solidFill>
                <a:latin typeface="Mokoto"/>
                <a:ea typeface="Mokoto"/>
                <a:cs typeface="Mokoto"/>
                <a:sym typeface="Mokoto"/>
              </a:rPr>
              <a:t>24</a:t>
            </a:r>
            <a:endPar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endParaRPr>
          </a:p>
        </p:txBody>
      </p:sp>
      <p:sp>
        <p:nvSpPr>
          <p:cNvPr id="5" name="TextBox 4">
            <a:extLst>
              <a:ext uri="{FF2B5EF4-FFF2-40B4-BE49-F238E27FC236}">
                <a16:creationId xmlns:a16="http://schemas.microsoft.com/office/drawing/2014/main" id="{2606AB73-69EF-8AE3-C86C-0FF30FEB37AD}"/>
              </a:ext>
            </a:extLst>
          </p:cNvPr>
          <p:cNvSpPr txBox="1"/>
          <p:nvPr/>
        </p:nvSpPr>
        <p:spPr>
          <a:xfrm>
            <a:off x="504591" y="869673"/>
            <a:ext cx="365403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prstClr val="white"/>
                </a:solidFill>
                <a:effectLst/>
                <a:uLnTx/>
                <a:uFillTx/>
                <a:latin typeface="Calibri"/>
                <a:ea typeface="+mn-ea"/>
                <a:cs typeface="+mn-cs"/>
              </a:rPr>
              <a:t>2. Log Normalization</a:t>
            </a:r>
          </a:p>
        </p:txBody>
      </p:sp>
      <p:pic>
        <p:nvPicPr>
          <p:cNvPr id="14" name="Picture 13">
            <a:extLst>
              <a:ext uri="{FF2B5EF4-FFF2-40B4-BE49-F238E27FC236}">
                <a16:creationId xmlns:a16="http://schemas.microsoft.com/office/drawing/2014/main" id="{07A0C9DD-011F-486F-CB72-AF4D96F2E396}"/>
              </a:ext>
            </a:extLst>
          </p:cNvPr>
          <p:cNvPicPr>
            <a:picLocks noChangeAspect="1"/>
          </p:cNvPicPr>
          <p:nvPr/>
        </p:nvPicPr>
        <p:blipFill>
          <a:blip r:embed="rId2"/>
          <a:stretch>
            <a:fillRect/>
          </a:stretch>
        </p:blipFill>
        <p:spPr>
          <a:xfrm>
            <a:off x="539226" y="1392894"/>
            <a:ext cx="6242574" cy="8627406"/>
          </a:xfrm>
          <a:prstGeom prst="rect">
            <a:avLst/>
          </a:prstGeom>
        </p:spPr>
      </p:pic>
      <p:pic>
        <p:nvPicPr>
          <p:cNvPr id="16" name="Picture 15">
            <a:extLst>
              <a:ext uri="{FF2B5EF4-FFF2-40B4-BE49-F238E27FC236}">
                <a16:creationId xmlns:a16="http://schemas.microsoft.com/office/drawing/2014/main" id="{E0A1EF73-AD9E-C53C-C5C2-28990AE440FB}"/>
              </a:ext>
            </a:extLst>
          </p:cNvPr>
          <p:cNvPicPr>
            <a:picLocks noChangeAspect="1"/>
          </p:cNvPicPr>
          <p:nvPr/>
        </p:nvPicPr>
        <p:blipFill>
          <a:blip r:embed="rId3"/>
          <a:stretch>
            <a:fillRect/>
          </a:stretch>
        </p:blipFill>
        <p:spPr>
          <a:xfrm>
            <a:off x="7239000" y="3482196"/>
            <a:ext cx="9753600" cy="4023504"/>
          </a:xfrm>
          <a:prstGeom prst="rect">
            <a:avLst/>
          </a:prstGeom>
        </p:spPr>
      </p:pic>
      <p:pic>
        <p:nvPicPr>
          <p:cNvPr id="18" name="Picture 17">
            <a:extLst>
              <a:ext uri="{FF2B5EF4-FFF2-40B4-BE49-F238E27FC236}">
                <a16:creationId xmlns:a16="http://schemas.microsoft.com/office/drawing/2014/main" id="{250ADD0F-A77D-B0CC-2F56-79BCD25A3E7C}"/>
              </a:ext>
            </a:extLst>
          </p:cNvPr>
          <p:cNvPicPr>
            <a:picLocks noChangeAspect="1"/>
          </p:cNvPicPr>
          <p:nvPr/>
        </p:nvPicPr>
        <p:blipFill>
          <a:blip r:embed="rId4"/>
          <a:stretch>
            <a:fillRect/>
          </a:stretch>
        </p:blipFill>
        <p:spPr>
          <a:xfrm>
            <a:off x="7239000" y="7886700"/>
            <a:ext cx="3657600" cy="1143000"/>
          </a:xfrm>
          <a:prstGeom prst="rect">
            <a:avLst/>
          </a:prstGeom>
        </p:spPr>
      </p:pic>
      <p:pic>
        <p:nvPicPr>
          <p:cNvPr id="20" name="Picture 19">
            <a:extLst>
              <a:ext uri="{FF2B5EF4-FFF2-40B4-BE49-F238E27FC236}">
                <a16:creationId xmlns:a16="http://schemas.microsoft.com/office/drawing/2014/main" id="{7A078199-0BAF-CB68-B0CB-4E2976FF2808}"/>
              </a:ext>
            </a:extLst>
          </p:cNvPr>
          <p:cNvPicPr>
            <a:picLocks noChangeAspect="1"/>
          </p:cNvPicPr>
          <p:nvPr/>
        </p:nvPicPr>
        <p:blipFill>
          <a:blip r:embed="rId5"/>
          <a:stretch>
            <a:fillRect/>
          </a:stretch>
        </p:blipFill>
        <p:spPr>
          <a:xfrm>
            <a:off x="11201400" y="7886700"/>
            <a:ext cx="3200400" cy="1143000"/>
          </a:xfrm>
          <a:prstGeom prst="rect">
            <a:avLst/>
          </a:prstGeom>
        </p:spPr>
      </p:pic>
      <p:pic>
        <p:nvPicPr>
          <p:cNvPr id="22" name="Picture 21">
            <a:extLst>
              <a:ext uri="{FF2B5EF4-FFF2-40B4-BE49-F238E27FC236}">
                <a16:creationId xmlns:a16="http://schemas.microsoft.com/office/drawing/2014/main" id="{BC6CB915-D124-2D1D-074D-9BBDFA3D0A9E}"/>
              </a:ext>
            </a:extLst>
          </p:cNvPr>
          <p:cNvPicPr>
            <a:picLocks noChangeAspect="1"/>
          </p:cNvPicPr>
          <p:nvPr/>
        </p:nvPicPr>
        <p:blipFill>
          <a:blip r:embed="rId6"/>
          <a:stretch>
            <a:fillRect/>
          </a:stretch>
        </p:blipFill>
        <p:spPr>
          <a:xfrm>
            <a:off x="14706600" y="7886700"/>
            <a:ext cx="3200400" cy="1143000"/>
          </a:xfrm>
          <a:prstGeom prst="rect">
            <a:avLst/>
          </a:prstGeom>
        </p:spPr>
      </p:pic>
    </p:spTree>
    <p:extLst>
      <p:ext uri="{BB962C8B-B14F-4D97-AF65-F5344CB8AC3E}">
        <p14:creationId xmlns:p14="http://schemas.microsoft.com/office/powerpoint/2010/main" val="3419215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7553E98E-747B-67D3-F5E7-8261B61C8E34}"/>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D34A3CA6-ECAB-FFBF-271B-D28F94B82BCB}"/>
              </a:ext>
            </a:extLst>
          </p:cNvPr>
          <p:cNvSpPr txBox="1"/>
          <p:nvPr/>
        </p:nvSpPr>
        <p:spPr>
          <a:xfrm>
            <a:off x="1638183" y="239496"/>
            <a:ext cx="15583019" cy="905825"/>
          </a:xfrm>
          <a:prstGeom prst="rect">
            <a:avLst/>
          </a:prstGeom>
        </p:spPr>
        <p:txBody>
          <a:bodyPr wrap="square" lIns="0" tIns="0" rIns="0" bIns="0" rtlCol="0" anchor="t">
            <a:spAutoFit/>
          </a:bodyPr>
          <a:lstStyle/>
          <a:p>
            <a:pPr defTabSz="914400">
              <a:lnSpc>
                <a:spcPts val="8143"/>
              </a:lnSpc>
              <a:defRPr/>
            </a:pPr>
            <a:r>
              <a:rPr lang="en-US" sz="4000" b="1" dirty="0">
                <a:solidFill>
                  <a:srgbClr val="36E9FD"/>
                </a:solidFill>
                <a:latin typeface="Montserrat Semi-Bold" panose="020B0604020202020204" charset="0"/>
                <a:ea typeface="Montserrat Semi-Bold"/>
                <a:cs typeface="Montserrat Semi-Bold"/>
                <a:sym typeface="Montserrat Semi-Bold"/>
              </a:rPr>
              <a:t>NORMALIZATION METHODS FOR DATA PREPROCESSING </a:t>
            </a:r>
          </a:p>
        </p:txBody>
      </p:sp>
      <p:sp>
        <p:nvSpPr>
          <p:cNvPr id="25" name="TextBox 25">
            <a:extLst>
              <a:ext uri="{FF2B5EF4-FFF2-40B4-BE49-F238E27FC236}">
                <a16:creationId xmlns:a16="http://schemas.microsoft.com/office/drawing/2014/main" id="{D5A3675B-7B5B-1D5F-958C-F8CB9A5CAFDC}"/>
              </a:ext>
            </a:extLst>
          </p:cNvPr>
          <p:cNvSpPr txBox="1"/>
          <p:nvPr/>
        </p:nvSpPr>
        <p:spPr>
          <a:xfrm>
            <a:off x="483809" y="96282"/>
            <a:ext cx="1154372" cy="394339"/>
          </a:xfrm>
          <a:prstGeom prst="rect">
            <a:avLst/>
          </a:prstGeom>
        </p:spPr>
        <p:txBody>
          <a:bodyPr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25</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0C66C1C-F67C-9851-F26F-2599F9C4F3EF}"/>
                  </a:ext>
                </a:extLst>
              </p:cNvPr>
              <p:cNvSpPr txBox="1"/>
              <p:nvPr/>
            </p:nvSpPr>
            <p:spPr>
              <a:xfrm>
                <a:off x="1603768" y="1310654"/>
                <a:ext cx="12645632" cy="8228150"/>
              </a:xfrm>
              <a:prstGeom prst="rect">
                <a:avLst/>
              </a:prstGeom>
              <a:noFill/>
            </p:spPr>
            <p:txBody>
              <a:bodyPr wrap="square" rtlCol="0">
                <a:spAutoFit/>
              </a:bodyPr>
              <a:lstStyle/>
              <a:p>
                <a:pPr defTabSz="914400">
                  <a:defRPr/>
                </a:pPr>
                <a:r>
                  <a:rPr lang="en-IN" sz="2800" b="1" dirty="0">
                    <a:solidFill>
                      <a:schemeClr val="bg1"/>
                    </a:solidFill>
                    <a:latin typeface="Calibri"/>
                  </a:rPr>
                  <a:t>3. Max Absolute Normalization (</a:t>
                </a:r>
                <a:r>
                  <a:rPr lang="en-IN" sz="2800" b="1" dirty="0" err="1">
                    <a:solidFill>
                      <a:schemeClr val="bg1"/>
                    </a:solidFill>
                    <a:latin typeface="Calibri"/>
                  </a:rPr>
                  <a:t>MaxAbs</a:t>
                </a:r>
                <a:r>
                  <a:rPr lang="en-IN" sz="2800" b="1" dirty="0">
                    <a:solidFill>
                      <a:schemeClr val="bg1"/>
                    </a:solidFill>
                    <a:latin typeface="Calibri"/>
                  </a:rPr>
                  <a:t> Normalization)</a:t>
                </a:r>
              </a:p>
              <a:p>
                <a:pPr defTabSz="914400">
                  <a:defRPr/>
                </a:pPr>
                <a:endParaRPr lang="en-IN" sz="2800" b="1" dirty="0">
                  <a:solidFill>
                    <a:schemeClr val="bg1"/>
                  </a:solidFill>
                  <a:latin typeface="Calibri"/>
                </a:endParaRPr>
              </a:p>
              <a:p>
                <a:r>
                  <a:rPr lang="en-IN" sz="2800" b="1" dirty="0">
                    <a:solidFill>
                      <a:schemeClr val="bg1"/>
                    </a:solidFill>
                  </a:rPr>
                  <a:t>Formula</a:t>
                </a:r>
              </a:p>
              <a:p>
                <a:pPr/>
                <a14:m>
                  <m:oMathPara xmlns:m="http://schemas.openxmlformats.org/officeDocument/2006/math">
                    <m:oMathParaPr>
                      <m:jc m:val="centerGroup"/>
                    </m:oMathParaPr>
                    <m:oMath xmlns:m="http://schemas.openxmlformats.org/officeDocument/2006/math">
                      <m:sSup>
                        <m:sSupPr>
                          <m:ctrlPr>
                            <a:rPr lang="ar-AE" sz="2800" i="1">
                              <a:solidFill>
                                <a:schemeClr val="bg1"/>
                              </a:solidFill>
                              <a:latin typeface="Cambria Math" panose="02040503050406030204" pitchFamily="18" charset="0"/>
                            </a:rPr>
                          </m:ctrlPr>
                        </m:sSupPr>
                        <m:e>
                          <m:r>
                            <a:rPr lang="ar-AE" sz="2800" i="1">
                              <a:solidFill>
                                <a:schemeClr val="bg1"/>
                              </a:solidFill>
                              <a:latin typeface="Cambria Math" panose="02040503050406030204" pitchFamily="18" charset="0"/>
                            </a:rPr>
                            <m:t>𝑥</m:t>
                          </m:r>
                        </m:e>
                        <m:sup>
                          <m:r>
                            <a:rPr lang="ar-AE" sz="2800">
                              <a:solidFill>
                                <a:schemeClr val="bg1"/>
                              </a:solidFill>
                              <a:latin typeface="Cambria Math" panose="02040503050406030204" pitchFamily="18" charset="0"/>
                            </a:rPr>
                            <m:t>′</m:t>
                          </m:r>
                        </m:sup>
                      </m:sSup>
                      <m:r>
                        <a:rPr lang="ar-AE" sz="2800">
                          <a:solidFill>
                            <a:schemeClr val="bg1"/>
                          </a:solidFill>
                          <a:latin typeface="Cambria Math" panose="02040503050406030204" pitchFamily="18" charset="0"/>
                        </a:rPr>
                        <m:t>=</m:t>
                      </m:r>
                      <m:f>
                        <m:fPr>
                          <m:ctrlPr>
                            <a:rPr lang="ar-AE" sz="2800" i="1">
                              <a:solidFill>
                                <a:schemeClr val="bg1"/>
                              </a:solidFill>
                              <a:latin typeface="Cambria Math" panose="02040503050406030204" pitchFamily="18" charset="0"/>
                            </a:rPr>
                          </m:ctrlPr>
                        </m:fPr>
                        <m:num>
                          <m:r>
                            <a:rPr lang="ar-AE" sz="2800" i="1">
                              <a:solidFill>
                                <a:schemeClr val="bg1"/>
                              </a:solidFill>
                              <a:latin typeface="Cambria Math" panose="02040503050406030204" pitchFamily="18" charset="0"/>
                            </a:rPr>
                            <m:t>𝑥</m:t>
                          </m:r>
                        </m:num>
                        <m:den>
                          <m:r>
                            <a:rPr lang="ar-AE" sz="2800">
                              <a:solidFill>
                                <a:schemeClr val="bg1"/>
                              </a:solidFill>
                              <a:latin typeface="Cambria Math" panose="02040503050406030204" pitchFamily="18" charset="0"/>
                            </a:rPr>
                            <m:t>∣</m:t>
                          </m:r>
                          <m:sSub>
                            <m:sSubPr>
                              <m:ctrlPr>
                                <a:rPr lang="ar-AE" sz="2800" i="1">
                                  <a:solidFill>
                                    <a:schemeClr val="bg1"/>
                                  </a:solidFill>
                                  <a:latin typeface="Cambria Math" panose="02040503050406030204" pitchFamily="18" charset="0"/>
                                </a:rPr>
                              </m:ctrlPr>
                            </m:sSubPr>
                            <m:e>
                              <m:r>
                                <a:rPr lang="ar-AE" sz="2800" i="1">
                                  <a:solidFill>
                                    <a:schemeClr val="bg1"/>
                                  </a:solidFill>
                                  <a:latin typeface="Cambria Math" panose="02040503050406030204" pitchFamily="18" charset="0"/>
                                </a:rPr>
                                <m:t>𝑥</m:t>
                              </m:r>
                            </m:e>
                            <m:sub>
                              <m:r>
                                <a:rPr lang="ar-AE" sz="2800" i="1">
                                  <a:solidFill>
                                    <a:schemeClr val="bg1"/>
                                  </a:solidFill>
                                  <a:latin typeface="Cambria Math" panose="02040503050406030204" pitchFamily="18" charset="0"/>
                                </a:rPr>
                                <m:t>𝑚𝑎𝑥</m:t>
                              </m:r>
                            </m:sub>
                          </m:sSub>
                          <m:r>
                            <a:rPr lang="ar-AE" sz="2800">
                              <a:solidFill>
                                <a:schemeClr val="bg1"/>
                              </a:solidFill>
                              <a:latin typeface="Cambria Math" panose="02040503050406030204" pitchFamily="18" charset="0"/>
                            </a:rPr>
                            <m:t>∣</m:t>
                          </m:r>
                        </m:den>
                      </m:f>
                    </m:oMath>
                  </m:oMathPara>
                </a14:m>
                <a:endParaRPr lang="ar-AE" sz="2800" dirty="0">
                  <a:solidFill>
                    <a:schemeClr val="bg1"/>
                  </a:solidFill>
                </a:endParaRPr>
              </a:p>
              <a:p>
                <a:r>
                  <a:rPr lang="en-IN" sz="2800" b="1" dirty="0">
                    <a:solidFill>
                      <a:schemeClr val="bg1"/>
                    </a:solidFill>
                  </a:rPr>
                  <a:t>Output Range</a:t>
                </a:r>
              </a:p>
              <a:p>
                <a:pPr/>
                <a14:m>
                  <m:oMathPara xmlns:m="http://schemas.openxmlformats.org/officeDocument/2006/math">
                    <m:oMathParaPr>
                      <m:jc m:val="centerGroup"/>
                    </m:oMathParaPr>
                    <m:oMath xmlns:m="http://schemas.openxmlformats.org/officeDocument/2006/math">
                      <m:r>
                        <a:rPr lang="en-IN" sz="2800">
                          <a:solidFill>
                            <a:schemeClr val="bg1"/>
                          </a:solidFill>
                          <a:latin typeface="Cambria Math" panose="02040503050406030204" pitchFamily="18" charset="0"/>
                        </a:rPr>
                        <m:t>−</m:t>
                      </m:r>
                      <m:r>
                        <a:rPr lang="en-IN" sz="2800">
                          <a:solidFill>
                            <a:schemeClr val="bg1"/>
                          </a:solidFill>
                          <a:latin typeface="Cambria Math" panose="02040503050406030204" pitchFamily="18" charset="0"/>
                        </a:rPr>
                        <m:t>1</m:t>
                      </m:r>
                      <m:r>
                        <a:rPr lang="en-IN" sz="2800">
                          <a:solidFill>
                            <a:schemeClr val="bg1"/>
                          </a:solidFill>
                          <a:latin typeface="Cambria Math" panose="02040503050406030204" pitchFamily="18" charset="0"/>
                        </a:rPr>
                        <m:t>≤</m:t>
                      </m:r>
                      <m:sSup>
                        <m:sSupPr>
                          <m:ctrlPr>
                            <a:rPr lang="ar-AE" sz="2800" i="1">
                              <a:solidFill>
                                <a:schemeClr val="bg1"/>
                              </a:solidFill>
                              <a:latin typeface="Cambria Math" panose="02040503050406030204" pitchFamily="18" charset="0"/>
                            </a:rPr>
                          </m:ctrlPr>
                        </m:sSupPr>
                        <m:e>
                          <m:r>
                            <a:rPr lang="ar-AE" sz="2800" i="1">
                              <a:solidFill>
                                <a:schemeClr val="bg1"/>
                              </a:solidFill>
                              <a:latin typeface="Cambria Math" panose="02040503050406030204" pitchFamily="18" charset="0"/>
                            </a:rPr>
                            <m:t>𝑥</m:t>
                          </m:r>
                        </m:e>
                        <m:sup>
                          <m:r>
                            <a:rPr lang="ar-AE" sz="2800">
                              <a:solidFill>
                                <a:schemeClr val="bg1"/>
                              </a:solidFill>
                              <a:latin typeface="Cambria Math" panose="02040503050406030204" pitchFamily="18" charset="0"/>
                            </a:rPr>
                            <m:t>′</m:t>
                          </m:r>
                        </m:sup>
                      </m:sSup>
                      <m:r>
                        <a:rPr lang="ar-AE" sz="2800">
                          <a:solidFill>
                            <a:schemeClr val="bg1"/>
                          </a:solidFill>
                          <a:latin typeface="Cambria Math" panose="02040503050406030204" pitchFamily="18" charset="0"/>
                        </a:rPr>
                        <m:t>≤</m:t>
                      </m:r>
                      <m:r>
                        <a:rPr lang="ar-AE" sz="2800">
                          <a:solidFill>
                            <a:schemeClr val="bg1"/>
                          </a:solidFill>
                          <a:latin typeface="Cambria Math" panose="02040503050406030204" pitchFamily="18" charset="0"/>
                        </a:rPr>
                        <m:t>1</m:t>
                      </m:r>
                    </m:oMath>
                  </m:oMathPara>
                </a14:m>
                <a:endParaRPr lang="ar-AE" sz="2800" dirty="0">
                  <a:solidFill>
                    <a:schemeClr val="bg1"/>
                  </a:solidFill>
                </a:endParaRPr>
              </a:p>
              <a:p>
                <a:r>
                  <a:rPr lang="en-IN" sz="2800" b="1" dirty="0">
                    <a:solidFill>
                      <a:schemeClr val="bg1"/>
                    </a:solidFill>
                  </a:rPr>
                  <a:t>Advantages</a:t>
                </a:r>
              </a:p>
              <a:p>
                <a:r>
                  <a:rPr lang="en-IN" sz="2800" dirty="0">
                    <a:solidFill>
                      <a:schemeClr val="bg1"/>
                    </a:solidFill>
                  </a:rPr>
                  <a:t>Preserves sparsity </a:t>
                </a:r>
              </a:p>
              <a:p>
                <a:r>
                  <a:rPr lang="en-IN" sz="2800" dirty="0">
                    <a:solidFill>
                      <a:schemeClr val="bg1"/>
                    </a:solidFill>
                  </a:rPr>
                  <a:t>Useful for sparse datasets </a:t>
                </a:r>
              </a:p>
              <a:p>
                <a:endParaRPr lang="en-IN" sz="2800" dirty="0">
                  <a:solidFill>
                    <a:schemeClr val="bg1"/>
                  </a:solidFill>
                </a:endParaRPr>
              </a:p>
              <a:p>
                <a:r>
                  <a:rPr lang="en-IN" sz="2800" b="1" dirty="0">
                    <a:solidFill>
                      <a:schemeClr val="bg1"/>
                    </a:solidFill>
                  </a:rPr>
                  <a:t>Model Impact</a:t>
                </a:r>
              </a:p>
              <a:p>
                <a:r>
                  <a:rPr lang="en-IN" sz="2800" b="1" dirty="0">
                    <a:solidFill>
                      <a:schemeClr val="bg1"/>
                    </a:solidFill>
                  </a:rPr>
                  <a:t>Logistic Regression</a:t>
                </a:r>
              </a:p>
              <a:p>
                <a:r>
                  <a:rPr lang="en-IN" sz="2800" dirty="0">
                    <a:solidFill>
                      <a:schemeClr val="bg1"/>
                    </a:solidFill>
                  </a:rPr>
                  <a:t>Efficient for sparse inputs.</a:t>
                </a:r>
              </a:p>
              <a:p>
                <a:r>
                  <a:rPr lang="en-IN" sz="2800" b="1" dirty="0">
                    <a:solidFill>
                      <a:schemeClr val="bg1"/>
                    </a:solidFill>
                  </a:rPr>
                  <a:t>k-NN</a:t>
                </a:r>
              </a:p>
              <a:p>
                <a:r>
                  <a:rPr lang="en-IN" sz="2800" dirty="0">
                    <a:solidFill>
                      <a:schemeClr val="bg1"/>
                    </a:solidFill>
                  </a:rPr>
                  <a:t>Moderate improvement.</a:t>
                </a:r>
              </a:p>
              <a:p>
                <a:r>
                  <a:rPr lang="en-IN" sz="2800" b="1" dirty="0">
                    <a:solidFill>
                      <a:schemeClr val="bg1"/>
                    </a:solidFill>
                  </a:rPr>
                  <a:t>Decision Tree</a:t>
                </a:r>
              </a:p>
              <a:p>
                <a:r>
                  <a:rPr lang="en-IN" sz="2800" dirty="0">
                    <a:solidFill>
                      <a:schemeClr val="bg1"/>
                    </a:solidFill>
                  </a:rPr>
                  <a:t>Minimal impact.</a:t>
                </a:r>
              </a:p>
              <a:p>
                <a:pPr defTabSz="914400">
                  <a:defRPr/>
                </a:pPr>
                <a:endParaRPr lang="en-IN" sz="2800" b="1" dirty="0">
                  <a:solidFill>
                    <a:schemeClr val="bg1"/>
                  </a:solidFill>
                  <a:latin typeface="Calibri"/>
                </a:endParaRPr>
              </a:p>
            </p:txBody>
          </p:sp>
        </mc:Choice>
        <mc:Fallback xmlns="">
          <p:sp>
            <p:nvSpPr>
              <p:cNvPr id="5" name="TextBox 4">
                <a:extLst>
                  <a:ext uri="{FF2B5EF4-FFF2-40B4-BE49-F238E27FC236}">
                    <a16:creationId xmlns:a16="http://schemas.microsoft.com/office/drawing/2014/main" id="{10C66C1C-F67C-9851-F26F-2599F9C4F3EF}"/>
                  </a:ext>
                </a:extLst>
              </p:cNvPr>
              <p:cNvSpPr txBox="1">
                <a:spLocks noRot="1" noChangeAspect="1" noMove="1" noResize="1" noEditPoints="1" noAdjustHandles="1" noChangeArrowheads="1" noChangeShapeType="1" noTextEdit="1"/>
              </p:cNvSpPr>
              <p:nvPr/>
            </p:nvSpPr>
            <p:spPr>
              <a:xfrm>
                <a:off x="1603768" y="1310654"/>
                <a:ext cx="12645632" cy="8228150"/>
              </a:xfrm>
              <a:prstGeom prst="rect">
                <a:avLst/>
              </a:prstGeom>
              <a:blipFill>
                <a:blip r:embed="rId2"/>
                <a:stretch>
                  <a:fillRect l="-964" t="-667"/>
                </a:stretch>
              </a:blipFill>
            </p:spPr>
            <p:txBody>
              <a:bodyPr/>
              <a:lstStyle/>
              <a:p>
                <a:r>
                  <a:rPr lang="en-IN">
                    <a:noFill/>
                  </a:rPr>
                  <a:t> </a:t>
                </a:r>
              </a:p>
            </p:txBody>
          </p:sp>
        </mc:Fallback>
      </mc:AlternateContent>
    </p:spTree>
    <p:extLst>
      <p:ext uri="{BB962C8B-B14F-4D97-AF65-F5344CB8AC3E}">
        <p14:creationId xmlns:p14="http://schemas.microsoft.com/office/powerpoint/2010/main" val="33662317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BA9F3BC0-CAE8-3F32-6B50-83C1236F86E1}"/>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14F9595B-B8FF-3CFC-A783-2C8E4D151B15}"/>
              </a:ext>
            </a:extLst>
          </p:cNvPr>
          <p:cNvSpPr txBox="1"/>
          <p:nvPr/>
        </p:nvSpPr>
        <p:spPr>
          <a:xfrm>
            <a:off x="1752600" y="-203617"/>
            <a:ext cx="15583019" cy="905825"/>
          </a:xfrm>
          <a:prstGeom prst="rect">
            <a:avLst/>
          </a:prstGeom>
        </p:spPr>
        <p:txBody>
          <a:bodyPr wrap="square" lIns="0" tIns="0" rIns="0" bIns="0" rtlCol="0" anchor="t">
            <a:spAutoFit/>
          </a:bodyPr>
          <a:lstStyle/>
          <a:p>
            <a:pPr marL="0" marR="0" lvl="0" indent="0" algn="l" defTabSz="914400" rtl="0" eaLnBrk="1" fontAlgn="auto" latinLnBrk="0" hangingPunct="1">
              <a:lnSpc>
                <a:spcPts val="8143"/>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36E9FD"/>
                </a:solidFill>
                <a:effectLst/>
                <a:uLnTx/>
                <a:uFillTx/>
                <a:latin typeface="Montserrat Semi-Bold" panose="020B0604020202020204" charset="0"/>
                <a:ea typeface="Montserrat Semi-Bold"/>
                <a:cs typeface="Montserrat Semi-Bold"/>
                <a:sym typeface="Montserrat Semi-Bold"/>
              </a:rPr>
              <a:t>NORMALIZATION METHODS FOR DATA PREPROCESSING </a:t>
            </a:r>
          </a:p>
        </p:txBody>
      </p:sp>
      <p:sp>
        <p:nvSpPr>
          <p:cNvPr id="25" name="TextBox 25">
            <a:extLst>
              <a:ext uri="{FF2B5EF4-FFF2-40B4-BE49-F238E27FC236}">
                <a16:creationId xmlns:a16="http://schemas.microsoft.com/office/drawing/2014/main" id="{D1FFCE14-3B2C-A1B8-4513-F7739A16A8E8}"/>
              </a:ext>
            </a:extLst>
          </p:cNvPr>
          <p:cNvSpPr txBox="1"/>
          <p:nvPr/>
        </p:nvSpPr>
        <p:spPr>
          <a:xfrm>
            <a:off x="483809" y="96282"/>
            <a:ext cx="1154372" cy="394339"/>
          </a:xfrm>
          <a:prstGeom prst="rect">
            <a:avLst/>
          </a:prstGeom>
        </p:spPr>
        <p:txBody>
          <a:bodyPr lIns="0" tIns="0" rIns="0" bIns="0" rtlCol="0" anchor="t">
            <a:spAutoFit/>
          </a:bodyPr>
          <a:lstStyle/>
          <a:p>
            <a:pPr marL="0" marR="0" lvl="0" indent="0" algn="l" defTabSz="914400" rtl="0" eaLnBrk="1" fontAlgn="auto" latinLnBrk="0" hangingPunct="1">
              <a:lnSpc>
                <a:spcPts val="4057"/>
              </a:lnSpc>
              <a:spcBef>
                <a:spcPts val="0"/>
              </a:spcBef>
              <a:spcAft>
                <a:spcPts val="0"/>
              </a:spcAft>
              <a:buClrTx/>
              <a:buSzTx/>
              <a:buFontTx/>
              <a:buNone/>
              <a:tabLst/>
              <a:defRPr/>
            </a:pPr>
            <a:r>
              <a:rPr lang="en-US" sz="3145" dirty="0">
                <a:solidFill>
                  <a:srgbClr val="FFFFFF"/>
                </a:solidFill>
                <a:latin typeface="Mokoto"/>
                <a:ea typeface="Mokoto"/>
                <a:cs typeface="Mokoto"/>
                <a:sym typeface="Mokoto"/>
              </a:rPr>
              <a:t>26</a:t>
            </a:r>
            <a:endParaRPr kumimoji="0" lang="en-US" sz="3145" b="0" i="0" u="none" strike="noStrike" kern="1200" cap="none" spc="0" normalizeH="0" baseline="0" noProof="0" dirty="0">
              <a:ln>
                <a:noFill/>
              </a:ln>
              <a:solidFill>
                <a:srgbClr val="FFFFFF"/>
              </a:solidFill>
              <a:effectLst/>
              <a:uLnTx/>
              <a:uFillTx/>
              <a:latin typeface="Mokoto"/>
              <a:ea typeface="Mokoto"/>
              <a:cs typeface="Mokoto"/>
              <a:sym typeface="Mokoto"/>
            </a:endParaRPr>
          </a:p>
        </p:txBody>
      </p:sp>
      <p:sp>
        <p:nvSpPr>
          <p:cNvPr id="5" name="TextBox 4">
            <a:extLst>
              <a:ext uri="{FF2B5EF4-FFF2-40B4-BE49-F238E27FC236}">
                <a16:creationId xmlns:a16="http://schemas.microsoft.com/office/drawing/2014/main" id="{B6903D79-DC8B-437A-FD13-61EFFC5621EF}"/>
              </a:ext>
            </a:extLst>
          </p:cNvPr>
          <p:cNvSpPr txBox="1"/>
          <p:nvPr/>
        </p:nvSpPr>
        <p:spPr>
          <a:xfrm>
            <a:off x="381000" y="737694"/>
            <a:ext cx="853083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prstClr val="white"/>
                </a:solidFill>
                <a:effectLst/>
                <a:uLnTx/>
                <a:uFillTx/>
                <a:latin typeface="Calibri"/>
                <a:ea typeface="+mn-ea"/>
                <a:cs typeface="+mn-cs"/>
              </a:rPr>
              <a:t>3. Max Absolute Normalization (</a:t>
            </a:r>
            <a:r>
              <a:rPr kumimoji="0" lang="en-IN" sz="2800" b="1" i="0" u="none" strike="noStrike" kern="1200" cap="none" spc="0" normalizeH="0" baseline="0" noProof="0" dirty="0" err="1">
                <a:ln>
                  <a:noFill/>
                </a:ln>
                <a:solidFill>
                  <a:prstClr val="white"/>
                </a:solidFill>
                <a:effectLst/>
                <a:uLnTx/>
                <a:uFillTx/>
                <a:latin typeface="Calibri"/>
                <a:ea typeface="+mn-ea"/>
                <a:cs typeface="+mn-cs"/>
              </a:rPr>
              <a:t>MaxAbs</a:t>
            </a:r>
            <a:r>
              <a:rPr kumimoji="0" lang="en-IN" sz="2800" b="1" i="0" u="none" strike="noStrike" kern="1200" cap="none" spc="0" normalizeH="0" baseline="0" noProof="0" dirty="0">
                <a:ln>
                  <a:noFill/>
                </a:ln>
                <a:solidFill>
                  <a:prstClr val="white"/>
                </a:solidFill>
                <a:effectLst/>
                <a:uLnTx/>
                <a:uFillTx/>
                <a:latin typeface="Calibri"/>
                <a:ea typeface="+mn-ea"/>
                <a:cs typeface="+mn-cs"/>
              </a:rPr>
              <a:t> Normalization)</a:t>
            </a:r>
          </a:p>
        </p:txBody>
      </p:sp>
      <p:pic>
        <p:nvPicPr>
          <p:cNvPr id="3" name="Picture 2">
            <a:extLst>
              <a:ext uri="{FF2B5EF4-FFF2-40B4-BE49-F238E27FC236}">
                <a16:creationId xmlns:a16="http://schemas.microsoft.com/office/drawing/2014/main" id="{F0AD9F54-B86A-9627-0962-943AFDC92416}"/>
              </a:ext>
            </a:extLst>
          </p:cNvPr>
          <p:cNvPicPr>
            <a:picLocks noChangeAspect="1"/>
          </p:cNvPicPr>
          <p:nvPr/>
        </p:nvPicPr>
        <p:blipFill>
          <a:blip r:embed="rId2"/>
          <a:stretch>
            <a:fillRect/>
          </a:stretch>
        </p:blipFill>
        <p:spPr>
          <a:xfrm>
            <a:off x="483808" y="1296400"/>
            <a:ext cx="5840791" cy="8495300"/>
          </a:xfrm>
          <a:prstGeom prst="rect">
            <a:avLst/>
          </a:prstGeom>
        </p:spPr>
      </p:pic>
      <p:pic>
        <p:nvPicPr>
          <p:cNvPr id="6" name="Picture 5">
            <a:extLst>
              <a:ext uri="{FF2B5EF4-FFF2-40B4-BE49-F238E27FC236}">
                <a16:creationId xmlns:a16="http://schemas.microsoft.com/office/drawing/2014/main" id="{86B5B110-E788-9540-CBF0-294E71013250}"/>
              </a:ext>
            </a:extLst>
          </p:cNvPr>
          <p:cNvPicPr>
            <a:picLocks noChangeAspect="1"/>
          </p:cNvPicPr>
          <p:nvPr/>
        </p:nvPicPr>
        <p:blipFill>
          <a:blip r:embed="rId3"/>
          <a:stretch>
            <a:fillRect/>
          </a:stretch>
        </p:blipFill>
        <p:spPr>
          <a:xfrm>
            <a:off x="6705600" y="3162300"/>
            <a:ext cx="9982200" cy="3962400"/>
          </a:xfrm>
          <a:prstGeom prst="rect">
            <a:avLst/>
          </a:prstGeom>
        </p:spPr>
      </p:pic>
      <p:pic>
        <p:nvPicPr>
          <p:cNvPr id="4" name="Picture 3">
            <a:extLst>
              <a:ext uri="{FF2B5EF4-FFF2-40B4-BE49-F238E27FC236}">
                <a16:creationId xmlns:a16="http://schemas.microsoft.com/office/drawing/2014/main" id="{1BAAE585-45D6-2C97-13A4-161F28FE24F7}"/>
              </a:ext>
            </a:extLst>
          </p:cNvPr>
          <p:cNvPicPr>
            <a:picLocks noChangeAspect="1"/>
          </p:cNvPicPr>
          <p:nvPr/>
        </p:nvPicPr>
        <p:blipFill>
          <a:blip r:embed="rId4"/>
          <a:stretch>
            <a:fillRect/>
          </a:stretch>
        </p:blipFill>
        <p:spPr>
          <a:xfrm>
            <a:off x="6712527" y="7505700"/>
            <a:ext cx="2812473" cy="990600"/>
          </a:xfrm>
          <a:prstGeom prst="rect">
            <a:avLst/>
          </a:prstGeom>
        </p:spPr>
      </p:pic>
      <p:pic>
        <p:nvPicPr>
          <p:cNvPr id="8" name="Picture 7">
            <a:extLst>
              <a:ext uri="{FF2B5EF4-FFF2-40B4-BE49-F238E27FC236}">
                <a16:creationId xmlns:a16="http://schemas.microsoft.com/office/drawing/2014/main" id="{5510BFA0-1602-ABEC-E2CA-9D038901A166}"/>
              </a:ext>
            </a:extLst>
          </p:cNvPr>
          <p:cNvPicPr>
            <a:picLocks noChangeAspect="1"/>
          </p:cNvPicPr>
          <p:nvPr/>
        </p:nvPicPr>
        <p:blipFill>
          <a:blip r:embed="rId5"/>
          <a:stretch>
            <a:fillRect/>
          </a:stretch>
        </p:blipFill>
        <p:spPr>
          <a:xfrm>
            <a:off x="9753600" y="7505700"/>
            <a:ext cx="3352800" cy="990600"/>
          </a:xfrm>
          <a:prstGeom prst="rect">
            <a:avLst/>
          </a:prstGeom>
        </p:spPr>
      </p:pic>
      <p:pic>
        <p:nvPicPr>
          <p:cNvPr id="10" name="Picture 9">
            <a:extLst>
              <a:ext uri="{FF2B5EF4-FFF2-40B4-BE49-F238E27FC236}">
                <a16:creationId xmlns:a16="http://schemas.microsoft.com/office/drawing/2014/main" id="{7341A5EE-ABC9-F73E-2AD0-E7731840A4F8}"/>
              </a:ext>
            </a:extLst>
          </p:cNvPr>
          <p:cNvPicPr>
            <a:picLocks noChangeAspect="1"/>
          </p:cNvPicPr>
          <p:nvPr/>
        </p:nvPicPr>
        <p:blipFill>
          <a:blip r:embed="rId6"/>
          <a:stretch>
            <a:fillRect/>
          </a:stretch>
        </p:blipFill>
        <p:spPr>
          <a:xfrm>
            <a:off x="13335000" y="7505700"/>
            <a:ext cx="3352800" cy="990600"/>
          </a:xfrm>
          <a:prstGeom prst="rect">
            <a:avLst/>
          </a:prstGeom>
        </p:spPr>
      </p:pic>
    </p:spTree>
    <p:extLst>
      <p:ext uri="{BB962C8B-B14F-4D97-AF65-F5344CB8AC3E}">
        <p14:creationId xmlns:p14="http://schemas.microsoft.com/office/powerpoint/2010/main" val="14535772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3E6CB486-3532-F408-34FE-40926879D9E4}"/>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8EFE43B3-C409-0138-9CA6-579591F99EE1}"/>
              </a:ext>
            </a:extLst>
          </p:cNvPr>
          <p:cNvSpPr txBox="1"/>
          <p:nvPr/>
        </p:nvSpPr>
        <p:spPr>
          <a:xfrm>
            <a:off x="4495802" y="1714500"/>
            <a:ext cx="10553819" cy="1038746"/>
          </a:xfrm>
          <a:prstGeom prst="rect">
            <a:avLst/>
          </a:prstGeom>
        </p:spPr>
        <p:txBody>
          <a:bodyPr wrap="square" lIns="0" tIns="0" rIns="0" bIns="0" rtlCol="0" anchor="t">
            <a:spAutoFit/>
          </a:bodyPr>
          <a:lstStyle/>
          <a:p>
            <a:pPr defTabSz="914400">
              <a:lnSpc>
                <a:spcPts val="8143"/>
              </a:lnSpc>
              <a:defRPr/>
            </a:pPr>
            <a:r>
              <a:rPr lang="en-US" sz="7200" b="1" dirty="0">
                <a:solidFill>
                  <a:srgbClr val="36E9FD"/>
                </a:solidFill>
                <a:latin typeface="Montserrat Semi-Bold" panose="020B0604020202020204" charset="0"/>
                <a:ea typeface="Montserrat Semi-Bold"/>
                <a:cs typeface="Montserrat Semi-Bold"/>
                <a:sym typeface="Montserrat Semi-Bold"/>
              </a:rPr>
              <a:t>IMPLEMENTATION</a:t>
            </a:r>
          </a:p>
        </p:txBody>
      </p:sp>
    </p:spTree>
    <p:extLst>
      <p:ext uri="{BB962C8B-B14F-4D97-AF65-F5344CB8AC3E}">
        <p14:creationId xmlns:p14="http://schemas.microsoft.com/office/powerpoint/2010/main" val="30467003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1B70">
                <a:alpha val="100000"/>
              </a:srgbClr>
            </a:gs>
            <a:gs pos="100000">
              <a:srgbClr val="000000">
                <a:alpha val="100000"/>
              </a:srgbClr>
            </a:gs>
          </a:gsLst>
          <a:lin ang="0"/>
        </a:gradFill>
        <a:effectLst/>
      </p:bgPr>
    </p:bg>
    <p:spTree>
      <p:nvGrpSpPr>
        <p:cNvPr id="1" name="">
          <a:extLst>
            <a:ext uri="{FF2B5EF4-FFF2-40B4-BE49-F238E27FC236}">
              <a16:creationId xmlns:a16="http://schemas.microsoft.com/office/drawing/2014/main" id="{A0D35EB4-C26D-43B3-C5EC-72F269B20142}"/>
            </a:ext>
          </a:extLst>
        </p:cNvPr>
        <p:cNvGrpSpPr/>
        <p:nvPr/>
      </p:nvGrpSpPr>
      <p:grpSpPr>
        <a:xfrm>
          <a:off x="0" y="0"/>
          <a:ext cx="0" cy="0"/>
          <a:chOff x="0" y="0"/>
          <a:chExt cx="0" cy="0"/>
        </a:xfrm>
      </p:grpSpPr>
      <p:sp>
        <p:nvSpPr>
          <p:cNvPr id="23" name="TextBox 23">
            <a:extLst>
              <a:ext uri="{FF2B5EF4-FFF2-40B4-BE49-F238E27FC236}">
                <a16:creationId xmlns:a16="http://schemas.microsoft.com/office/drawing/2014/main" id="{B710F030-4EE8-20EC-3AB2-10C985218850}"/>
              </a:ext>
            </a:extLst>
          </p:cNvPr>
          <p:cNvSpPr txBox="1"/>
          <p:nvPr/>
        </p:nvSpPr>
        <p:spPr>
          <a:xfrm>
            <a:off x="1638181" y="54019"/>
            <a:ext cx="10553819" cy="927946"/>
          </a:xfrm>
          <a:prstGeom prst="rect">
            <a:avLst/>
          </a:prstGeom>
        </p:spPr>
        <p:txBody>
          <a:bodyPr wrap="square" lIns="0" tIns="0" rIns="0" bIns="0" rtlCol="0" anchor="t">
            <a:spAutoFit/>
          </a:bodyPr>
          <a:lstStyle/>
          <a:p>
            <a:pPr defTabSz="914400">
              <a:lnSpc>
                <a:spcPts val="8143"/>
              </a:lnSpc>
              <a:defRPr/>
            </a:pPr>
            <a:r>
              <a:rPr lang="en-US" sz="4700" b="1" dirty="0">
                <a:solidFill>
                  <a:srgbClr val="36E9FD"/>
                </a:solidFill>
                <a:latin typeface="Montserrat Semi-Bold" panose="020B0604020202020204" charset="0"/>
                <a:ea typeface="Montserrat Semi-Bold"/>
                <a:cs typeface="Montserrat Semi-Bold"/>
                <a:sym typeface="Montserrat Semi-Bold"/>
              </a:rPr>
              <a:t>SUMMARY</a:t>
            </a:r>
          </a:p>
        </p:txBody>
      </p:sp>
      <p:sp>
        <p:nvSpPr>
          <p:cNvPr id="25" name="TextBox 25">
            <a:extLst>
              <a:ext uri="{FF2B5EF4-FFF2-40B4-BE49-F238E27FC236}">
                <a16:creationId xmlns:a16="http://schemas.microsoft.com/office/drawing/2014/main" id="{854BD9DC-3A23-F140-170D-0EC33BE45A1E}"/>
              </a:ext>
            </a:extLst>
          </p:cNvPr>
          <p:cNvSpPr txBox="1"/>
          <p:nvPr/>
        </p:nvSpPr>
        <p:spPr>
          <a:xfrm>
            <a:off x="463027" y="123653"/>
            <a:ext cx="1154372" cy="394339"/>
          </a:xfrm>
          <a:prstGeom prst="rect">
            <a:avLst/>
          </a:prstGeom>
        </p:spPr>
        <p:txBody>
          <a:bodyPr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27</a:t>
            </a:r>
          </a:p>
        </p:txBody>
      </p:sp>
      <p:graphicFrame>
        <p:nvGraphicFramePr>
          <p:cNvPr id="3" name="Table 2">
            <a:extLst>
              <a:ext uri="{FF2B5EF4-FFF2-40B4-BE49-F238E27FC236}">
                <a16:creationId xmlns:a16="http://schemas.microsoft.com/office/drawing/2014/main" id="{3C6AD408-42F9-6856-A12B-48B3C8DB2675}"/>
              </a:ext>
            </a:extLst>
          </p:cNvPr>
          <p:cNvGraphicFramePr>
            <a:graphicFrameLocks noGrp="1"/>
          </p:cNvGraphicFramePr>
          <p:nvPr>
            <p:extLst>
              <p:ext uri="{D42A27DB-BD31-4B8C-83A1-F6EECF244321}">
                <p14:modId xmlns:p14="http://schemas.microsoft.com/office/powerpoint/2010/main" val="1416338187"/>
              </p:ext>
            </p:extLst>
          </p:nvPr>
        </p:nvGraphicFramePr>
        <p:xfrm>
          <a:off x="1479096" y="2210630"/>
          <a:ext cx="15468598" cy="4456872"/>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850138274"/>
                    </a:ext>
                  </a:extLst>
                </a:gridCol>
                <a:gridCol w="3048000">
                  <a:extLst>
                    <a:ext uri="{9D8B030D-6E8A-4147-A177-3AD203B41FA5}">
                      <a16:colId xmlns:a16="http://schemas.microsoft.com/office/drawing/2014/main" val="551277405"/>
                    </a:ext>
                  </a:extLst>
                </a:gridCol>
                <a:gridCol w="4421730">
                  <a:extLst>
                    <a:ext uri="{9D8B030D-6E8A-4147-A177-3AD203B41FA5}">
                      <a16:colId xmlns:a16="http://schemas.microsoft.com/office/drawing/2014/main" val="1387822672"/>
                    </a:ext>
                  </a:extLst>
                </a:gridCol>
                <a:gridCol w="4341268">
                  <a:extLst>
                    <a:ext uri="{9D8B030D-6E8A-4147-A177-3AD203B41FA5}">
                      <a16:colId xmlns:a16="http://schemas.microsoft.com/office/drawing/2014/main" val="2260065984"/>
                    </a:ext>
                  </a:extLst>
                </a:gridCol>
              </a:tblGrid>
              <a:tr h="685800">
                <a:tc>
                  <a:txBody>
                    <a:bodyPr/>
                    <a:lstStyle/>
                    <a:p>
                      <a:pPr algn="l"/>
                      <a:endParaRPr lang="en-IN" b="1"/>
                    </a:p>
                  </a:txBody>
                  <a:tcPr anchor="ctr"/>
                </a:tc>
                <a:tc>
                  <a:txBody>
                    <a:bodyPr/>
                    <a:lstStyle/>
                    <a:p>
                      <a:pPr algn="ctr"/>
                      <a:r>
                        <a:rPr lang="en-IN" b="1" dirty="0"/>
                        <a:t>KNN</a:t>
                      </a:r>
                    </a:p>
                  </a:txBody>
                  <a:tcPr anchor="ctr"/>
                </a:tc>
                <a:tc>
                  <a:txBody>
                    <a:bodyPr/>
                    <a:lstStyle/>
                    <a:p>
                      <a:pPr algn="ctr"/>
                      <a:r>
                        <a:rPr lang="en-IN" b="1" dirty="0"/>
                        <a:t>LOGISTIC REGRESSION</a:t>
                      </a:r>
                    </a:p>
                  </a:txBody>
                  <a:tcPr anchor="ctr"/>
                </a:tc>
                <a:tc>
                  <a:txBody>
                    <a:bodyPr/>
                    <a:lstStyle/>
                    <a:p>
                      <a:pPr algn="ctr"/>
                      <a:r>
                        <a:rPr lang="en-IN" b="1" dirty="0"/>
                        <a:t>DECISION TREE</a:t>
                      </a:r>
                    </a:p>
                  </a:txBody>
                  <a:tcPr anchor="ctr"/>
                </a:tc>
                <a:extLst>
                  <a:ext uri="{0D108BD9-81ED-4DB2-BD59-A6C34878D82A}">
                    <a16:rowId xmlns:a16="http://schemas.microsoft.com/office/drawing/2014/main" val="2053549956"/>
                  </a:ext>
                </a:extLst>
              </a:tr>
              <a:tr h="1027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1. Before Data </a:t>
                      </a:r>
                      <a:r>
                        <a:rPr lang="en-IN" b="1" dirty="0" err="1"/>
                        <a:t>Preprocressing</a:t>
                      </a:r>
                      <a:endParaRPr lang="en-IN" b="1" dirty="0"/>
                    </a:p>
                  </a:txBody>
                  <a:tcPr anchor="ctr"/>
                </a:tc>
                <a:tc>
                  <a:txBody>
                    <a:bodyPr/>
                    <a:lstStyle/>
                    <a:p>
                      <a:pPr algn="l" latinLnBrk="1"/>
                      <a:br>
                        <a:rPr lang="en-US" dirty="0"/>
                      </a:br>
                      <a:r>
                        <a:rPr lang="en-US" sz="1800" b="0" i="0" kern="1200" dirty="0">
                          <a:solidFill>
                            <a:schemeClr val="dk1"/>
                          </a:solidFill>
                          <a:effectLst/>
                          <a:latin typeface="+mn-lt"/>
                          <a:ea typeface="+mn-ea"/>
                          <a:cs typeface="+mn-cs"/>
                        </a:rPr>
                        <a:t>KNN train accuracy is: 0.8654 KNN test accuracy is: 0.7431</a:t>
                      </a:r>
                      <a:endParaRPr lang="en-IN" b="1" dirty="0"/>
                    </a:p>
                  </a:txBody>
                  <a:tcPr anchor="ctr"/>
                </a:tc>
                <a:tc>
                  <a:txBody>
                    <a:bodyPr/>
                    <a:lstStyle/>
                    <a:p>
                      <a:pPr algn="l" latinLnBrk="1"/>
                      <a:r>
                        <a:rPr lang="en-US" sz="1800" b="0" i="0" kern="1200" dirty="0">
                          <a:solidFill>
                            <a:schemeClr val="dk1"/>
                          </a:solidFill>
                          <a:effectLst/>
                          <a:latin typeface="+mn-lt"/>
                          <a:ea typeface="+mn-ea"/>
                          <a:cs typeface="+mn-cs"/>
                        </a:rPr>
                        <a:t>Logistic Regression train accuracy is: 0.6225</a:t>
                      </a:r>
                    </a:p>
                    <a:p>
                      <a:pPr algn="l" latinLnBrk="1"/>
                      <a:r>
                        <a:rPr lang="en-US" sz="1800" b="0" i="0" kern="1200" dirty="0">
                          <a:solidFill>
                            <a:schemeClr val="dk1"/>
                          </a:solidFill>
                          <a:effectLst/>
                          <a:latin typeface="+mn-lt"/>
                          <a:ea typeface="+mn-ea"/>
                          <a:cs typeface="+mn-cs"/>
                        </a:rPr>
                        <a:t>Logistic Regression test accuracy is: 0.5966</a:t>
                      </a:r>
                    </a:p>
                    <a:p>
                      <a:pPr algn="l"/>
                      <a:endParaRPr lang="en-IN" b="1" dirty="0"/>
                    </a:p>
                  </a:txBody>
                  <a:tcPr anchor="ctr"/>
                </a:tc>
                <a:tc>
                  <a:txBody>
                    <a:bodyPr/>
                    <a:lstStyle/>
                    <a:p>
                      <a:pPr algn="l" latinLnBrk="1"/>
                      <a:r>
                        <a:rPr lang="en-US" sz="1800" b="0" i="0" kern="1200" dirty="0">
                          <a:solidFill>
                            <a:schemeClr val="dk1"/>
                          </a:solidFill>
                          <a:effectLst/>
                          <a:latin typeface="+mn-lt"/>
                          <a:ea typeface="+mn-ea"/>
                          <a:cs typeface="+mn-cs"/>
                        </a:rPr>
                        <a:t>Decision Tree train accuracy is: 1.0</a:t>
                      </a:r>
                    </a:p>
                    <a:p>
                      <a:pPr algn="l" latinLnBrk="1"/>
                      <a:r>
                        <a:rPr lang="en-US" sz="1800" b="0" i="0" kern="1200" dirty="0">
                          <a:solidFill>
                            <a:schemeClr val="dk1"/>
                          </a:solidFill>
                          <a:effectLst/>
                          <a:latin typeface="+mn-lt"/>
                          <a:ea typeface="+mn-ea"/>
                          <a:cs typeface="+mn-cs"/>
                        </a:rPr>
                        <a:t>Decision Tree test accuracy is: 0.7793</a:t>
                      </a:r>
                    </a:p>
                    <a:p>
                      <a:pPr algn="l"/>
                      <a:endParaRPr lang="en-IN" b="1" dirty="0"/>
                    </a:p>
                  </a:txBody>
                  <a:tcPr anchor="ctr"/>
                </a:tc>
                <a:extLst>
                  <a:ext uri="{0D108BD9-81ED-4DB2-BD59-A6C34878D82A}">
                    <a16:rowId xmlns:a16="http://schemas.microsoft.com/office/drawing/2014/main" val="2862969463"/>
                  </a:ext>
                </a:extLst>
              </a:tr>
              <a:tr h="799272">
                <a:tc>
                  <a:txBody>
                    <a:bodyPr/>
                    <a:lstStyle/>
                    <a:p>
                      <a:pPr algn="l"/>
                      <a:r>
                        <a:rPr lang="en-IN" b="1" dirty="0"/>
                        <a:t>2. Mean Imputation</a:t>
                      </a:r>
                    </a:p>
                  </a:txBody>
                  <a:tcPr anchor="ctr"/>
                </a:tc>
                <a:tc>
                  <a:txBody>
                    <a:bodyPr/>
                    <a:lstStyle/>
                    <a:p>
                      <a:pPr algn="l"/>
                      <a:br>
                        <a:rPr lang="en-US" dirty="0"/>
                      </a:br>
                      <a:r>
                        <a:rPr lang="en-US" sz="1800" b="0" i="0" kern="1200" dirty="0">
                          <a:solidFill>
                            <a:schemeClr val="dk1"/>
                          </a:solidFill>
                          <a:effectLst/>
                          <a:latin typeface="+mn-lt"/>
                          <a:ea typeface="+mn-ea"/>
                          <a:cs typeface="+mn-cs"/>
                        </a:rPr>
                        <a:t>KNN train accuracy is: 0.8611</a:t>
                      </a:r>
                    </a:p>
                    <a:p>
                      <a:pPr algn="l"/>
                      <a:r>
                        <a:rPr lang="en-US" sz="1800" b="0" i="0" kern="1200" dirty="0">
                          <a:solidFill>
                            <a:schemeClr val="dk1"/>
                          </a:solidFill>
                          <a:effectLst/>
                          <a:latin typeface="+mn-lt"/>
                          <a:ea typeface="+mn-ea"/>
                          <a:cs typeface="+mn-cs"/>
                        </a:rPr>
                        <a:t>KNN test accuracy is: 0.7414</a:t>
                      </a:r>
                      <a:endParaRPr lang="en-IN" b="1" dirty="0"/>
                    </a:p>
                  </a:txBody>
                  <a:tcPr anchor="ctr"/>
                </a:tc>
                <a:tc>
                  <a:txBody>
                    <a:bodyPr/>
                    <a:lstStyle/>
                    <a:p>
                      <a:pPr algn="l" latinLnBrk="1"/>
                      <a:br>
                        <a:rPr lang="en-US" dirty="0"/>
                      </a:br>
                      <a:r>
                        <a:rPr lang="en-US" sz="1800" b="0" i="0" kern="1200" dirty="0">
                          <a:solidFill>
                            <a:schemeClr val="dk1"/>
                          </a:solidFill>
                          <a:effectLst/>
                          <a:latin typeface="+mn-lt"/>
                          <a:ea typeface="+mn-ea"/>
                          <a:cs typeface="+mn-cs"/>
                        </a:rPr>
                        <a:t>Logistic Regression train accuracy is: 0.6428 Logistic Regression test accuracy is: 0.6069</a:t>
                      </a:r>
                      <a:endParaRPr lang="en-IN" b="1" dirty="0"/>
                    </a:p>
                  </a:txBody>
                  <a:tcPr anchor="ctr"/>
                </a:tc>
                <a:tc>
                  <a:txBody>
                    <a:bodyPr/>
                    <a:lstStyle/>
                    <a:p>
                      <a:pPr algn="l" latinLnBrk="1"/>
                      <a:br>
                        <a:rPr lang="en-US" dirty="0"/>
                      </a:br>
                      <a:r>
                        <a:rPr lang="en-US" sz="1800" b="0" i="0" kern="1200" dirty="0">
                          <a:solidFill>
                            <a:schemeClr val="dk1"/>
                          </a:solidFill>
                          <a:effectLst/>
                          <a:latin typeface="+mn-lt"/>
                          <a:ea typeface="+mn-ea"/>
                          <a:cs typeface="+mn-cs"/>
                        </a:rPr>
                        <a:t>Decision Tree train accuracy is: 1.0 Decision Tree test accuracy is: 0.7707</a:t>
                      </a:r>
                      <a:endParaRPr lang="en-IN" b="1" dirty="0"/>
                    </a:p>
                  </a:txBody>
                  <a:tcPr anchor="ctr"/>
                </a:tc>
                <a:extLst>
                  <a:ext uri="{0D108BD9-81ED-4DB2-BD59-A6C34878D82A}">
                    <a16:rowId xmlns:a16="http://schemas.microsoft.com/office/drawing/2014/main" val="2068724035"/>
                  </a:ext>
                </a:extLst>
              </a:tr>
              <a:tr h="849520">
                <a:tc>
                  <a:txBody>
                    <a:bodyPr/>
                    <a:lstStyle/>
                    <a:p>
                      <a:pPr algn="l"/>
                      <a:r>
                        <a:rPr lang="en-IN" b="1" dirty="0"/>
                        <a:t>3. Robust Scaler Standardization</a:t>
                      </a:r>
                    </a:p>
                  </a:txBody>
                  <a:tcPr anchor="ctr"/>
                </a:tc>
                <a:tc>
                  <a:txBody>
                    <a:bodyPr/>
                    <a:lstStyle/>
                    <a:p>
                      <a:pPr algn="l" latinLnBrk="1"/>
                      <a:r>
                        <a:rPr lang="en-US" sz="1800" b="0" i="0" kern="1200" dirty="0">
                          <a:solidFill>
                            <a:schemeClr val="dk1"/>
                          </a:solidFill>
                          <a:effectLst/>
                          <a:latin typeface="+mn-lt"/>
                          <a:ea typeface="+mn-ea"/>
                          <a:cs typeface="+mn-cs"/>
                        </a:rPr>
                        <a:t>KNN train accuracy is: 0.8973</a:t>
                      </a:r>
                    </a:p>
                    <a:p>
                      <a:pPr algn="l" latinLnBrk="1"/>
                      <a:r>
                        <a:rPr lang="en-US" sz="1800" b="0" i="0" kern="1200" dirty="0">
                          <a:solidFill>
                            <a:schemeClr val="dk1"/>
                          </a:solidFill>
                          <a:effectLst/>
                          <a:latin typeface="+mn-lt"/>
                          <a:ea typeface="+mn-ea"/>
                          <a:cs typeface="+mn-cs"/>
                        </a:rPr>
                        <a:t>KNN test accuracy is: 0.8</a:t>
                      </a:r>
                    </a:p>
                    <a:p>
                      <a:pPr algn="l"/>
                      <a:endParaRPr lang="en-IN" b="1" dirty="0"/>
                    </a:p>
                  </a:txBody>
                  <a:tcPr anchor="ctr"/>
                </a:tc>
                <a:tc>
                  <a:txBody>
                    <a:bodyPr/>
                    <a:lstStyle/>
                    <a:p>
                      <a:pPr algn="l" latinLnBrk="1"/>
                      <a:r>
                        <a:rPr lang="en-US" sz="1800" b="0" i="0" kern="1200" dirty="0">
                          <a:solidFill>
                            <a:schemeClr val="dk1"/>
                          </a:solidFill>
                          <a:effectLst/>
                          <a:latin typeface="+mn-lt"/>
                          <a:ea typeface="+mn-ea"/>
                          <a:cs typeface="+mn-cs"/>
                        </a:rPr>
                        <a:t>Logistic Regression train accuracy is: 0.6475</a:t>
                      </a:r>
                    </a:p>
                    <a:p>
                      <a:pPr algn="l" latinLnBrk="1"/>
                      <a:r>
                        <a:rPr lang="en-US" sz="1800" b="0" i="0" kern="1200" dirty="0">
                          <a:solidFill>
                            <a:schemeClr val="dk1"/>
                          </a:solidFill>
                          <a:effectLst/>
                          <a:latin typeface="+mn-lt"/>
                          <a:ea typeface="+mn-ea"/>
                          <a:cs typeface="+mn-cs"/>
                        </a:rPr>
                        <a:t>Logistic Regression test accuracy is: 0.6552</a:t>
                      </a:r>
                    </a:p>
                    <a:p>
                      <a:pPr algn="l"/>
                      <a:endParaRPr lang="en-IN" b="1" dirty="0"/>
                    </a:p>
                  </a:txBody>
                  <a:tcPr anchor="ctr"/>
                </a:tc>
                <a:tc>
                  <a:txBody>
                    <a:bodyPr/>
                    <a:lstStyle/>
                    <a:p>
                      <a:pPr algn="l" latinLnBrk="1"/>
                      <a:r>
                        <a:rPr lang="en-US" sz="1800" b="0" i="0" kern="1200" dirty="0">
                          <a:solidFill>
                            <a:schemeClr val="dk1"/>
                          </a:solidFill>
                          <a:effectLst/>
                          <a:latin typeface="+mn-lt"/>
                          <a:ea typeface="+mn-ea"/>
                          <a:cs typeface="+mn-cs"/>
                        </a:rPr>
                        <a:t>Decision Tree train accuracy is: 1.0</a:t>
                      </a:r>
                    </a:p>
                    <a:p>
                      <a:pPr algn="l" latinLnBrk="1"/>
                      <a:r>
                        <a:rPr lang="en-US" sz="1800" b="0" i="0" kern="1200" dirty="0">
                          <a:solidFill>
                            <a:schemeClr val="dk1"/>
                          </a:solidFill>
                          <a:effectLst/>
                          <a:latin typeface="+mn-lt"/>
                          <a:ea typeface="+mn-ea"/>
                          <a:cs typeface="+mn-cs"/>
                        </a:rPr>
                        <a:t>Decision Tree test accuracy is: 0.769</a:t>
                      </a:r>
                    </a:p>
                    <a:p>
                      <a:pPr algn="l"/>
                      <a:endParaRPr lang="en-IN" b="1" dirty="0"/>
                    </a:p>
                  </a:txBody>
                  <a:tcPr anchor="ctr"/>
                </a:tc>
                <a:extLst>
                  <a:ext uri="{0D108BD9-81ED-4DB2-BD59-A6C34878D82A}">
                    <a16:rowId xmlns:a16="http://schemas.microsoft.com/office/drawing/2014/main" val="1675994424"/>
                  </a:ext>
                </a:extLst>
              </a:tr>
              <a:tr h="849520">
                <a:tc>
                  <a:txBody>
                    <a:bodyPr/>
                    <a:lstStyle/>
                    <a:p>
                      <a:pPr algn="l"/>
                      <a:r>
                        <a:rPr lang="en-IN" b="1" dirty="0"/>
                        <a:t>4. </a:t>
                      </a:r>
                      <a:r>
                        <a:rPr lang="en-IN" b="1" dirty="0" err="1"/>
                        <a:t>MaxAbs</a:t>
                      </a:r>
                      <a:r>
                        <a:rPr lang="en-IN" b="1" dirty="0"/>
                        <a:t> Normalization</a:t>
                      </a:r>
                    </a:p>
                  </a:txBody>
                  <a:tcPr anchor="ctr"/>
                </a:tc>
                <a:tc>
                  <a:txBody>
                    <a:bodyPr/>
                    <a:lstStyle/>
                    <a:p>
                      <a:pPr algn="l" latinLnBrk="1"/>
                      <a:r>
                        <a:rPr lang="en-US" sz="1800" b="0" i="0" kern="1200" dirty="0">
                          <a:solidFill>
                            <a:schemeClr val="dk1"/>
                          </a:solidFill>
                          <a:effectLst/>
                          <a:latin typeface="+mn-lt"/>
                          <a:ea typeface="+mn-ea"/>
                          <a:cs typeface="+mn-cs"/>
                        </a:rPr>
                        <a:t>KNN train accuracy is: 0.8934</a:t>
                      </a:r>
                    </a:p>
                    <a:p>
                      <a:pPr algn="l" latinLnBrk="1"/>
                      <a:r>
                        <a:rPr lang="en-US" sz="1800" b="0" i="0" kern="1200" dirty="0">
                          <a:solidFill>
                            <a:schemeClr val="dk1"/>
                          </a:solidFill>
                          <a:effectLst/>
                          <a:latin typeface="+mn-lt"/>
                          <a:ea typeface="+mn-ea"/>
                          <a:cs typeface="+mn-cs"/>
                        </a:rPr>
                        <a:t>KNN test accuracy is: 0.7879</a:t>
                      </a:r>
                    </a:p>
                  </a:txBody>
                  <a:tcPr anchor="ctr"/>
                </a:tc>
                <a:tc>
                  <a:txBody>
                    <a:bodyPr/>
                    <a:lstStyle/>
                    <a:p>
                      <a:pPr algn="l" latinLnBrk="1"/>
                      <a:r>
                        <a:rPr lang="en-US" sz="1800" b="0" i="0" kern="1200" dirty="0">
                          <a:solidFill>
                            <a:schemeClr val="dk1"/>
                          </a:solidFill>
                          <a:effectLst/>
                          <a:latin typeface="+mn-lt"/>
                          <a:ea typeface="+mn-ea"/>
                          <a:cs typeface="+mn-cs"/>
                        </a:rPr>
                        <a:t>Logistic Regression train accuracy is: 0.6264</a:t>
                      </a:r>
                    </a:p>
                    <a:p>
                      <a:pPr algn="l" latinLnBrk="1"/>
                      <a:r>
                        <a:rPr lang="en-US" sz="1800" b="0" i="0" kern="1200" dirty="0">
                          <a:solidFill>
                            <a:schemeClr val="dk1"/>
                          </a:solidFill>
                          <a:effectLst/>
                          <a:latin typeface="+mn-lt"/>
                          <a:ea typeface="+mn-ea"/>
                          <a:cs typeface="+mn-cs"/>
                        </a:rPr>
                        <a:t>Logistic Regression test accuracy is: 0.6069</a:t>
                      </a:r>
                    </a:p>
                    <a:p>
                      <a:pPr algn="l"/>
                      <a:endParaRPr lang="en-IN" b="1" dirty="0"/>
                    </a:p>
                  </a:txBody>
                  <a:tcPr anchor="ctr"/>
                </a:tc>
                <a:tc>
                  <a:txBody>
                    <a:bodyPr/>
                    <a:lstStyle/>
                    <a:p>
                      <a:pPr algn="l" latinLnBrk="1"/>
                      <a:r>
                        <a:rPr lang="en-US" sz="1800" b="0" i="0" kern="1200" dirty="0">
                          <a:solidFill>
                            <a:schemeClr val="dk1"/>
                          </a:solidFill>
                          <a:effectLst/>
                          <a:latin typeface="+mn-lt"/>
                          <a:ea typeface="+mn-ea"/>
                          <a:cs typeface="+mn-cs"/>
                        </a:rPr>
                        <a:t>Decision Tree train accuracy is: 1.0</a:t>
                      </a:r>
                    </a:p>
                    <a:p>
                      <a:pPr algn="l" latinLnBrk="1"/>
                      <a:r>
                        <a:rPr lang="en-US" sz="1800" b="0" i="0" kern="1200" dirty="0">
                          <a:solidFill>
                            <a:schemeClr val="dk1"/>
                          </a:solidFill>
                          <a:effectLst/>
                          <a:latin typeface="+mn-lt"/>
                          <a:ea typeface="+mn-ea"/>
                          <a:cs typeface="+mn-cs"/>
                        </a:rPr>
                        <a:t>Decision Tree test accuracy is: 0.7707</a:t>
                      </a:r>
                    </a:p>
                    <a:p>
                      <a:pPr algn="l"/>
                      <a:endParaRPr lang="en-IN" b="1" dirty="0"/>
                    </a:p>
                  </a:txBody>
                  <a:tcPr anchor="ctr"/>
                </a:tc>
                <a:extLst>
                  <a:ext uri="{0D108BD9-81ED-4DB2-BD59-A6C34878D82A}">
                    <a16:rowId xmlns:a16="http://schemas.microsoft.com/office/drawing/2014/main" val="943615072"/>
                  </a:ext>
                </a:extLst>
              </a:tr>
            </a:tbl>
          </a:graphicData>
        </a:graphic>
      </p:graphicFrame>
      <p:sp>
        <p:nvSpPr>
          <p:cNvPr id="7" name="TextBox 6">
            <a:extLst>
              <a:ext uri="{FF2B5EF4-FFF2-40B4-BE49-F238E27FC236}">
                <a16:creationId xmlns:a16="http://schemas.microsoft.com/office/drawing/2014/main" id="{6904C0C8-2731-7CCA-9392-B32D3C6C1D0D}"/>
              </a:ext>
            </a:extLst>
          </p:cNvPr>
          <p:cNvSpPr txBox="1"/>
          <p:nvPr/>
        </p:nvSpPr>
        <p:spPr>
          <a:xfrm>
            <a:off x="2590802" y="6667502"/>
            <a:ext cx="184731" cy="373179"/>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4164655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32A64">
                <a:alpha val="100000"/>
              </a:srgbClr>
            </a:gs>
            <a:gs pos="100000">
              <a:srgbClr val="414C94">
                <a:alpha val="100000"/>
              </a:srgbClr>
            </a:gs>
          </a:gsLst>
          <a:lin ang="0"/>
        </a:gradFill>
        <a:effectLst/>
      </p:bgPr>
    </p:bg>
    <p:spTree>
      <p:nvGrpSpPr>
        <p:cNvPr id="1" name="">
          <a:extLst>
            <a:ext uri="{FF2B5EF4-FFF2-40B4-BE49-F238E27FC236}">
              <a16:creationId xmlns:a16="http://schemas.microsoft.com/office/drawing/2014/main" id="{92186902-4EEF-114E-06EA-9E9E8D1AFCD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5C0E7B7-589D-0B32-597A-574A3194C025}"/>
              </a:ext>
            </a:extLst>
          </p:cNvPr>
          <p:cNvSpPr/>
          <p:nvPr/>
        </p:nvSpPr>
        <p:spPr>
          <a:xfrm>
            <a:off x="-430946" y="8519516"/>
            <a:ext cx="19149891" cy="6989710"/>
          </a:xfrm>
          <a:custGeom>
            <a:avLst/>
            <a:gdLst/>
            <a:ahLst/>
            <a:cxnLst/>
            <a:rect l="l" t="t" r="r" b="b"/>
            <a:pathLst>
              <a:path w="19149891" h="6989710">
                <a:moveTo>
                  <a:pt x="0" y="0"/>
                </a:moveTo>
                <a:lnTo>
                  <a:pt x="19149892" y="0"/>
                </a:lnTo>
                <a:lnTo>
                  <a:pt x="19149892" y="6989710"/>
                </a:lnTo>
                <a:lnTo>
                  <a:pt x="0" y="6989710"/>
                </a:lnTo>
                <a:lnTo>
                  <a:pt x="0" y="0"/>
                </a:lnTo>
                <a:close/>
              </a:path>
            </a:pathLst>
          </a:custGeom>
          <a:blipFill>
            <a:blip r:embed="rId2">
              <a:alphaModFix amt="80000"/>
            </a:blip>
            <a:stretch>
              <a:fillRect/>
            </a:stretch>
          </a:blipFill>
        </p:spPr>
      </p:sp>
      <p:sp>
        <p:nvSpPr>
          <p:cNvPr id="12" name="TextBox 12">
            <a:extLst>
              <a:ext uri="{FF2B5EF4-FFF2-40B4-BE49-F238E27FC236}">
                <a16:creationId xmlns:a16="http://schemas.microsoft.com/office/drawing/2014/main" id="{49CCAD69-88CB-AA33-84ED-27AAED5E1F1D}"/>
              </a:ext>
            </a:extLst>
          </p:cNvPr>
          <p:cNvSpPr txBox="1"/>
          <p:nvPr/>
        </p:nvSpPr>
        <p:spPr>
          <a:xfrm>
            <a:off x="5410200" y="360528"/>
            <a:ext cx="12225288" cy="905825"/>
          </a:xfrm>
          <a:prstGeom prst="rect">
            <a:avLst/>
          </a:prstGeom>
        </p:spPr>
        <p:txBody>
          <a:bodyPr wrap="square" lIns="0" tIns="0" rIns="0" bIns="0" rtlCol="0" anchor="t">
            <a:spAutoFit/>
          </a:bodyPr>
          <a:lstStyle/>
          <a:p>
            <a:pPr defTabSz="914400">
              <a:lnSpc>
                <a:spcPts val="8143"/>
              </a:lnSpc>
              <a:defRPr/>
            </a:pPr>
            <a:r>
              <a:rPr lang="en-US" sz="4000" b="1" dirty="0">
                <a:solidFill>
                  <a:srgbClr val="72F1FE"/>
                </a:solidFill>
                <a:latin typeface="Montserrat Semi-Bold"/>
                <a:ea typeface="Montserrat Semi-Bold"/>
                <a:cs typeface="Montserrat Semi-Bold"/>
                <a:sym typeface="Montserrat Semi-Bold"/>
              </a:rPr>
              <a:t>SUMMARY INTERPRETATION</a:t>
            </a:r>
            <a:endParaRPr lang="en-US" sz="4000" b="1" dirty="0">
              <a:solidFill>
                <a:srgbClr val="FFFFFF"/>
              </a:solidFill>
              <a:latin typeface="Montserrat Semi-Bold"/>
              <a:ea typeface="Montserrat Semi-Bold"/>
              <a:cs typeface="Montserrat Semi-Bold"/>
              <a:sym typeface="Montserrat Semi-Bold"/>
            </a:endParaRPr>
          </a:p>
        </p:txBody>
      </p:sp>
      <p:sp>
        <p:nvSpPr>
          <p:cNvPr id="14" name="TextBox 14">
            <a:extLst>
              <a:ext uri="{FF2B5EF4-FFF2-40B4-BE49-F238E27FC236}">
                <a16:creationId xmlns:a16="http://schemas.microsoft.com/office/drawing/2014/main" id="{B739B062-A220-3E3A-1792-C71477E64B3B}"/>
              </a:ext>
            </a:extLst>
          </p:cNvPr>
          <p:cNvSpPr txBox="1"/>
          <p:nvPr/>
        </p:nvSpPr>
        <p:spPr>
          <a:xfrm>
            <a:off x="381000" y="419102"/>
            <a:ext cx="990600" cy="394339"/>
          </a:xfrm>
          <a:prstGeom prst="rect">
            <a:avLst/>
          </a:prstGeom>
        </p:spPr>
        <p:txBody>
          <a:bodyPr wrap="square" lIns="0" tIns="0" rIns="0" bIns="0" rtlCol="0" anchor="t">
            <a:spAutoFit/>
          </a:bodyPr>
          <a:lstStyle/>
          <a:p>
            <a:pPr defTabSz="914400">
              <a:lnSpc>
                <a:spcPts val="4057"/>
              </a:lnSpc>
              <a:defRPr/>
            </a:pPr>
            <a:r>
              <a:rPr lang="en-US" sz="3145" dirty="0">
                <a:solidFill>
                  <a:srgbClr val="FFFFFF"/>
                </a:solidFill>
                <a:latin typeface="Mokoto"/>
                <a:ea typeface="Mokoto"/>
                <a:cs typeface="Mokoto"/>
                <a:sym typeface="Mokoto"/>
              </a:rPr>
              <a:t>28</a:t>
            </a:r>
          </a:p>
        </p:txBody>
      </p:sp>
      <p:sp>
        <p:nvSpPr>
          <p:cNvPr id="6" name="Rectangle 3">
            <a:extLst>
              <a:ext uri="{FF2B5EF4-FFF2-40B4-BE49-F238E27FC236}">
                <a16:creationId xmlns:a16="http://schemas.microsoft.com/office/drawing/2014/main" id="{39B1699B-27C4-B446-29B3-6AD3CA284808}"/>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defRPr/>
            </a:pPr>
            <a:endParaRPr lang="en-US" altLang="en-US" sz="1800" dirty="0">
              <a:solidFill>
                <a:prstClr val="black"/>
              </a:solidFill>
              <a:latin typeface="Arial" panose="020B0604020202020204" pitchFamily="34" charset="0"/>
            </a:endParaRPr>
          </a:p>
        </p:txBody>
      </p:sp>
      <p:sp>
        <p:nvSpPr>
          <p:cNvPr id="3" name="TextBox 2">
            <a:extLst>
              <a:ext uri="{FF2B5EF4-FFF2-40B4-BE49-F238E27FC236}">
                <a16:creationId xmlns:a16="http://schemas.microsoft.com/office/drawing/2014/main" id="{DC5AF85D-3201-E5E1-1ACE-41FB4DBF7716}"/>
              </a:ext>
            </a:extLst>
          </p:cNvPr>
          <p:cNvSpPr txBox="1"/>
          <p:nvPr/>
        </p:nvSpPr>
        <p:spPr>
          <a:xfrm>
            <a:off x="3124200" y="2585523"/>
            <a:ext cx="12954000" cy="4154984"/>
          </a:xfrm>
          <a:prstGeom prst="rect">
            <a:avLst/>
          </a:prstGeom>
          <a:noFill/>
        </p:spPr>
        <p:txBody>
          <a:bodyPr wrap="square" rtlCol="0">
            <a:spAutoFit/>
          </a:bodyPr>
          <a:lstStyle/>
          <a:p>
            <a:pPr marL="342900" indent="-342900" algn="just">
              <a:buFont typeface="Wingdings" panose="05000000000000000000" pitchFamily="2" charset="2"/>
              <a:buChar char="v"/>
            </a:pPr>
            <a:r>
              <a:rPr lang="en-US" sz="2400" dirty="0">
                <a:solidFill>
                  <a:schemeClr val="bg1"/>
                </a:solidFill>
              </a:rPr>
              <a:t>KNN is a </a:t>
            </a:r>
            <a:r>
              <a:rPr lang="en-US" sz="2400" b="1" dirty="0">
                <a:solidFill>
                  <a:schemeClr val="bg1"/>
                </a:solidFill>
              </a:rPr>
              <a:t>distance-based algorithm</a:t>
            </a:r>
            <a:r>
              <a:rPr lang="en-US" sz="2400" dirty="0">
                <a:solidFill>
                  <a:schemeClr val="bg1"/>
                </a:solidFill>
              </a:rPr>
              <a:t>. It classifies samples using nearest neighbors based on distance calculations. Hence scaling the data values improves its performance.</a:t>
            </a:r>
          </a:p>
          <a:p>
            <a:pPr algn="just"/>
            <a:endParaRPr lang="en-US" sz="2400" dirty="0">
              <a:solidFill>
                <a:schemeClr val="bg1"/>
              </a:solidFill>
            </a:endParaRPr>
          </a:p>
          <a:p>
            <a:pPr marL="342900" indent="-342900" algn="just">
              <a:buFont typeface="Wingdings" panose="05000000000000000000" pitchFamily="2" charset="2"/>
              <a:buChar char="v"/>
            </a:pPr>
            <a:r>
              <a:rPr lang="en-IN" sz="2400" dirty="0">
                <a:solidFill>
                  <a:schemeClr val="bg1"/>
                </a:solidFill>
              </a:rPr>
              <a:t>However its performance improves on balancing the </a:t>
            </a:r>
            <a:r>
              <a:rPr lang="en-IN" sz="2400" dirty="0" err="1">
                <a:solidFill>
                  <a:schemeClr val="bg1"/>
                </a:solidFill>
              </a:rPr>
              <a:t>datset</a:t>
            </a:r>
            <a:r>
              <a:rPr lang="en-IN" sz="2400" dirty="0">
                <a:solidFill>
                  <a:schemeClr val="bg1"/>
                </a:solidFill>
              </a:rPr>
              <a:t>. </a:t>
            </a:r>
            <a:r>
              <a:rPr lang="en-US" sz="2400" dirty="0">
                <a:solidFill>
                  <a:schemeClr val="bg1"/>
                </a:solidFill>
              </a:rPr>
              <a:t>Logistic Regression assumes mostly linear relationships. Wine quality data is highly nonlinear. Logistic Regression struggles to model such nonlinear class boundaries.</a:t>
            </a:r>
          </a:p>
          <a:p>
            <a:pPr algn="just"/>
            <a:endParaRPr lang="en-IN" sz="2400" dirty="0">
              <a:solidFill>
                <a:schemeClr val="bg1"/>
              </a:solidFill>
            </a:endParaRPr>
          </a:p>
          <a:p>
            <a:pPr marL="342900" indent="-342900" algn="just">
              <a:buFont typeface="Wingdings" panose="05000000000000000000" pitchFamily="2" charset="2"/>
              <a:buChar char="v"/>
            </a:pPr>
            <a:r>
              <a:rPr lang="en-US" sz="2400" dirty="0">
                <a:solidFill>
                  <a:schemeClr val="bg1"/>
                </a:solidFill>
              </a:rPr>
              <a:t>Decision Trees do NOT depend on distance calculations. They split based on thresholds not Euclidean distance. Therefore </a:t>
            </a:r>
            <a:r>
              <a:rPr lang="en-US" sz="2400" dirty="0" err="1">
                <a:solidFill>
                  <a:schemeClr val="bg1"/>
                </a:solidFill>
              </a:rPr>
              <a:t>RobustScaler</a:t>
            </a:r>
            <a:r>
              <a:rPr lang="en-US" sz="2400" dirty="0">
                <a:solidFill>
                  <a:schemeClr val="bg1"/>
                </a:solidFill>
              </a:rPr>
              <a:t>  and </a:t>
            </a:r>
            <a:r>
              <a:rPr lang="en-US" sz="2400" dirty="0" err="1">
                <a:solidFill>
                  <a:schemeClr val="bg1"/>
                </a:solidFill>
              </a:rPr>
              <a:t>MaxAbsScaler</a:t>
            </a:r>
            <a:r>
              <a:rPr lang="en-US" sz="2400" dirty="0">
                <a:solidFill>
                  <a:schemeClr val="bg1"/>
                </a:solidFill>
              </a:rPr>
              <a:t> had minimal effect on its performance.</a:t>
            </a:r>
          </a:p>
          <a:p>
            <a:pPr algn="just"/>
            <a:endParaRPr lang="en-IN" sz="2400" dirty="0">
              <a:solidFill>
                <a:schemeClr val="bg1"/>
              </a:solidFill>
            </a:endParaRPr>
          </a:p>
        </p:txBody>
      </p:sp>
    </p:spTree>
    <p:extLst>
      <p:ext uri="{BB962C8B-B14F-4D97-AF65-F5344CB8AC3E}">
        <p14:creationId xmlns:p14="http://schemas.microsoft.com/office/powerpoint/2010/main" val="541226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32A64">
                <a:alpha val="100000"/>
              </a:srgbClr>
            </a:gs>
            <a:gs pos="100000">
              <a:srgbClr val="414C94">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614725" y="9029702"/>
            <a:ext cx="19517450" cy="2188719"/>
            <a:chOff x="0" y="0"/>
            <a:chExt cx="5140398" cy="576453"/>
          </a:xfrm>
        </p:grpSpPr>
        <p:sp>
          <p:nvSpPr>
            <p:cNvPr id="3" name="Freeform 3"/>
            <p:cNvSpPr/>
            <p:nvPr/>
          </p:nvSpPr>
          <p:spPr>
            <a:xfrm>
              <a:off x="0" y="0"/>
              <a:ext cx="5140398" cy="576453"/>
            </a:xfrm>
            <a:custGeom>
              <a:avLst/>
              <a:gdLst/>
              <a:ahLst/>
              <a:cxnLst/>
              <a:rect l="l" t="t" r="r" b="b"/>
              <a:pathLst>
                <a:path w="5140398" h="576453">
                  <a:moveTo>
                    <a:pt x="0" y="0"/>
                  </a:moveTo>
                  <a:lnTo>
                    <a:pt x="5140398" y="0"/>
                  </a:lnTo>
                  <a:lnTo>
                    <a:pt x="5140398" y="576453"/>
                  </a:lnTo>
                  <a:lnTo>
                    <a:pt x="0" y="576453"/>
                  </a:lnTo>
                  <a:close/>
                </a:path>
              </a:pathLst>
            </a:custGeom>
            <a:solidFill>
              <a:srgbClr val="012130">
                <a:alpha val="23922"/>
              </a:srgbClr>
            </a:solidFill>
          </p:spPr>
        </p:sp>
        <p:sp>
          <p:nvSpPr>
            <p:cNvPr id="4" name="TextBox 4"/>
            <p:cNvSpPr txBox="1"/>
            <p:nvPr/>
          </p:nvSpPr>
          <p:spPr>
            <a:xfrm>
              <a:off x="0" y="-28575"/>
              <a:ext cx="5140398" cy="605028"/>
            </a:xfrm>
            <a:prstGeom prst="rect">
              <a:avLst/>
            </a:prstGeom>
          </p:spPr>
          <p:txBody>
            <a:bodyPr lIns="50800" tIns="50800" rIns="50800" bIns="50800" rtlCol="0" anchor="ctr"/>
            <a:lstStyle/>
            <a:p>
              <a:pPr algn="ctr">
                <a:lnSpc>
                  <a:spcPts val="2083"/>
                </a:lnSpc>
              </a:pPr>
              <a:endParaRPr/>
            </a:p>
          </p:txBody>
        </p:sp>
      </p:grpSp>
      <p:sp>
        <p:nvSpPr>
          <p:cNvPr id="5" name="Freeform 5"/>
          <p:cNvSpPr/>
          <p:nvPr/>
        </p:nvSpPr>
        <p:spPr>
          <a:xfrm rot="-3647679">
            <a:off x="5750072" y="2254215"/>
            <a:ext cx="27455017" cy="10021081"/>
          </a:xfrm>
          <a:custGeom>
            <a:avLst/>
            <a:gdLst/>
            <a:ahLst/>
            <a:cxnLst/>
            <a:rect l="l" t="t" r="r" b="b"/>
            <a:pathLst>
              <a:path w="27455017" h="10021081">
                <a:moveTo>
                  <a:pt x="0" y="0"/>
                </a:moveTo>
                <a:lnTo>
                  <a:pt x="27455017" y="0"/>
                </a:lnTo>
                <a:lnTo>
                  <a:pt x="27455017" y="10021081"/>
                </a:lnTo>
                <a:lnTo>
                  <a:pt x="0" y="10021081"/>
                </a:lnTo>
                <a:lnTo>
                  <a:pt x="0" y="0"/>
                </a:lnTo>
                <a:close/>
              </a:path>
            </a:pathLst>
          </a:custGeom>
          <a:blipFill>
            <a:blip r:embed="rId2">
              <a:alphaModFix amt="80000"/>
            </a:blip>
            <a:stretch>
              <a:fillRect/>
            </a:stretch>
          </a:blipFill>
        </p:spPr>
      </p:sp>
      <p:sp>
        <p:nvSpPr>
          <p:cNvPr id="6" name="Freeform 6"/>
          <p:cNvSpPr/>
          <p:nvPr/>
        </p:nvSpPr>
        <p:spPr>
          <a:xfrm rot="-1161320" flipV="1">
            <a:off x="-5537192" y="-4329620"/>
            <a:ext cx="19149891" cy="6989710"/>
          </a:xfrm>
          <a:custGeom>
            <a:avLst/>
            <a:gdLst/>
            <a:ahLst/>
            <a:cxnLst/>
            <a:rect l="l" t="t" r="r" b="b"/>
            <a:pathLst>
              <a:path w="19149891" h="6989710">
                <a:moveTo>
                  <a:pt x="0" y="6989710"/>
                </a:moveTo>
                <a:lnTo>
                  <a:pt x="19149891" y="6989710"/>
                </a:lnTo>
                <a:lnTo>
                  <a:pt x="19149891" y="0"/>
                </a:lnTo>
                <a:lnTo>
                  <a:pt x="0" y="0"/>
                </a:lnTo>
                <a:lnTo>
                  <a:pt x="0" y="6989710"/>
                </a:lnTo>
                <a:close/>
              </a:path>
            </a:pathLst>
          </a:custGeom>
          <a:blipFill>
            <a:blip r:embed="rId2">
              <a:alphaModFix amt="80000"/>
            </a:blip>
            <a:stretch>
              <a:fillRect/>
            </a:stretch>
          </a:blipFill>
        </p:spPr>
      </p:sp>
      <p:sp>
        <p:nvSpPr>
          <p:cNvPr id="12" name="TextBox 12"/>
          <p:cNvSpPr txBox="1"/>
          <p:nvPr/>
        </p:nvSpPr>
        <p:spPr>
          <a:xfrm>
            <a:off x="4555863" y="4411282"/>
            <a:ext cx="9176274" cy="1100845"/>
          </a:xfrm>
          <a:prstGeom prst="rect">
            <a:avLst/>
          </a:prstGeom>
        </p:spPr>
        <p:txBody>
          <a:bodyPr lIns="0" tIns="0" rIns="0" bIns="0" rtlCol="0" anchor="t">
            <a:spAutoFit/>
          </a:bodyPr>
          <a:lstStyle/>
          <a:p>
            <a:pPr algn="ctr">
              <a:lnSpc>
                <a:spcPts val="8143"/>
              </a:lnSpc>
            </a:pPr>
            <a:r>
              <a:rPr lang="en-US" sz="10000" b="1" dirty="0">
                <a:solidFill>
                  <a:schemeClr val="bg1"/>
                </a:solidFill>
                <a:latin typeface="Montserrat Heavy"/>
                <a:ea typeface="Montserrat Heavy"/>
                <a:cs typeface="Montserrat Heavy"/>
                <a:sym typeface="Montserrat Heavy"/>
              </a:rPr>
              <a:t>Thank</a:t>
            </a:r>
            <a:r>
              <a:rPr lang="en-US" sz="10000" b="1" dirty="0">
                <a:solidFill>
                  <a:srgbClr val="36E9FD"/>
                </a:solidFill>
                <a:latin typeface="Montserrat Heavy"/>
                <a:ea typeface="Montserrat Heavy"/>
                <a:cs typeface="Montserrat Heavy"/>
                <a:sym typeface="Montserrat Heavy"/>
              </a:rPr>
              <a:t>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5961</TotalTime>
  <Words>1741</Words>
  <Application>Microsoft Office PowerPoint</Application>
  <PresentationFormat>Custom</PresentationFormat>
  <Paragraphs>397</Paragraphs>
  <Slides>32</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Times New Roman</vt:lpstr>
      <vt:lpstr>Raleway Italics</vt:lpstr>
      <vt:lpstr>Calibri</vt:lpstr>
      <vt:lpstr>Mokoto</vt:lpstr>
      <vt:lpstr>Wingdings</vt:lpstr>
      <vt:lpstr>Montserrat Heavy</vt:lpstr>
      <vt:lpstr>Montserrat Semi-Bold</vt:lpstr>
      <vt:lpstr>Cambria Math</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Purple Gradient Tech Futuristic Artificial Intelligence Presentation</dc:title>
  <dc:creator>Mario Gonsalves</dc:creator>
  <cp:lastModifiedBy>Mario Gonsalves</cp:lastModifiedBy>
  <cp:revision>15</cp:revision>
  <dcterms:created xsi:type="dcterms:W3CDTF">2006-08-16T00:00:00Z</dcterms:created>
  <dcterms:modified xsi:type="dcterms:W3CDTF">2026-05-22T12:52:45Z</dcterms:modified>
  <dc:identifier>DAHAdgIQz_w</dc:identifier>
</cp:coreProperties>
</file>